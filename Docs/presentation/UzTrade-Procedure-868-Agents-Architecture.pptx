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USD per case</c:v>
                </c:pt>
              </c:strCache>
            </c:strRef>
          </c:tx>
          <c:spPr>
            <a:solidFill>
              <a:srgbClr val="2563EB"/>
            </a:solidFill>
            <a:effectLst/>
          </c:spPr>
          <c:invertIfNegative val="0"/>
          <c:dLbls>
            <c:numFmt formatCode="$0.00" sourceLinked="0"/>
            <c:txPr>
              <a:bodyPr/>
              <a:lstStyle/>
              <a:p>
                <a:pPr>
                  <a:defRPr b="0" i="0" strike="noStrike" sz="1100" u="none">
                    <a:solidFill>
                      <a:srgbClr val="0F1729"/>
                    </a:solidFill>
                    <a:latin typeface="Arial"/>
                  </a:defRPr>
                </a:pPr>
              </a:p>
            </c:txPr>
            <c:showLegendKey val="0"/>
            <c:showVal val="1"/>
            <c:showCatName val="0"/>
            <c:showSerName val="0"/>
            <c:showPercent val="0"/>
            <c:showBubbleSize val="0"/>
            <c:showLeaderLines val="0"/>
          </c:dLbls>
          <c:cat>
            <c:multiLvlStrRef>
              <c:f>Sheet1!$A$2:$A$5</c:f>
              <c:multiLvlStrCache>
                <c:ptCount val="4"/>
                <c:lvl>
                  <c:pt idx="0">
                    <c:v>All Luna</c:v>
                  </c:pt>
                  <c:pt idx="1">
                    <c:v>Tiered — recommended</c:v>
                  </c:pt>
                  <c:pt idx="2">
                    <c:v>All Terra</c:v>
                  </c:pt>
                  <c:pt idx="3">
                    <c:v>All GPT-5.5</c:v>
                  </c:pt>
                </c:lvl>
              </c:multiLvlStrCache>
            </c:multiLvlStrRef>
          </c:cat>
          <c:val>
            <c:numRef>
              <c:f>Sheet1!$B$2:$B$5</c:f>
              <c:numCache>
                <c:formatCode>General</c:formatCode>
                <c:ptCount val="4"/>
                <c:pt idx="0">
                  <c:v>0.086</c:v>
                </c:pt>
                <c:pt idx="1">
                  <c:v>0.609</c:v>
                </c:pt>
                <c:pt idx="2">
                  <c:v>0.856</c:v>
                </c:pt>
                <c:pt idx="3">
                  <c:v>2.139</c:v>
                </c:pt>
              </c:numCache>
            </c:numRef>
          </c:val>
        </c:ser>
        <c:dLbls>
          <c:numFmt formatCode="$0.00" sourceLinked="0"/>
          <c:txPr>
            <a:bodyPr/>
            <a:lstStyle/>
            <a:p>
              <a:pPr>
                <a:defRPr b="0" i="0" strike="noStrike" sz="1100" u="none">
                  <a:solidFill>
                    <a:srgbClr val="0F1729"/>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Segoe U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walk through one real procedure end to end, show what the prototype does today, and propose a production architecture with justified model choices, costs and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Blocks with no dependencies can start immediately (registration, delivery prep, code notification, internal phytosanitary certificate, certificate of origin). Customs clearance waits for both the phytosanitary certificate and the certificate of origin. 31 of 48 steps need the trader; only 9 can be executed by the agent today because of portal access and legal-act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 asks in a fixed order: what, export or import, how, how much, from where to where. Buttons only offer options that a published procedure supports. The case is created only after the confirm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Bold documents are reused at five or more steps: passport (11 steps), commercial invoice (7), power of attorney (5). Asking once at the start is where the time saving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line is an open issue: on the demo pack, labels and managers' names were sometimes returned as values with high confidence. It must be fixed before any auto-accept is trusted in production — this is why the production design adds an LLM reconciliation step for low-confidence and conflicting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OpenAI API pricing page, standard tier, accessed 14 Sep 2026. Intelligence index, time to first token and output speed: Artificial Analysis model pages, accessed 14 Sep 2026. Call latency estimate = time to first token + 300 output tokens ÷ output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GPU: AWS g6.xlarge (NVIDIA L4, 24 GiB) at $0.524/h 1-year reserved ($0.805/h on demand), 730 h/month. Vision cost = (2,574 image tokens + 800 prompt tokens) × input price + 400 output tokens × output price. CPU latency = 15.9 s OCR + 8 required fields × 1.9 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Luna is the cheapest but routes document reconciliation and escalations to the lowest-capability model, where errors are expensive. All GPT-5.5 costs about 3.5× the tiered plan with no measured capability gain over Terra at high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latencies are estimates: time to first token + visible output tokens ÷ output speed, from Artificial Analysis. OCR latency is measured on the prototype machine. GPU OCR latency must be measured before committing to an 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92240"/>
            <a:ext cx="12191695" cy="365760"/>
          </a:xfrm>
          <a:prstGeom prst="rect">
            <a:avLst/>
          </a:prstGeom>
          <a:solidFill>
            <a:srgbClr val="F4F6FA"/>
          </a:solidFill>
          <a:ln/>
        </p:spPr>
      </p:sp>
      <p:sp>
        <p:nvSpPr>
          <p:cNvPr id="3" name="Text 1"/>
          <p:cNvSpPr/>
          <p:nvPr/>
        </p:nvSpPr>
        <p:spPr>
          <a:xfrm>
            <a:off x="548640" y="6528816"/>
            <a:ext cx="82296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UzTrade  ·  Procedure 868 — Export of tea by train  ·  September 2026</a:t>
            </a:r>
            <a:endParaRPr lang="en-US" sz="9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4D"/>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563EB"/>
          </a:solidFill>
          <a:ln w="12700">
            <a:solidFill>
              <a:srgbClr val="2563EB"/>
            </a:solidFill>
            <a:prstDash val="solid"/>
          </a:ln>
        </p:spPr>
      </p:sp>
      <p:sp>
        <p:nvSpPr>
          <p:cNvPr id="3" name="Text 1"/>
          <p:cNvSpPr/>
          <p:nvPr/>
        </p:nvSpPr>
        <p:spPr>
          <a:xfrm>
            <a:off x="822960" y="1234440"/>
            <a:ext cx="10058400" cy="365760"/>
          </a:xfrm>
          <a:prstGeom prst="rect">
            <a:avLst/>
          </a:prstGeom>
          <a:noFill/>
          <a:ln/>
        </p:spPr>
        <p:txBody>
          <a:bodyPr wrap="square" lIns="0" tIns="0" rIns="0" bIns="0" rtlCol="0" anchor="t"/>
          <a:lstStyle/>
          <a:p>
            <a:pPr algn="l" indent="0" marL="0">
              <a:lnSpc>
                <a:spcPct val="105000"/>
              </a:lnSpc>
              <a:spcAft>
                <a:spcPts val="200"/>
              </a:spcAft>
              <a:buNone/>
            </a:pPr>
            <a:r>
              <a:rPr lang="en-US" sz="1300" b="1" dirty="0">
                <a:solidFill>
                  <a:srgbClr val="8FB3FF"/>
                </a:solidFill>
                <a:latin typeface="Segoe UI" pitchFamily="34" charset="0"/>
                <a:ea typeface="Segoe UI" pitchFamily="34" charset="-122"/>
                <a:cs typeface="Segoe UI" pitchFamily="34" charset="-120"/>
              </a:rPr>
              <a:t>UZTRADE  ·  AGENTIC TRADE PLATFORM</a:t>
            </a:r>
            <a:endParaRPr lang="en-US" sz="1300" dirty="0"/>
          </a:p>
        </p:txBody>
      </p:sp>
      <p:sp>
        <p:nvSpPr>
          <p:cNvPr id="4" name="Text 2"/>
          <p:cNvSpPr/>
          <p:nvPr/>
        </p:nvSpPr>
        <p:spPr>
          <a:xfrm>
            <a:off x="822960" y="1691640"/>
            <a:ext cx="10515600" cy="1463040"/>
          </a:xfrm>
          <a:prstGeom prst="rect">
            <a:avLst/>
          </a:prstGeom>
          <a:noFill/>
          <a:ln/>
        </p:spPr>
        <p:txBody>
          <a:bodyPr wrap="square" lIns="0" tIns="0" rIns="0" bIns="0" rtlCol="0" anchor="t"/>
          <a:lstStyle/>
          <a:p>
            <a:pPr algn="l" indent="0" marL="0">
              <a:lnSpc>
                <a:spcPct val="105000"/>
              </a:lnSpc>
              <a:spcAft>
                <a:spcPts val="200"/>
              </a:spcAft>
              <a:buNone/>
            </a:pPr>
            <a:r>
              <a:rPr lang="en-US" sz="4000" dirty="0">
                <a:solidFill>
                  <a:srgbClr val="FFFFFF"/>
                </a:solidFill>
                <a:latin typeface="Segoe UI Semibold" pitchFamily="34" charset="0"/>
                <a:ea typeface="Segoe UI Semibold" pitchFamily="34" charset="-122"/>
                <a:cs typeface="Segoe UI Semibold" pitchFamily="34" charset="-120"/>
              </a:rPr>
              <a:t>Procedure 868 — Export of tea by train</a:t>
            </a:r>
            <a:endParaRPr lang="en-US" sz="4000" dirty="0"/>
          </a:p>
        </p:txBody>
      </p:sp>
      <p:sp>
        <p:nvSpPr>
          <p:cNvPr id="5" name="Text 3"/>
          <p:cNvSpPr/>
          <p:nvPr/>
        </p:nvSpPr>
        <p:spPr>
          <a:xfrm>
            <a:off x="822960" y="2788920"/>
            <a:ext cx="10241280" cy="914400"/>
          </a:xfrm>
          <a:prstGeom prst="rect">
            <a:avLst/>
          </a:prstGeom>
          <a:noFill/>
          <a:ln/>
        </p:spPr>
        <p:txBody>
          <a:bodyPr wrap="square" lIns="0" tIns="0" rIns="0" bIns="0" rtlCol="0" anchor="t"/>
          <a:lstStyle/>
          <a:p>
            <a:pPr algn="l" indent="0" marL="0">
              <a:lnSpc>
                <a:spcPct val="105000"/>
              </a:lnSpc>
              <a:spcAft>
                <a:spcPts val="200"/>
              </a:spcAft>
              <a:buNone/>
            </a:pPr>
            <a:r>
              <a:rPr lang="en-US" sz="1800" dirty="0">
                <a:solidFill>
                  <a:srgbClr val="C9D6F2"/>
                </a:solidFill>
                <a:latin typeface="Segoe UI" pitchFamily="34" charset="0"/>
                <a:ea typeface="Segoe UI" pitchFamily="34" charset="-122"/>
                <a:cs typeface="Segoe UI" pitchFamily="34" charset="-120"/>
              </a:rPr>
              <a:t>From a trader's first question to dispatch: intake, orchestration, document intelligence and risk — and how to run it in production</a:t>
            </a:r>
            <a:endParaRPr lang="en-US" sz="1800" dirty="0"/>
          </a:p>
        </p:txBody>
      </p:sp>
      <p:sp>
        <p:nvSpPr>
          <p:cNvPr id="6" name="Text 4"/>
          <p:cNvSpPr/>
          <p:nvPr/>
        </p:nvSpPr>
        <p:spPr>
          <a:xfrm>
            <a:off x="822960" y="4160520"/>
            <a:ext cx="2788920" cy="420624"/>
          </a:xfrm>
          <a:prstGeom prst="roundRect">
            <a:avLst>
              <a:gd name="adj" fmla="val 13043"/>
            </a:avLst>
          </a:prstGeom>
          <a:solidFill>
            <a:srgbClr val="132C66"/>
          </a:solidFill>
          <a:ln w="12700">
            <a:solidFill>
              <a:srgbClr val="2A4A8F"/>
            </a:solidFill>
            <a:prstDash val="solid"/>
          </a:ln>
        </p:spPr>
        <p:txBody>
          <a:bodyPr wrap="square" lIns="76200" tIns="76200" rIns="76200" bIns="76200" rtlCol="0" anchor="ctr"/>
          <a:lstStyle/>
          <a:p>
            <a:pPr algn="ctr" indent="0" marL="0">
              <a:buNone/>
            </a:pPr>
            <a:r>
              <a:rPr lang="en-US" sz="1200" dirty="0">
                <a:solidFill>
                  <a:srgbClr val="FFFFFF"/>
                </a:solidFill>
                <a:latin typeface="Segoe UI" pitchFamily="34" charset="0"/>
                <a:ea typeface="Segoe UI" pitchFamily="34" charset="-122"/>
                <a:cs typeface="Segoe UI" pitchFamily="34" charset="-120"/>
              </a:rPr>
              <a:t>Intake agent</a:t>
            </a:r>
            <a:endParaRPr lang="en-US" sz="1200" dirty="0"/>
          </a:p>
        </p:txBody>
      </p:sp>
      <p:sp>
        <p:nvSpPr>
          <p:cNvPr id="7" name="Text 5"/>
          <p:cNvSpPr/>
          <p:nvPr/>
        </p:nvSpPr>
        <p:spPr>
          <a:xfrm>
            <a:off x="3794760" y="4160520"/>
            <a:ext cx="2788920" cy="420624"/>
          </a:xfrm>
          <a:prstGeom prst="roundRect">
            <a:avLst>
              <a:gd name="adj" fmla="val 13043"/>
            </a:avLst>
          </a:prstGeom>
          <a:solidFill>
            <a:srgbClr val="132C66"/>
          </a:solidFill>
          <a:ln w="12700">
            <a:solidFill>
              <a:srgbClr val="2A4A8F"/>
            </a:solidFill>
            <a:prstDash val="solid"/>
          </a:ln>
        </p:spPr>
        <p:txBody>
          <a:bodyPr wrap="square" lIns="76200" tIns="76200" rIns="76200" bIns="76200" rtlCol="0" anchor="ctr"/>
          <a:lstStyle/>
          <a:p>
            <a:pPr algn="ctr" indent="0" marL="0">
              <a:buNone/>
            </a:pPr>
            <a:r>
              <a:rPr lang="en-US" sz="1200" dirty="0">
                <a:solidFill>
                  <a:srgbClr val="FFFFFF"/>
                </a:solidFill>
                <a:latin typeface="Segoe UI" pitchFamily="34" charset="0"/>
                <a:ea typeface="Segoe UI" pitchFamily="34" charset="-122"/>
                <a:cs typeface="Segoe UI" pitchFamily="34" charset="-120"/>
              </a:rPr>
              <a:t>Workflow orchestrator</a:t>
            </a:r>
            <a:endParaRPr lang="en-US" sz="1200" dirty="0"/>
          </a:p>
        </p:txBody>
      </p:sp>
      <p:sp>
        <p:nvSpPr>
          <p:cNvPr id="8" name="Text 6"/>
          <p:cNvSpPr/>
          <p:nvPr/>
        </p:nvSpPr>
        <p:spPr>
          <a:xfrm>
            <a:off x="6766560" y="4160520"/>
            <a:ext cx="2788920" cy="420624"/>
          </a:xfrm>
          <a:prstGeom prst="roundRect">
            <a:avLst>
              <a:gd name="adj" fmla="val 13043"/>
            </a:avLst>
          </a:prstGeom>
          <a:solidFill>
            <a:srgbClr val="132C66"/>
          </a:solidFill>
          <a:ln w="12700">
            <a:solidFill>
              <a:srgbClr val="2A4A8F"/>
            </a:solidFill>
            <a:prstDash val="solid"/>
          </a:ln>
        </p:spPr>
        <p:txBody>
          <a:bodyPr wrap="square" lIns="76200" tIns="76200" rIns="76200" bIns="76200" rtlCol="0" anchor="ctr"/>
          <a:lstStyle/>
          <a:p>
            <a:pPr algn="ctr" indent="0" marL="0">
              <a:buNone/>
            </a:pPr>
            <a:r>
              <a:rPr lang="en-US" sz="1200" dirty="0">
                <a:solidFill>
                  <a:srgbClr val="FFFFFF"/>
                </a:solidFill>
                <a:latin typeface="Segoe UI" pitchFamily="34" charset="0"/>
                <a:ea typeface="Segoe UI" pitchFamily="34" charset="-122"/>
                <a:cs typeface="Segoe UI" pitchFamily="34" charset="-120"/>
              </a:rPr>
              <a:t>Document Intelligence</a:t>
            </a:r>
            <a:endParaRPr lang="en-US" sz="1200" dirty="0"/>
          </a:p>
        </p:txBody>
      </p:sp>
      <p:sp>
        <p:nvSpPr>
          <p:cNvPr id="9" name="Text 7"/>
          <p:cNvSpPr/>
          <p:nvPr/>
        </p:nvSpPr>
        <p:spPr>
          <a:xfrm>
            <a:off x="822960" y="4709160"/>
            <a:ext cx="2788920" cy="420624"/>
          </a:xfrm>
          <a:prstGeom prst="roundRect">
            <a:avLst>
              <a:gd name="adj" fmla="val 13043"/>
            </a:avLst>
          </a:prstGeom>
          <a:solidFill>
            <a:srgbClr val="132C66"/>
          </a:solidFill>
          <a:ln w="12700">
            <a:solidFill>
              <a:srgbClr val="2A4A8F"/>
            </a:solidFill>
            <a:prstDash val="solid"/>
          </a:ln>
        </p:spPr>
        <p:txBody>
          <a:bodyPr wrap="square" lIns="76200" tIns="76200" rIns="76200" bIns="76200" rtlCol="0" anchor="ctr"/>
          <a:lstStyle/>
          <a:p>
            <a:pPr algn="ctr" indent="0" marL="0">
              <a:buNone/>
            </a:pPr>
            <a:r>
              <a:rPr lang="en-US" sz="1200" dirty="0">
                <a:solidFill>
                  <a:srgbClr val="FFFFFF"/>
                </a:solidFill>
                <a:latin typeface="Segoe UI" pitchFamily="34" charset="0"/>
                <a:ea typeface="Segoe UI" pitchFamily="34" charset="-122"/>
                <a:cs typeface="Segoe UI" pitchFamily="34" charset="-120"/>
              </a:rPr>
              <a:t>Risk &amp; Compliance</a:t>
            </a:r>
            <a:endParaRPr lang="en-US" sz="1200" dirty="0"/>
          </a:p>
        </p:txBody>
      </p:sp>
      <p:sp>
        <p:nvSpPr>
          <p:cNvPr id="10" name="Text 8"/>
          <p:cNvSpPr/>
          <p:nvPr/>
        </p:nvSpPr>
        <p:spPr>
          <a:xfrm>
            <a:off x="3794760" y="4709160"/>
            <a:ext cx="2788920" cy="420624"/>
          </a:xfrm>
          <a:prstGeom prst="roundRect">
            <a:avLst>
              <a:gd name="adj" fmla="val 13043"/>
            </a:avLst>
          </a:prstGeom>
          <a:solidFill>
            <a:srgbClr val="132C66"/>
          </a:solidFill>
          <a:ln w="12700">
            <a:solidFill>
              <a:srgbClr val="2A4A8F"/>
            </a:solidFill>
            <a:prstDash val="solid"/>
          </a:ln>
        </p:spPr>
        <p:txBody>
          <a:bodyPr wrap="square" lIns="76200" tIns="76200" rIns="76200" bIns="76200" rtlCol="0" anchor="ctr"/>
          <a:lstStyle/>
          <a:p>
            <a:pPr algn="ctr" indent="0" marL="0">
              <a:buNone/>
            </a:pPr>
            <a:r>
              <a:rPr lang="en-US" sz="1200" dirty="0">
                <a:solidFill>
                  <a:srgbClr val="FFFFFF"/>
                </a:solidFill>
                <a:latin typeface="Segoe UI" pitchFamily="34" charset="0"/>
                <a:ea typeface="Segoe UI" pitchFamily="34" charset="-122"/>
                <a:cs typeface="Segoe UI" pitchFamily="34" charset="-120"/>
              </a:rPr>
              <a:t>Architecture</a:t>
            </a:r>
            <a:endParaRPr lang="en-US" sz="1200" dirty="0"/>
          </a:p>
        </p:txBody>
      </p:sp>
      <p:sp>
        <p:nvSpPr>
          <p:cNvPr id="11" name="Text 9"/>
          <p:cNvSpPr/>
          <p:nvPr/>
        </p:nvSpPr>
        <p:spPr>
          <a:xfrm>
            <a:off x="6766560" y="4709160"/>
            <a:ext cx="2788920" cy="420624"/>
          </a:xfrm>
          <a:prstGeom prst="roundRect">
            <a:avLst>
              <a:gd name="adj" fmla="val 13043"/>
            </a:avLst>
          </a:prstGeom>
          <a:solidFill>
            <a:srgbClr val="132C66"/>
          </a:solidFill>
          <a:ln w="12700">
            <a:solidFill>
              <a:srgbClr val="2A4A8F"/>
            </a:solidFill>
            <a:prstDash val="solid"/>
          </a:ln>
        </p:spPr>
        <p:txBody>
          <a:bodyPr wrap="square" lIns="76200" tIns="76200" rIns="76200" bIns="76200" rtlCol="0" anchor="ctr"/>
          <a:lstStyle/>
          <a:p>
            <a:pPr algn="ctr" indent="0" marL="0">
              <a:buNone/>
            </a:pPr>
            <a:r>
              <a:rPr lang="en-US" sz="1200" dirty="0">
                <a:solidFill>
                  <a:srgbClr val="FFFFFF"/>
                </a:solidFill>
                <a:latin typeface="Segoe UI" pitchFamily="34" charset="0"/>
                <a:ea typeface="Segoe UI" pitchFamily="34" charset="-122"/>
                <a:cs typeface="Segoe UI" pitchFamily="34" charset="-120"/>
              </a:rPr>
              <a:t>Models, cost &amp; latency</a:t>
            </a:r>
            <a:endParaRPr lang="en-US" sz="1200" dirty="0"/>
          </a:p>
        </p:txBody>
      </p:sp>
      <p:sp>
        <p:nvSpPr>
          <p:cNvPr id="12" name="Text 10"/>
          <p:cNvSpPr/>
          <p:nvPr/>
        </p:nvSpPr>
        <p:spPr>
          <a:xfrm>
            <a:off x="822960" y="5897880"/>
            <a:ext cx="10058400" cy="365760"/>
          </a:xfrm>
          <a:prstGeom prst="rect">
            <a:avLst/>
          </a:prstGeom>
          <a:noFill/>
          <a:ln/>
        </p:spPr>
        <p:txBody>
          <a:bodyPr wrap="square" lIns="0" tIns="0" rIns="0" bIns="0" rtlCol="0" anchor="t"/>
          <a:lstStyle/>
          <a:p>
            <a:pPr algn="l" indent="0" marL="0">
              <a:lnSpc>
                <a:spcPct val="105000"/>
              </a:lnSpc>
              <a:spcAft>
                <a:spcPts val="200"/>
              </a:spcAft>
              <a:buNone/>
            </a:pPr>
            <a:r>
              <a:rPr lang="en-US" sz="1200" dirty="0">
                <a:solidFill>
                  <a:srgbClr val="8FA3C8"/>
                </a:solidFill>
                <a:latin typeface="Segoe UI" pitchFamily="34" charset="0"/>
                <a:ea typeface="Segoe UI" pitchFamily="34" charset="-122"/>
                <a:cs typeface="Segoe UI" pitchFamily="34" charset="-120"/>
              </a:rPr>
              <a:t>September 2026  ·  Prototype review and production proposal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AGENDA</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What this deck covers</a:t>
            </a:r>
            <a:endParaRPr lang="en-US" sz="2400" dirty="0"/>
          </a:p>
        </p:txBody>
      </p:sp>
      <p:sp>
        <p:nvSpPr>
          <p:cNvPr id="5" name="Text 3"/>
          <p:cNvSpPr/>
          <p:nvPr/>
        </p:nvSpPr>
        <p:spPr>
          <a:xfrm>
            <a:off x="731520" y="1508760"/>
            <a:ext cx="5257800" cy="1005840"/>
          </a:xfrm>
          <a:prstGeom prst="roundRect">
            <a:avLst>
              <a:gd name="adj" fmla="val 5455"/>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6" name="Text 4"/>
          <p:cNvSpPr/>
          <p:nvPr/>
        </p:nvSpPr>
        <p:spPr>
          <a:xfrm>
            <a:off x="960120" y="1691640"/>
            <a:ext cx="822960" cy="640080"/>
          </a:xfrm>
          <a:prstGeom prst="rect">
            <a:avLst/>
          </a:prstGeom>
          <a:noFill/>
          <a:ln/>
        </p:spPr>
        <p:txBody>
          <a:bodyPr wrap="square" lIns="0" tIns="0" rIns="0" bIns="0" rtlCol="0" anchor="t"/>
          <a:lstStyle/>
          <a:p>
            <a:pPr algn="l" indent="0" marL="0">
              <a:lnSpc>
                <a:spcPct val="105000"/>
              </a:lnSpc>
              <a:spcAft>
                <a:spcPts val="200"/>
              </a:spcAft>
              <a:buNone/>
            </a:pPr>
            <a:r>
              <a:rPr lang="en-US" sz="2600" dirty="0">
                <a:solidFill>
                  <a:srgbClr val="2563EB"/>
                </a:solidFill>
                <a:latin typeface="Segoe UI Semibold" pitchFamily="34" charset="0"/>
                <a:ea typeface="Segoe UI Semibold" pitchFamily="34" charset="-122"/>
                <a:cs typeface="Segoe UI Semibold" pitchFamily="34" charset="-120"/>
              </a:rPr>
              <a:t>01</a:t>
            </a:r>
            <a:endParaRPr lang="en-US" sz="2600" dirty="0"/>
          </a:p>
        </p:txBody>
      </p:sp>
      <p:sp>
        <p:nvSpPr>
          <p:cNvPr id="7" name="Text 5"/>
          <p:cNvSpPr/>
          <p:nvPr/>
        </p:nvSpPr>
        <p:spPr>
          <a:xfrm>
            <a:off x="1828800" y="169164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500" dirty="0">
                <a:solidFill>
                  <a:srgbClr val="0B1F4D"/>
                </a:solidFill>
                <a:latin typeface="Segoe UI Semibold" pitchFamily="34" charset="0"/>
                <a:ea typeface="Segoe UI Semibold" pitchFamily="34" charset="-122"/>
                <a:cs typeface="Segoe UI Semibold" pitchFamily="34" charset="-120"/>
              </a:rPr>
              <a:t>Procedure 868 at a glance</a:t>
            </a:r>
            <a:endParaRPr lang="en-US" sz="1500" dirty="0"/>
          </a:p>
        </p:txBody>
      </p:sp>
      <p:sp>
        <p:nvSpPr>
          <p:cNvPr id="8" name="Text 6"/>
          <p:cNvSpPr/>
          <p:nvPr/>
        </p:nvSpPr>
        <p:spPr>
          <a:xfrm>
            <a:off x="1828800" y="205740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150" dirty="0">
                <a:solidFill>
                  <a:srgbClr val="64748B"/>
                </a:solidFill>
                <a:latin typeface="Segoe UI" pitchFamily="34" charset="0"/>
                <a:ea typeface="Segoe UI" pitchFamily="34" charset="-122"/>
                <a:cs typeface="Segoe UI" pitchFamily="34" charset="-120"/>
              </a:rPr>
              <a:t>48 steps, 10 blocks, who does what</a:t>
            </a:r>
            <a:endParaRPr lang="en-US" sz="1150" dirty="0"/>
          </a:p>
        </p:txBody>
      </p:sp>
      <p:sp>
        <p:nvSpPr>
          <p:cNvPr id="9" name="Text 7"/>
          <p:cNvSpPr/>
          <p:nvPr/>
        </p:nvSpPr>
        <p:spPr>
          <a:xfrm>
            <a:off x="6263640" y="1508760"/>
            <a:ext cx="5257800" cy="1005840"/>
          </a:xfrm>
          <a:prstGeom prst="roundRect">
            <a:avLst>
              <a:gd name="adj" fmla="val 5455"/>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0" name="Text 8"/>
          <p:cNvSpPr/>
          <p:nvPr/>
        </p:nvSpPr>
        <p:spPr>
          <a:xfrm>
            <a:off x="6492240" y="1691640"/>
            <a:ext cx="822960" cy="640080"/>
          </a:xfrm>
          <a:prstGeom prst="rect">
            <a:avLst/>
          </a:prstGeom>
          <a:noFill/>
          <a:ln/>
        </p:spPr>
        <p:txBody>
          <a:bodyPr wrap="square" lIns="0" tIns="0" rIns="0" bIns="0" rtlCol="0" anchor="t"/>
          <a:lstStyle/>
          <a:p>
            <a:pPr algn="l" indent="0" marL="0">
              <a:lnSpc>
                <a:spcPct val="105000"/>
              </a:lnSpc>
              <a:spcAft>
                <a:spcPts val="200"/>
              </a:spcAft>
              <a:buNone/>
            </a:pPr>
            <a:r>
              <a:rPr lang="en-US" sz="2600" dirty="0">
                <a:solidFill>
                  <a:srgbClr val="2563EB"/>
                </a:solidFill>
                <a:latin typeface="Segoe UI Semibold" pitchFamily="34" charset="0"/>
                <a:ea typeface="Segoe UI Semibold" pitchFamily="34" charset="-122"/>
                <a:cs typeface="Segoe UI Semibold" pitchFamily="34" charset="-120"/>
              </a:rPr>
              <a:t>02</a:t>
            </a:r>
            <a:endParaRPr lang="en-US" sz="2600" dirty="0"/>
          </a:p>
        </p:txBody>
      </p:sp>
      <p:sp>
        <p:nvSpPr>
          <p:cNvPr id="11" name="Text 9"/>
          <p:cNvSpPr/>
          <p:nvPr/>
        </p:nvSpPr>
        <p:spPr>
          <a:xfrm>
            <a:off x="7360920" y="169164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500" dirty="0">
                <a:solidFill>
                  <a:srgbClr val="0B1F4D"/>
                </a:solidFill>
                <a:latin typeface="Segoe UI Semibold" pitchFamily="34" charset="0"/>
                <a:ea typeface="Segoe UI Semibold" pitchFamily="34" charset="-122"/>
                <a:cs typeface="Segoe UI Semibold" pitchFamily="34" charset="-120"/>
              </a:rPr>
              <a:t>How a user starts</a:t>
            </a:r>
            <a:endParaRPr lang="en-US" sz="1500" dirty="0"/>
          </a:p>
        </p:txBody>
      </p:sp>
      <p:sp>
        <p:nvSpPr>
          <p:cNvPr id="12" name="Text 10"/>
          <p:cNvSpPr/>
          <p:nvPr/>
        </p:nvSpPr>
        <p:spPr>
          <a:xfrm>
            <a:off x="7360920" y="205740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150" dirty="0">
                <a:solidFill>
                  <a:srgbClr val="64748B"/>
                </a:solidFill>
                <a:latin typeface="Segoe UI" pitchFamily="34" charset="0"/>
                <a:ea typeface="Segoe UI" pitchFamily="34" charset="-122"/>
                <a:cs typeface="Segoe UI" pitchFamily="34" charset="-120"/>
              </a:rPr>
              <a:t>The query and the intake conversation</a:t>
            </a:r>
            <a:endParaRPr lang="en-US" sz="1150" dirty="0"/>
          </a:p>
        </p:txBody>
      </p:sp>
      <p:sp>
        <p:nvSpPr>
          <p:cNvPr id="13" name="Text 11"/>
          <p:cNvSpPr/>
          <p:nvPr/>
        </p:nvSpPr>
        <p:spPr>
          <a:xfrm>
            <a:off x="731520" y="2697480"/>
            <a:ext cx="5257800" cy="1005840"/>
          </a:xfrm>
          <a:prstGeom prst="roundRect">
            <a:avLst>
              <a:gd name="adj" fmla="val 5455"/>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4" name="Text 12"/>
          <p:cNvSpPr/>
          <p:nvPr/>
        </p:nvSpPr>
        <p:spPr>
          <a:xfrm>
            <a:off x="960120" y="2880360"/>
            <a:ext cx="822960" cy="640080"/>
          </a:xfrm>
          <a:prstGeom prst="rect">
            <a:avLst/>
          </a:prstGeom>
          <a:noFill/>
          <a:ln/>
        </p:spPr>
        <p:txBody>
          <a:bodyPr wrap="square" lIns="0" tIns="0" rIns="0" bIns="0" rtlCol="0" anchor="t"/>
          <a:lstStyle/>
          <a:p>
            <a:pPr algn="l" indent="0" marL="0">
              <a:lnSpc>
                <a:spcPct val="105000"/>
              </a:lnSpc>
              <a:spcAft>
                <a:spcPts val="200"/>
              </a:spcAft>
              <a:buNone/>
            </a:pPr>
            <a:r>
              <a:rPr lang="en-US" sz="2600" dirty="0">
                <a:solidFill>
                  <a:srgbClr val="2563EB"/>
                </a:solidFill>
                <a:latin typeface="Segoe UI Semibold" pitchFamily="34" charset="0"/>
                <a:ea typeface="Segoe UI Semibold" pitchFamily="34" charset="-122"/>
                <a:cs typeface="Segoe UI Semibold" pitchFamily="34" charset="-120"/>
              </a:rPr>
              <a:t>03</a:t>
            </a:r>
            <a:endParaRPr lang="en-US" sz="2600" dirty="0"/>
          </a:p>
        </p:txBody>
      </p:sp>
      <p:sp>
        <p:nvSpPr>
          <p:cNvPr id="15" name="Text 13"/>
          <p:cNvSpPr/>
          <p:nvPr/>
        </p:nvSpPr>
        <p:spPr>
          <a:xfrm>
            <a:off x="1828800" y="288036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500" dirty="0">
                <a:solidFill>
                  <a:srgbClr val="0B1F4D"/>
                </a:solidFill>
                <a:latin typeface="Segoe UI Semibold" pitchFamily="34" charset="0"/>
                <a:ea typeface="Segoe UI Semibold" pitchFamily="34" charset="-122"/>
                <a:cs typeface="Segoe UI Semibold" pitchFamily="34" charset="-120"/>
              </a:rPr>
              <a:t>Intake agent</a:t>
            </a:r>
            <a:endParaRPr lang="en-US" sz="1500" dirty="0"/>
          </a:p>
        </p:txBody>
      </p:sp>
      <p:sp>
        <p:nvSpPr>
          <p:cNvPr id="16" name="Text 14"/>
          <p:cNvSpPr/>
          <p:nvPr/>
        </p:nvSpPr>
        <p:spPr>
          <a:xfrm>
            <a:off x="1828800" y="324612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150" dirty="0">
                <a:solidFill>
                  <a:srgbClr val="64748B"/>
                </a:solidFill>
                <a:latin typeface="Segoe UI" pitchFamily="34" charset="0"/>
                <a:ea typeface="Segoe UI" pitchFamily="34" charset="-122"/>
                <a:cs typeface="Segoe UI" pitchFamily="34" charset="-120"/>
              </a:rPr>
              <a:t>How it decides — and what it takes up front</a:t>
            </a:r>
            <a:endParaRPr lang="en-US" sz="1150" dirty="0"/>
          </a:p>
        </p:txBody>
      </p:sp>
      <p:sp>
        <p:nvSpPr>
          <p:cNvPr id="17" name="Text 15"/>
          <p:cNvSpPr/>
          <p:nvPr/>
        </p:nvSpPr>
        <p:spPr>
          <a:xfrm>
            <a:off x="6263640" y="2697480"/>
            <a:ext cx="5257800" cy="1005840"/>
          </a:xfrm>
          <a:prstGeom prst="roundRect">
            <a:avLst>
              <a:gd name="adj" fmla="val 5455"/>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8" name="Text 16"/>
          <p:cNvSpPr/>
          <p:nvPr/>
        </p:nvSpPr>
        <p:spPr>
          <a:xfrm>
            <a:off x="6492240" y="2880360"/>
            <a:ext cx="822960" cy="640080"/>
          </a:xfrm>
          <a:prstGeom prst="rect">
            <a:avLst/>
          </a:prstGeom>
          <a:noFill/>
          <a:ln/>
        </p:spPr>
        <p:txBody>
          <a:bodyPr wrap="square" lIns="0" tIns="0" rIns="0" bIns="0" rtlCol="0" anchor="t"/>
          <a:lstStyle/>
          <a:p>
            <a:pPr algn="l" indent="0" marL="0">
              <a:lnSpc>
                <a:spcPct val="105000"/>
              </a:lnSpc>
              <a:spcAft>
                <a:spcPts val="200"/>
              </a:spcAft>
              <a:buNone/>
            </a:pPr>
            <a:r>
              <a:rPr lang="en-US" sz="2600" dirty="0">
                <a:solidFill>
                  <a:srgbClr val="2563EB"/>
                </a:solidFill>
                <a:latin typeface="Segoe UI Semibold" pitchFamily="34" charset="0"/>
                <a:ea typeface="Segoe UI Semibold" pitchFamily="34" charset="-122"/>
                <a:cs typeface="Segoe UI Semibold" pitchFamily="34" charset="-120"/>
              </a:rPr>
              <a:t>04</a:t>
            </a:r>
            <a:endParaRPr lang="en-US" sz="2600" dirty="0"/>
          </a:p>
        </p:txBody>
      </p:sp>
      <p:sp>
        <p:nvSpPr>
          <p:cNvPr id="19" name="Text 17"/>
          <p:cNvSpPr/>
          <p:nvPr/>
        </p:nvSpPr>
        <p:spPr>
          <a:xfrm>
            <a:off x="7360920" y="288036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500" dirty="0">
                <a:solidFill>
                  <a:srgbClr val="0B1F4D"/>
                </a:solidFill>
                <a:latin typeface="Segoe UI Semibold" pitchFamily="34" charset="0"/>
                <a:ea typeface="Segoe UI Semibold" pitchFamily="34" charset="-122"/>
                <a:cs typeface="Segoe UI Semibold" pitchFamily="34" charset="-120"/>
              </a:rPr>
              <a:t>Workflow orchestrator</a:t>
            </a:r>
            <a:endParaRPr lang="en-US" sz="1500" dirty="0"/>
          </a:p>
        </p:txBody>
      </p:sp>
      <p:sp>
        <p:nvSpPr>
          <p:cNvPr id="20" name="Text 18"/>
          <p:cNvSpPr/>
          <p:nvPr/>
        </p:nvSpPr>
        <p:spPr>
          <a:xfrm>
            <a:off x="7360920" y="324612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150" dirty="0">
                <a:solidFill>
                  <a:srgbClr val="64748B"/>
                </a:solidFill>
                <a:latin typeface="Segoe UI" pitchFamily="34" charset="0"/>
                <a:ea typeface="Segoe UI" pitchFamily="34" charset="-122"/>
                <a:cs typeface="Segoe UI" pitchFamily="34" charset="-120"/>
              </a:rPr>
              <a:t>States, delegation, pausing and gating</a:t>
            </a:r>
            <a:endParaRPr lang="en-US" sz="1150" dirty="0"/>
          </a:p>
        </p:txBody>
      </p:sp>
      <p:sp>
        <p:nvSpPr>
          <p:cNvPr id="21" name="Text 19"/>
          <p:cNvSpPr/>
          <p:nvPr/>
        </p:nvSpPr>
        <p:spPr>
          <a:xfrm>
            <a:off x="731520" y="3886200"/>
            <a:ext cx="5257800" cy="1005840"/>
          </a:xfrm>
          <a:prstGeom prst="roundRect">
            <a:avLst>
              <a:gd name="adj" fmla="val 5455"/>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22" name="Text 20"/>
          <p:cNvSpPr/>
          <p:nvPr/>
        </p:nvSpPr>
        <p:spPr>
          <a:xfrm>
            <a:off x="960120" y="4069080"/>
            <a:ext cx="822960" cy="640080"/>
          </a:xfrm>
          <a:prstGeom prst="rect">
            <a:avLst/>
          </a:prstGeom>
          <a:noFill/>
          <a:ln/>
        </p:spPr>
        <p:txBody>
          <a:bodyPr wrap="square" lIns="0" tIns="0" rIns="0" bIns="0" rtlCol="0" anchor="t"/>
          <a:lstStyle/>
          <a:p>
            <a:pPr algn="l" indent="0" marL="0">
              <a:lnSpc>
                <a:spcPct val="105000"/>
              </a:lnSpc>
              <a:spcAft>
                <a:spcPts val="200"/>
              </a:spcAft>
              <a:buNone/>
            </a:pPr>
            <a:r>
              <a:rPr lang="en-US" sz="2600" dirty="0">
                <a:solidFill>
                  <a:srgbClr val="2563EB"/>
                </a:solidFill>
                <a:latin typeface="Segoe UI Semibold" pitchFamily="34" charset="0"/>
                <a:ea typeface="Segoe UI Semibold" pitchFamily="34" charset="-122"/>
                <a:cs typeface="Segoe UI Semibold" pitchFamily="34" charset="-120"/>
              </a:rPr>
              <a:t>05</a:t>
            </a:r>
            <a:endParaRPr lang="en-US" sz="2600" dirty="0"/>
          </a:p>
        </p:txBody>
      </p:sp>
      <p:sp>
        <p:nvSpPr>
          <p:cNvPr id="23" name="Text 21"/>
          <p:cNvSpPr/>
          <p:nvPr/>
        </p:nvSpPr>
        <p:spPr>
          <a:xfrm>
            <a:off x="1828800" y="406908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500" dirty="0">
                <a:solidFill>
                  <a:srgbClr val="0B1F4D"/>
                </a:solidFill>
                <a:latin typeface="Segoe UI Semibold" pitchFamily="34" charset="0"/>
                <a:ea typeface="Segoe UI Semibold" pitchFamily="34" charset="-122"/>
                <a:cs typeface="Segoe UI Semibold" pitchFamily="34" charset="-120"/>
              </a:rPr>
              <a:t>What each document must contain</a:t>
            </a:r>
            <a:endParaRPr lang="en-US" sz="1500" dirty="0"/>
          </a:p>
        </p:txBody>
      </p:sp>
      <p:sp>
        <p:nvSpPr>
          <p:cNvPr id="24" name="Text 22"/>
          <p:cNvSpPr/>
          <p:nvPr/>
        </p:nvSpPr>
        <p:spPr>
          <a:xfrm>
            <a:off x="1828800" y="443484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150" dirty="0">
                <a:solidFill>
                  <a:srgbClr val="64748B"/>
                </a:solidFill>
                <a:latin typeface="Segoe UI" pitchFamily="34" charset="0"/>
                <a:ea typeface="Segoe UI" pitchFamily="34" charset="-122"/>
                <a:cs typeface="Segoe UI" pitchFamily="34" charset="-120"/>
              </a:rPr>
              <a:t>How requirements are derived; key steps</a:t>
            </a:r>
            <a:endParaRPr lang="en-US" sz="1150" dirty="0"/>
          </a:p>
        </p:txBody>
      </p:sp>
      <p:sp>
        <p:nvSpPr>
          <p:cNvPr id="25" name="Text 23"/>
          <p:cNvSpPr/>
          <p:nvPr/>
        </p:nvSpPr>
        <p:spPr>
          <a:xfrm>
            <a:off x="6263640" y="3886200"/>
            <a:ext cx="5257800" cy="1005840"/>
          </a:xfrm>
          <a:prstGeom prst="roundRect">
            <a:avLst>
              <a:gd name="adj" fmla="val 5455"/>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26" name="Text 24"/>
          <p:cNvSpPr/>
          <p:nvPr/>
        </p:nvSpPr>
        <p:spPr>
          <a:xfrm>
            <a:off x="6492240" y="4069080"/>
            <a:ext cx="822960" cy="640080"/>
          </a:xfrm>
          <a:prstGeom prst="rect">
            <a:avLst/>
          </a:prstGeom>
          <a:noFill/>
          <a:ln/>
        </p:spPr>
        <p:txBody>
          <a:bodyPr wrap="square" lIns="0" tIns="0" rIns="0" bIns="0" rtlCol="0" anchor="t"/>
          <a:lstStyle/>
          <a:p>
            <a:pPr algn="l" indent="0" marL="0">
              <a:lnSpc>
                <a:spcPct val="105000"/>
              </a:lnSpc>
              <a:spcAft>
                <a:spcPts val="200"/>
              </a:spcAft>
              <a:buNone/>
            </a:pPr>
            <a:r>
              <a:rPr lang="en-US" sz="2600" dirty="0">
                <a:solidFill>
                  <a:srgbClr val="2563EB"/>
                </a:solidFill>
                <a:latin typeface="Segoe UI Semibold" pitchFamily="34" charset="0"/>
                <a:ea typeface="Segoe UI Semibold" pitchFamily="34" charset="-122"/>
                <a:cs typeface="Segoe UI Semibold" pitchFamily="34" charset="-120"/>
              </a:rPr>
              <a:t>06</a:t>
            </a:r>
            <a:endParaRPr lang="en-US" sz="2600" dirty="0"/>
          </a:p>
        </p:txBody>
      </p:sp>
      <p:sp>
        <p:nvSpPr>
          <p:cNvPr id="27" name="Text 25"/>
          <p:cNvSpPr/>
          <p:nvPr/>
        </p:nvSpPr>
        <p:spPr>
          <a:xfrm>
            <a:off x="7360920" y="406908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500" dirty="0">
                <a:solidFill>
                  <a:srgbClr val="0B1F4D"/>
                </a:solidFill>
                <a:latin typeface="Segoe UI Semibold" pitchFamily="34" charset="0"/>
                <a:ea typeface="Segoe UI Semibold" pitchFamily="34" charset="-122"/>
                <a:cs typeface="Segoe UI Semibold" pitchFamily="34" charset="-120"/>
              </a:rPr>
              <a:t>Document Intelligence &amp; Risk agents</a:t>
            </a:r>
            <a:endParaRPr lang="en-US" sz="1500" dirty="0"/>
          </a:p>
        </p:txBody>
      </p:sp>
      <p:sp>
        <p:nvSpPr>
          <p:cNvPr id="28" name="Text 26"/>
          <p:cNvSpPr/>
          <p:nvPr/>
        </p:nvSpPr>
        <p:spPr>
          <a:xfrm>
            <a:off x="7360920" y="443484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150" dirty="0">
                <a:solidFill>
                  <a:srgbClr val="64748B"/>
                </a:solidFill>
                <a:latin typeface="Segoe UI" pitchFamily="34" charset="0"/>
                <a:ea typeface="Segoe UI" pitchFamily="34" charset="-122"/>
                <a:cs typeface="Segoe UI" pitchFamily="34" charset="-120"/>
              </a:rPr>
              <a:t>Roles, pipeline, measured results</a:t>
            </a:r>
            <a:endParaRPr lang="en-US" sz="1150" dirty="0"/>
          </a:p>
        </p:txBody>
      </p:sp>
      <p:sp>
        <p:nvSpPr>
          <p:cNvPr id="29" name="Text 27"/>
          <p:cNvSpPr/>
          <p:nvPr/>
        </p:nvSpPr>
        <p:spPr>
          <a:xfrm>
            <a:off x="731520" y="5074920"/>
            <a:ext cx="5257800" cy="1005840"/>
          </a:xfrm>
          <a:prstGeom prst="roundRect">
            <a:avLst>
              <a:gd name="adj" fmla="val 5455"/>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30" name="Text 28"/>
          <p:cNvSpPr/>
          <p:nvPr/>
        </p:nvSpPr>
        <p:spPr>
          <a:xfrm>
            <a:off x="960120" y="5257800"/>
            <a:ext cx="822960" cy="640080"/>
          </a:xfrm>
          <a:prstGeom prst="rect">
            <a:avLst/>
          </a:prstGeom>
          <a:noFill/>
          <a:ln/>
        </p:spPr>
        <p:txBody>
          <a:bodyPr wrap="square" lIns="0" tIns="0" rIns="0" bIns="0" rtlCol="0" anchor="t"/>
          <a:lstStyle/>
          <a:p>
            <a:pPr algn="l" indent="0" marL="0">
              <a:lnSpc>
                <a:spcPct val="105000"/>
              </a:lnSpc>
              <a:spcAft>
                <a:spcPts val="200"/>
              </a:spcAft>
              <a:buNone/>
            </a:pPr>
            <a:r>
              <a:rPr lang="en-US" sz="2600" dirty="0">
                <a:solidFill>
                  <a:srgbClr val="2563EB"/>
                </a:solidFill>
                <a:latin typeface="Segoe UI Semibold" pitchFamily="34" charset="0"/>
                <a:ea typeface="Segoe UI Semibold" pitchFamily="34" charset="-122"/>
                <a:cs typeface="Segoe UI Semibold" pitchFamily="34" charset="-120"/>
              </a:rPr>
              <a:t>07</a:t>
            </a:r>
            <a:endParaRPr lang="en-US" sz="2600" dirty="0"/>
          </a:p>
        </p:txBody>
      </p:sp>
      <p:sp>
        <p:nvSpPr>
          <p:cNvPr id="31" name="Text 29"/>
          <p:cNvSpPr/>
          <p:nvPr/>
        </p:nvSpPr>
        <p:spPr>
          <a:xfrm>
            <a:off x="1828800" y="525780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500" dirty="0">
                <a:solidFill>
                  <a:srgbClr val="0B1F4D"/>
                </a:solidFill>
                <a:latin typeface="Segoe UI Semibold" pitchFamily="34" charset="0"/>
                <a:ea typeface="Segoe UI Semibold" pitchFamily="34" charset="-122"/>
                <a:cs typeface="Segoe UI Semibold" pitchFamily="34" charset="-120"/>
              </a:rPr>
              <a:t>Architecture</a:t>
            </a:r>
            <a:endParaRPr lang="en-US" sz="1500" dirty="0"/>
          </a:p>
        </p:txBody>
      </p:sp>
      <p:sp>
        <p:nvSpPr>
          <p:cNvPr id="32" name="Text 30"/>
          <p:cNvSpPr/>
          <p:nvPr/>
        </p:nvSpPr>
        <p:spPr>
          <a:xfrm>
            <a:off x="1828800" y="562356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150" dirty="0">
                <a:solidFill>
                  <a:srgbClr val="64748B"/>
                </a:solidFill>
                <a:latin typeface="Segoe UI" pitchFamily="34" charset="0"/>
                <a:ea typeface="Segoe UI" pitchFamily="34" charset="-122"/>
                <a:cs typeface="Segoe UI" pitchFamily="34" charset="-120"/>
              </a:rPr>
              <a:t>Current prototype and production target</a:t>
            </a:r>
            <a:endParaRPr lang="en-US" sz="1150" dirty="0"/>
          </a:p>
        </p:txBody>
      </p:sp>
      <p:sp>
        <p:nvSpPr>
          <p:cNvPr id="33" name="Text 31"/>
          <p:cNvSpPr/>
          <p:nvPr/>
        </p:nvSpPr>
        <p:spPr>
          <a:xfrm>
            <a:off x="6263640" y="5074920"/>
            <a:ext cx="5257800" cy="1005840"/>
          </a:xfrm>
          <a:prstGeom prst="roundRect">
            <a:avLst>
              <a:gd name="adj" fmla="val 5455"/>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34" name="Text 32"/>
          <p:cNvSpPr/>
          <p:nvPr/>
        </p:nvSpPr>
        <p:spPr>
          <a:xfrm>
            <a:off x="6492240" y="5257800"/>
            <a:ext cx="822960" cy="640080"/>
          </a:xfrm>
          <a:prstGeom prst="rect">
            <a:avLst/>
          </a:prstGeom>
          <a:noFill/>
          <a:ln/>
        </p:spPr>
        <p:txBody>
          <a:bodyPr wrap="square" lIns="0" tIns="0" rIns="0" bIns="0" rtlCol="0" anchor="t"/>
          <a:lstStyle/>
          <a:p>
            <a:pPr algn="l" indent="0" marL="0">
              <a:lnSpc>
                <a:spcPct val="105000"/>
              </a:lnSpc>
              <a:spcAft>
                <a:spcPts val="200"/>
              </a:spcAft>
              <a:buNone/>
            </a:pPr>
            <a:r>
              <a:rPr lang="en-US" sz="2600" dirty="0">
                <a:solidFill>
                  <a:srgbClr val="2563EB"/>
                </a:solidFill>
                <a:latin typeface="Segoe UI Semibold" pitchFamily="34" charset="0"/>
                <a:ea typeface="Segoe UI Semibold" pitchFamily="34" charset="-122"/>
                <a:cs typeface="Segoe UI Semibold" pitchFamily="34" charset="-120"/>
              </a:rPr>
              <a:t>08</a:t>
            </a:r>
            <a:endParaRPr lang="en-US" sz="2600" dirty="0"/>
          </a:p>
        </p:txBody>
      </p:sp>
      <p:sp>
        <p:nvSpPr>
          <p:cNvPr id="35" name="Text 33"/>
          <p:cNvSpPr/>
          <p:nvPr/>
        </p:nvSpPr>
        <p:spPr>
          <a:xfrm>
            <a:off x="7360920" y="525780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500" dirty="0">
                <a:solidFill>
                  <a:srgbClr val="0B1F4D"/>
                </a:solidFill>
                <a:latin typeface="Segoe UI Semibold" pitchFamily="34" charset="0"/>
                <a:ea typeface="Segoe UI Semibold" pitchFamily="34" charset="-122"/>
                <a:cs typeface="Segoe UI Semibold" pitchFamily="34" charset="-120"/>
              </a:rPr>
              <a:t>Models, cost &amp; latency</a:t>
            </a:r>
            <a:endParaRPr lang="en-US" sz="1500" dirty="0"/>
          </a:p>
        </p:txBody>
      </p:sp>
      <p:sp>
        <p:nvSpPr>
          <p:cNvPr id="36" name="Text 34"/>
          <p:cNvSpPr/>
          <p:nvPr/>
        </p:nvSpPr>
        <p:spPr>
          <a:xfrm>
            <a:off x="7360920" y="5623560"/>
            <a:ext cx="4023360" cy="365760"/>
          </a:xfrm>
          <a:prstGeom prst="rect">
            <a:avLst/>
          </a:prstGeom>
          <a:noFill/>
          <a:ln/>
        </p:spPr>
        <p:txBody>
          <a:bodyPr wrap="square" lIns="0" tIns="0" rIns="0" bIns="0" rtlCol="0" anchor="t"/>
          <a:lstStyle/>
          <a:p>
            <a:pPr algn="l" indent="0" marL="0">
              <a:lnSpc>
                <a:spcPct val="105000"/>
              </a:lnSpc>
              <a:spcAft>
                <a:spcPts val="200"/>
              </a:spcAft>
              <a:buNone/>
            </a:pPr>
            <a:r>
              <a:rPr lang="en-US" sz="1150" dirty="0">
                <a:solidFill>
                  <a:srgbClr val="64748B"/>
                </a:solidFill>
                <a:latin typeface="Segoe UI" pitchFamily="34" charset="0"/>
                <a:ea typeface="Segoe UI" pitchFamily="34" charset="-122"/>
                <a:cs typeface="Segoe UI" pitchFamily="34" charset="-120"/>
              </a:rPr>
              <a:t>Justified choices for LLMs and OCR + LayoutLM</a:t>
            </a:r>
            <a:endParaRPr lang="en-US" sz="115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01 · PROCEDURE 868</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Export of tea by train, at a glance</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Source: the published procedure document — steps, blocks, dependencies and duration estimates</a:t>
            </a:r>
            <a:endParaRPr lang="en-US" sz="1200" dirty="0"/>
          </a:p>
        </p:txBody>
      </p:sp>
      <p:sp>
        <p:nvSpPr>
          <p:cNvPr id="6" name="Text 4"/>
          <p:cNvSpPr/>
          <p:nvPr/>
        </p:nvSpPr>
        <p:spPr>
          <a:xfrm>
            <a:off x="731520" y="1554480"/>
            <a:ext cx="2029968" cy="868680"/>
          </a:xfrm>
          <a:prstGeom prst="roundRect">
            <a:avLst>
              <a:gd name="adj" fmla="val 6316"/>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7" name="Text 5"/>
          <p:cNvSpPr/>
          <p:nvPr/>
        </p:nvSpPr>
        <p:spPr>
          <a:xfrm>
            <a:off x="868680" y="1627632"/>
            <a:ext cx="1828800" cy="457200"/>
          </a:xfrm>
          <a:prstGeom prst="rect">
            <a:avLst/>
          </a:prstGeom>
          <a:noFill/>
          <a:ln/>
        </p:spPr>
        <p:txBody>
          <a:bodyPr wrap="square" lIns="0" tIns="0" rIns="0" bIns="0" rtlCol="0" anchor="t"/>
          <a:lstStyle/>
          <a:p>
            <a:pPr algn="l" indent="0" marL="0">
              <a:lnSpc>
                <a:spcPct val="105000"/>
              </a:lnSpc>
              <a:spcAft>
                <a:spcPts val="200"/>
              </a:spcAft>
              <a:buNone/>
            </a:pPr>
            <a:r>
              <a:rPr lang="en-US" sz="2200" dirty="0">
                <a:solidFill>
                  <a:srgbClr val="0B1F4D"/>
                </a:solidFill>
                <a:latin typeface="Segoe UI Semibold" pitchFamily="34" charset="0"/>
                <a:ea typeface="Segoe UI Semibold" pitchFamily="34" charset="-122"/>
                <a:cs typeface="Segoe UI Semibold" pitchFamily="34" charset="-120"/>
              </a:rPr>
              <a:t>48</a:t>
            </a:r>
            <a:endParaRPr lang="en-US" sz="2200" dirty="0"/>
          </a:p>
        </p:txBody>
      </p:sp>
      <p:sp>
        <p:nvSpPr>
          <p:cNvPr id="8" name="Text 6"/>
          <p:cNvSpPr/>
          <p:nvPr/>
        </p:nvSpPr>
        <p:spPr>
          <a:xfrm>
            <a:off x="868680" y="2084832"/>
            <a:ext cx="1828800" cy="274320"/>
          </a:xfrm>
          <a:prstGeom prst="rect">
            <a:avLst/>
          </a:prstGeom>
          <a:noFill/>
          <a:ln/>
        </p:spPr>
        <p:txBody>
          <a:bodyPr wrap="square" lIns="0" tIns="0" rIns="0" bIns="0" rtlCol="0" anchor="t"/>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steps</a:t>
            </a:r>
            <a:endParaRPr lang="en-US" sz="1050" dirty="0"/>
          </a:p>
        </p:txBody>
      </p:sp>
      <p:sp>
        <p:nvSpPr>
          <p:cNvPr id="9" name="Text 7"/>
          <p:cNvSpPr/>
          <p:nvPr/>
        </p:nvSpPr>
        <p:spPr>
          <a:xfrm>
            <a:off x="2944368" y="1554480"/>
            <a:ext cx="2029968" cy="868680"/>
          </a:xfrm>
          <a:prstGeom prst="roundRect">
            <a:avLst>
              <a:gd name="adj" fmla="val 6316"/>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0" name="Text 8"/>
          <p:cNvSpPr/>
          <p:nvPr/>
        </p:nvSpPr>
        <p:spPr>
          <a:xfrm>
            <a:off x="3081528" y="1627632"/>
            <a:ext cx="1828800" cy="457200"/>
          </a:xfrm>
          <a:prstGeom prst="rect">
            <a:avLst/>
          </a:prstGeom>
          <a:noFill/>
          <a:ln/>
        </p:spPr>
        <p:txBody>
          <a:bodyPr wrap="square" lIns="0" tIns="0" rIns="0" bIns="0" rtlCol="0" anchor="t"/>
          <a:lstStyle/>
          <a:p>
            <a:pPr algn="l" indent="0" marL="0">
              <a:lnSpc>
                <a:spcPct val="105000"/>
              </a:lnSpc>
              <a:spcAft>
                <a:spcPts val="200"/>
              </a:spcAft>
              <a:buNone/>
            </a:pPr>
            <a:r>
              <a:rPr lang="en-US" sz="2200" dirty="0">
                <a:solidFill>
                  <a:srgbClr val="0B1F4D"/>
                </a:solidFill>
                <a:latin typeface="Segoe UI Semibold" pitchFamily="34" charset="0"/>
                <a:ea typeface="Segoe UI Semibold" pitchFamily="34" charset="-122"/>
                <a:cs typeface="Segoe UI Semibold" pitchFamily="34" charset="-120"/>
              </a:rPr>
              <a:t>10</a:t>
            </a:r>
            <a:endParaRPr lang="en-US" sz="2200" dirty="0"/>
          </a:p>
        </p:txBody>
      </p:sp>
      <p:sp>
        <p:nvSpPr>
          <p:cNvPr id="11" name="Text 9"/>
          <p:cNvSpPr/>
          <p:nvPr/>
        </p:nvSpPr>
        <p:spPr>
          <a:xfrm>
            <a:off x="3081528" y="2084832"/>
            <a:ext cx="1828800" cy="274320"/>
          </a:xfrm>
          <a:prstGeom prst="rect">
            <a:avLst/>
          </a:prstGeom>
          <a:noFill/>
          <a:ln/>
        </p:spPr>
        <p:txBody>
          <a:bodyPr wrap="square" lIns="0" tIns="0" rIns="0" bIns="0" rtlCol="0" anchor="t"/>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blocks</a:t>
            </a:r>
            <a:endParaRPr lang="en-US" sz="1050" dirty="0"/>
          </a:p>
        </p:txBody>
      </p:sp>
      <p:sp>
        <p:nvSpPr>
          <p:cNvPr id="12" name="Text 10"/>
          <p:cNvSpPr/>
          <p:nvPr/>
        </p:nvSpPr>
        <p:spPr>
          <a:xfrm>
            <a:off x="5157216" y="1554480"/>
            <a:ext cx="2029968" cy="868680"/>
          </a:xfrm>
          <a:prstGeom prst="roundRect">
            <a:avLst>
              <a:gd name="adj" fmla="val 6316"/>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3" name="Text 11"/>
          <p:cNvSpPr/>
          <p:nvPr/>
        </p:nvSpPr>
        <p:spPr>
          <a:xfrm>
            <a:off x="5294376" y="1627632"/>
            <a:ext cx="1828800" cy="457200"/>
          </a:xfrm>
          <a:prstGeom prst="rect">
            <a:avLst/>
          </a:prstGeom>
          <a:noFill/>
          <a:ln/>
        </p:spPr>
        <p:txBody>
          <a:bodyPr wrap="square" lIns="0" tIns="0" rIns="0" bIns="0" rtlCol="0" anchor="t"/>
          <a:lstStyle/>
          <a:p>
            <a:pPr algn="l" indent="0" marL="0">
              <a:lnSpc>
                <a:spcPct val="105000"/>
              </a:lnSpc>
              <a:spcAft>
                <a:spcPts val="200"/>
              </a:spcAft>
              <a:buNone/>
            </a:pPr>
            <a:r>
              <a:rPr lang="en-US" sz="2200" dirty="0">
                <a:solidFill>
                  <a:srgbClr val="0B1F4D"/>
                </a:solidFill>
                <a:latin typeface="Segoe UI Semibold" pitchFamily="34" charset="0"/>
                <a:ea typeface="Segoe UI Semibold" pitchFamily="34" charset="-122"/>
                <a:cs typeface="Segoe UI Semibold" pitchFamily="34" charset="-120"/>
              </a:rPr>
              <a:t>18</a:t>
            </a:r>
            <a:endParaRPr lang="en-US" sz="2200" dirty="0"/>
          </a:p>
        </p:txBody>
      </p:sp>
      <p:sp>
        <p:nvSpPr>
          <p:cNvPr id="14" name="Text 12"/>
          <p:cNvSpPr/>
          <p:nvPr/>
        </p:nvSpPr>
        <p:spPr>
          <a:xfrm>
            <a:off x="5294376" y="2084832"/>
            <a:ext cx="1828800" cy="274320"/>
          </a:xfrm>
          <a:prstGeom prst="rect">
            <a:avLst/>
          </a:prstGeom>
          <a:noFill/>
          <a:ln/>
        </p:spPr>
        <p:txBody>
          <a:bodyPr wrap="square" lIns="0" tIns="0" rIns="0" bIns="0" rtlCol="0" anchor="t"/>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bodies involved</a:t>
            </a:r>
            <a:endParaRPr lang="en-US" sz="1050" dirty="0"/>
          </a:p>
        </p:txBody>
      </p:sp>
      <p:sp>
        <p:nvSpPr>
          <p:cNvPr id="15" name="Text 13"/>
          <p:cNvSpPr/>
          <p:nvPr/>
        </p:nvSpPr>
        <p:spPr>
          <a:xfrm>
            <a:off x="7370064" y="1554480"/>
            <a:ext cx="2029968" cy="868680"/>
          </a:xfrm>
          <a:prstGeom prst="roundRect">
            <a:avLst>
              <a:gd name="adj" fmla="val 6316"/>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6" name="Text 14"/>
          <p:cNvSpPr/>
          <p:nvPr/>
        </p:nvSpPr>
        <p:spPr>
          <a:xfrm>
            <a:off x="7507224" y="1627632"/>
            <a:ext cx="1828800" cy="457200"/>
          </a:xfrm>
          <a:prstGeom prst="rect">
            <a:avLst/>
          </a:prstGeom>
          <a:noFill/>
          <a:ln/>
        </p:spPr>
        <p:txBody>
          <a:bodyPr wrap="square" lIns="0" tIns="0" rIns="0" bIns="0" rtlCol="0" anchor="t"/>
          <a:lstStyle/>
          <a:p>
            <a:pPr algn="l" indent="0" marL="0">
              <a:lnSpc>
                <a:spcPct val="105000"/>
              </a:lnSpc>
              <a:spcAft>
                <a:spcPts val="200"/>
              </a:spcAft>
              <a:buNone/>
            </a:pPr>
            <a:r>
              <a:rPr lang="en-US" sz="2200" dirty="0">
                <a:solidFill>
                  <a:srgbClr val="0B1F4D"/>
                </a:solidFill>
                <a:latin typeface="Segoe UI Semibold" pitchFamily="34" charset="0"/>
                <a:ea typeface="Segoe UI Semibold" pitchFamily="34" charset="-122"/>
                <a:cs typeface="Segoe UI Semibold" pitchFamily="34" charset="-120"/>
              </a:rPr>
              <a:t>81–244 h</a:t>
            </a:r>
            <a:endParaRPr lang="en-US" sz="2200" dirty="0"/>
          </a:p>
        </p:txBody>
      </p:sp>
      <p:sp>
        <p:nvSpPr>
          <p:cNvPr id="17" name="Text 15"/>
          <p:cNvSpPr/>
          <p:nvPr/>
        </p:nvSpPr>
        <p:spPr>
          <a:xfrm>
            <a:off x="7507224" y="2084832"/>
            <a:ext cx="1828800" cy="274320"/>
          </a:xfrm>
          <a:prstGeom prst="rect">
            <a:avLst/>
          </a:prstGeom>
          <a:noFill/>
          <a:ln/>
        </p:spPr>
        <p:txBody>
          <a:bodyPr wrap="square" lIns="0" tIns="0" rIns="0" bIns="0" rtlCol="0" anchor="t"/>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published duration</a:t>
            </a:r>
            <a:endParaRPr lang="en-US" sz="1050" dirty="0"/>
          </a:p>
        </p:txBody>
      </p:sp>
      <p:sp>
        <p:nvSpPr>
          <p:cNvPr id="18" name="Text 16"/>
          <p:cNvSpPr/>
          <p:nvPr/>
        </p:nvSpPr>
        <p:spPr>
          <a:xfrm>
            <a:off x="9582912" y="1554480"/>
            <a:ext cx="2029968" cy="868680"/>
          </a:xfrm>
          <a:prstGeom prst="roundRect">
            <a:avLst>
              <a:gd name="adj" fmla="val 6316"/>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9" name="Text 17"/>
          <p:cNvSpPr/>
          <p:nvPr/>
        </p:nvSpPr>
        <p:spPr>
          <a:xfrm>
            <a:off x="9720072" y="1627632"/>
            <a:ext cx="1828800" cy="457200"/>
          </a:xfrm>
          <a:prstGeom prst="rect">
            <a:avLst/>
          </a:prstGeom>
          <a:noFill/>
          <a:ln/>
        </p:spPr>
        <p:txBody>
          <a:bodyPr wrap="square" lIns="0" tIns="0" rIns="0" bIns="0" rtlCol="0" anchor="t"/>
          <a:lstStyle/>
          <a:p>
            <a:pPr algn="l" indent="0" marL="0">
              <a:lnSpc>
                <a:spcPct val="105000"/>
              </a:lnSpc>
              <a:spcAft>
                <a:spcPts val="200"/>
              </a:spcAft>
              <a:buNone/>
            </a:pPr>
            <a:r>
              <a:rPr lang="en-US" sz="2200" dirty="0">
                <a:solidFill>
                  <a:srgbClr val="0B1F4D"/>
                </a:solidFill>
                <a:latin typeface="Segoe UI Semibold" pitchFamily="34" charset="0"/>
                <a:ea typeface="Segoe UI Semibold" pitchFamily="34" charset="-122"/>
                <a:cs typeface="Segoe UI Semibold" pitchFamily="34" charset="-120"/>
              </a:rPr>
              <a:t>≈196 h</a:t>
            </a:r>
            <a:endParaRPr lang="en-US" sz="2200" dirty="0"/>
          </a:p>
        </p:txBody>
      </p:sp>
      <p:sp>
        <p:nvSpPr>
          <p:cNvPr id="20" name="Text 18"/>
          <p:cNvSpPr/>
          <p:nvPr/>
        </p:nvSpPr>
        <p:spPr>
          <a:xfrm>
            <a:off x="9720072" y="2084832"/>
            <a:ext cx="1828800" cy="274320"/>
          </a:xfrm>
          <a:prstGeom prst="rect">
            <a:avLst/>
          </a:prstGeom>
          <a:noFill/>
          <a:ln/>
        </p:spPr>
        <p:txBody>
          <a:bodyPr wrap="square" lIns="0" tIns="0" rIns="0" bIns="0" rtlCol="0" anchor="t"/>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critical path (upper)</a:t>
            </a:r>
            <a:endParaRPr lang="en-US" sz="1050" dirty="0"/>
          </a:p>
        </p:txBody>
      </p:sp>
      <p:sp>
        <p:nvSpPr>
          <p:cNvPr id="21" name="Text 19"/>
          <p:cNvSpPr/>
          <p:nvPr/>
        </p:nvSpPr>
        <p:spPr>
          <a:xfrm>
            <a:off x="731520" y="2679192"/>
            <a:ext cx="2743200" cy="228600"/>
          </a:xfrm>
          <a:prstGeom prst="rect">
            <a:avLst/>
          </a:prstGeom>
          <a:noFill/>
          <a:ln/>
        </p:spPr>
        <p:txBody>
          <a:bodyPr wrap="square" lIns="0" tIns="0" rIns="0" bIns="0" rtlCol="0" anchor="t"/>
          <a:lstStyle/>
          <a:p>
            <a:pPr algn="l" indent="0" marL="0">
              <a:lnSpc>
                <a:spcPct val="105000"/>
              </a:lnSpc>
              <a:spcAft>
                <a:spcPts val="200"/>
              </a:spcAft>
              <a:buNone/>
            </a:pPr>
            <a:r>
              <a:rPr lang="en-US" sz="900" b="1" dirty="0">
                <a:solidFill>
                  <a:srgbClr val="64748B"/>
                </a:solidFill>
                <a:latin typeface="Segoe UI" pitchFamily="34" charset="0"/>
                <a:ea typeface="Segoe UI" pitchFamily="34" charset="-122"/>
                <a:cs typeface="Segoe UI" pitchFamily="34" charset="-120"/>
              </a:rPr>
              <a:t>WHO DOES EACH STEP</a:t>
            </a:r>
            <a:endParaRPr lang="en-US" sz="900" dirty="0"/>
          </a:p>
        </p:txBody>
      </p:sp>
      <p:sp>
        <p:nvSpPr>
          <p:cNvPr id="22" name="Text 20"/>
          <p:cNvSpPr/>
          <p:nvPr/>
        </p:nvSpPr>
        <p:spPr>
          <a:xfrm>
            <a:off x="731520" y="2926080"/>
            <a:ext cx="7027545" cy="310896"/>
          </a:xfrm>
          <a:prstGeom prst="rect">
            <a:avLst>
              <a:gd name="adj" fmla="val 17647"/>
            </a:avLst>
          </a:prstGeom>
          <a:solidFill>
            <a:srgbClr val="7C3AED"/>
          </a:solidFill>
          <a:ln w="12700">
            <a:solidFill>
              <a:srgbClr val="7C3AED"/>
            </a:solidFill>
            <a:prstDash val="solid"/>
          </a:ln>
        </p:spPr>
        <p:txBody>
          <a:bodyPr wrap="square" lIns="76200" tIns="76200" rIns="76200" bIns="7620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You (trader) · 31</a:t>
            </a:r>
            <a:endParaRPr lang="en-US" sz="1050" dirty="0"/>
          </a:p>
        </p:txBody>
      </p:sp>
      <p:sp>
        <p:nvSpPr>
          <p:cNvPr id="23" name="Text 21"/>
          <p:cNvSpPr/>
          <p:nvPr/>
        </p:nvSpPr>
        <p:spPr>
          <a:xfrm>
            <a:off x="7759065" y="2926080"/>
            <a:ext cx="2040255" cy="310896"/>
          </a:xfrm>
          <a:prstGeom prst="rect">
            <a:avLst>
              <a:gd name="adj" fmla="val 17647"/>
            </a:avLst>
          </a:prstGeom>
          <a:solidFill>
            <a:srgbClr val="2563EB"/>
          </a:solidFill>
          <a:ln w="12700">
            <a:solidFill>
              <a:srgbClr val="2563EB"/>
            </a:solidFill>
            <a:prstDash val="solid"/>
          </a:ln>
        </p:spPr>
        <p:txBody>
          <a:bodyPr wrap="square" lIns="76200" tIns="76200" rIns="76200" bIns="7620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Agent · 9</a:t>
            </a:r>
            <a:endParaRPr lang="en-US" sz="1050" dirty="0"/>
          </a:p>
        </p:txBody>
      </p:sp>
      <p:sp>
        <p:nvSpPr>
          <p:cNvPr id="24" name="Text 22"/>
          <p:cNvSpPr/>
          <p:nvPr/>
        </p:nvSpPr>
        <p:spPr>
          <a:xfrm>
            <a:off x="9799320" y="2926080"/>
            <a:ext cx="1813560" cy="310896"/>
          </a:xfrm>
          <a:prstGeom prst="rect">
            <a:avLst>
              <a:gd name="adj" fmla="val 17647"/>
            </a:avLst>
          </a:prstGeom>
          <a:solidFill>
            <a:srgbClr val="0D9488"/>
          </a:solidFill>
          <a:ln w="12700">
            <a:solidFill>
              <a:srgbClr val="0D9488"/>
            </a:solidFill>
            <a:prstDash val="solid"/>
          </a:ln>
        </p:spPr>
        <p:txBody>
          <a:bodyPr wrap="square" lIns="76200" tIns="76200" rIns="76200" bIns="7620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At the goods · 8</a:t>
            </a:r>
            <a:endParaRPr lang="en-US" sz="1050" dirty="0"/>
          </a:p>
        </p:txBody>
      </p:sp>
      <p:sp>
        <p:nvSpPr>
          <p:cNvPr id="25" name="Text 23"/>
          <p:cNvSpPr/>
          <p:nvPr/>
        </p:nvSpPr>
        <p:spPr>
          <a:xfrm>
            <a:off x="731520" y="3282696"/>
            <a:ext cx="10881360" cy="228600"/>
          </a:xfrm>
          <a:prstGeom prst="rect">
            <a:avLst/>
          </a:prstGeom>
          <a:noFill/>
          <a:ln/>
        </p:spPr>
        <p:txBody>
          <a:bodyPr wrap="square" lIns="0" tIns="0" rIns="0" bIns="0" rtlCol="0" anchor="t"/>
          <a:lstStyle/>
          <a:p>
            <a:pPr algn="l" indent="0" marL="0">
              <a:lnSpc>
                <a:spcPct val="105000"/>
              </a:lnSpc>
              <a:spcAft>
                <a:spcPts val="200"/>
              </a:spcAft>
              <a:buNone/>
            </a:pPr>
            <a:r>
              <a:rPr lang="en-US" sz="1000" dirty="0">
                <a:solidFill>
                  <a:srgbClr val="64748B"/>
                </a:solidFill>
                <a:latin typeface="Segoe UI" pitchFamily="34" charset="0"/>
                <a:ea typeface="Segoe UI" pitchFamily="34" charset="-122"/>
                <a:cs typeface="Segoe UI" pitchFamily="34" charset="-120"/>
              </a:rPr>
              <a:t>22 steps online · 26 in person · 2 lane hand-offs on the block graph · bottleneck: “Arrange freight transportation by railway” (24% of the critical path)</a:t>
            </a:r>
            <a:endParaRPr lang="en-US" sz="1000" dirty="0"/>
          </a:p>
        </p:txBody>
      </p:sp>
      <p:sp>
        <p:nvSpPr>
          <p:cNvPr id="26" name="Shape 24"/>
          <p:cNvSpPr/>
          <p:nvPr/>
        </p:nvSpPr>
        <p:spPr>
          <a:xfrm>
            <a:off x="2304288" y="4400550"/>
            <a:ext cx="240792" cy="280035"/>
          </a:xfrm>
          <a:prstGeom prst="line">
            <a:avLst/>
          </a:prstGeom>
          <a:noFill/>
          <a:ln w="12700">
            <a:solidFill>
              <a:srgbClr val="94A3B8"/>
            </a:solidFill>
            <a:prstDash val="solid"/>
            <a:tailEnd type="triangle"/>
          </a:ln>
        </p:spPr>
      </p:sp>
      <p:sp>
        <p:nvSpPr>
          <p:cNvPr id="27" name="Shape 25"/>
          <p:cNvSpPr/>
          <p:nvPr/>
        </p:nvSpPr>
        <p:spPr>
          <a:xfrm flipV="1">
            <a:off x="2304288" y="4680585"/>
            <a:ext cx="240792" cy="280035"/>
          </a:xfrm>
          <a:prstGeom prst="line">
            <a:avLst/>
          </a:prstGeom>
          <a:noFill/>
          <a:ln w="22225">
            <a:solidFill>
              <a:srgbClr val="2563EB"/>
            </a:solidFill>
            <a:prstDash val="solid"/>
            <a:tailEnd type="triangle"/>
          </a:ln>
        </p:spPr>
      </p:sp>
      <p:sp>
        <p:nvSpPr>
          <p:cNvPr id="28" name="Shape 26"/>
          <p:cNvSpPr/>
          <p:nvPr/>
        </p:nvSpPr>
        <p:spPr>
          <a:xfrm>
            <a:off x="4117848" y="4680585"/>
            <a:ext cx="240792" cy="420052"/>
          </a:xfrm>
          <a:prstGeom prst="line">
            <a:avLst/>
          </a:prstGeom>
          <a:noFill/>
          <a:ln w="22225">
            <a:solidFill>
              <a:srgbClr val="2563EB"/>
            </a:solidFill>
            <a:prstDash val="solid"/>
            <a:tailEnd type="triangle"/>
          </a:ln>
        </p:spPr>
      </p:sp>
      <p:sp>
        <p:nvSpPr>
          <p:cNvPr id="29" name="Shape 27"/>
          <p:cNvSpPr/>
          <p:nvPr/>
        </p:nvSpPr>
        <p:spPr>
          <a:xfrm flipV="1">
            <a:off x="2304288" y="5100638"/>
            <a:ext cx="2054352" cy="420053"/>
          </a:xfrm>
          <a:prstGeom prst="line">
            <a:avLst/>
          </a:prstGeom>
          <a:noFill/>
          <a:ln w="12700">
            <a:solidFill>
              <a:srgbClr val="94A3B8"/>
            </a:solidFill>
            <a:prstDash val="solid"/>
            <a:tailEnd type="triangle"/>
          </a:ln>
        </p:spPr>
      </p:sp>
      <p:sp>
        <p:nvSpPr>
          <p:cNvPr id="30" name="Shape 28"/>
          <p:cNvSpPr/>
          <p:nvPr/>
        </p:nvSpPr>
        <p:spPr>
          <a:xfrm>
            <a:off x="5931408" y="5100638"/>
            <a:ext cx="240792" cy="914"/>
          </a:xfrm>
          <a:prstGeom prst="line">
            <a:avLst/>
          </a:prstGeom>
          <a:noFill/>
          <a:ln w="22225">
            <a:solidFill>
              <a:srgbClr val="2563EB"/>
            </a:solidFill>
            <a:prstDash val="solid"/>
            <a:tailEnd type="triangle"/>
          </a:ln>
        </p:spPr>
      </p:sp>
      <p:sp>
        <p:nvSpPr>
          <p:cNvPr id="31" name="Shape 29"/>
          <p:cNvSpPr/>
          <p:nvPr/>
        </p:nvSpPr>
        <p:spPr>
          <a:xfrm>
            <a:off x="7744968" y="5100638"/>
            <a:ext cx="240792" cy="490061"/>
          </a:xfrm>
          <a:prstGeom prst="line">
            <a:avLst/>
          </a:prstGeom>
          <a:noFill/>
          <a:ln w="22225">
            <a:solidFill>
              <a:srgbClr val="2563EB"/>
            </a:solidFill>
            <a:prstDash val="solid"/>
            <a:tailEnd type="triangle"/>
          </a:ln>
        </p:spPr>
      </p:sp>
      <p:sp>
        <p:nvSpPr>
          <p:cNvPr id="32" name="Shape 30"/>
          <p:cNvSpPr/>
          <p:nvPr/>
        </p:nvSpPr>
        <p:spPr>
          <a:xfrm flipV="1">
            <a:off x="2304288" y="5590699"/>
            <a:ext cx="5681472" cy="490061"/>
          </a:xfrm>
          <a:prstGeom prst="line">
            <a:avLst/>
          </a:prstGeom>
          <a:noFill/>
          <a:ln w="12700">
            <a:solidFill>
              <a:srgbClr val="94A3B8"/>
            </a:solidFill>
            <a:prstDash val="solid"/>
            <a:tailEnd type="triangle"/>
          </a:ln>
        </p:spPr>
      </p:sp>
      <p:sp>
        <p:nvSpPr>
          <p:cNvPr id="33" name="Shape 31"/>
          <p:cNvSpPr/>
          <p:nvPr/>
        </p:nvSpPr>
        <p:spPr>
          <a:xfrm>
            <a:off x="9558528" y="5590699"/>
            <a:ext cx="240792" cy="914"/>
          </a:xfrm>
          <a:prstGeom prst="line">
            <a:avLst/>
          </a:prstGeom>
          <a:noFill/>
          <a:ln w="22225">
            <a:solidFill>
              <a:srgbClr val="2563EB"/>
            </a:solidFill>
            <a:prstDash val="solid"/>
            <a:tailEnd type="triangle"/>
          </a:ln>
        </p:spPr>
      </p:sp>
      <p:sp>
        <p:nvSpPr>
          <p:cNvPr id="34" name="Text 32"/>
          <p:cNvSpPr/>
          <p:nvPr/>
        </p:nvSpPr>
        <p:spPr>
          <a:xfrm>
            <a:off x="731520" y="3611880"/>
            <a:ext cx="1572768" cy="457200"/>
          </a:xfrm>
          <a:prstGeom prst="roundRect">
            <a:avLst>
              <a:gd name="adj" fmla="val 12000"/>
            </a:avLst>
          </a:prstGeom>
          <a:solidFill>
            <a:srgbClr val="FFFFFF"/>
          </a:solidFill>
          <a:ln w="12700">
            <a:solidFill>
              <a:srgbClr val="D8DEE8"/>
            </a:solidFill>
            <a:prstDash val="solid"/>
          </a:ln>
        </p:spPr>
        <p:txBody>
          <a:bodyPr wrap="square" lIns="38100" tIns="38100" rIns="38100" bIns="38100" rtlCol="0" anchor="ctr"/>
          <a:lstStyle/>
          <a:p>
            <a:pPr algn="ctr" indent="0" marL="0">
              <a:buNone/>
            </a:pPr>
            <a:r>
              <a:rPr lang="en-US" sz="950" b="1" dirty="0">
                <a:solidFill>
                  <a:srgbClr val="334155"/>
                </a:solidFill>
                <a:latin typeface="Segoe UI" pitchFamily="34" charset="0"/>
                <a:ea typeface="Segoe UI" pitchFamily="34" charset="-122"/>
                <a:cs typeface="Segoe UI" pitchFamily="34" charset="-120"/>
              </a:rPr>
              <a:t>Register export contract</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2–8 h</a:t>
            </a:r>
            <a:endParaRPr lang="en-US" sz="1100" dirty="0"/>
          </a:p>
        </p:txBody>
      </p:sp>
      <p:sp>
        <p:nvSpPr>
          <p:cNvPr id="35" name="Text 33"/>
          <p:cNvSpPr/>
          <p:nvPr/>
        </p:nvSpPr>
        <p:spPr>
          <a:xfrm>
            <a:off x="731520" y="4171950"/>
            <a:ext cx="1572768" cy="457200"/>
          </a:xfrm>
          <a:prstGeom prst="roundRect">
            <a:avLst>
              <a:gd name="adj" fmla="val 12000"/>
            </a:avLst>
          </a:prstGeom>
          <a:solidFill>
            <a:srgbClr val="FFFFFF"/>
          </a:solidFill>
          <a:ln w="12700">
            <a:solidFill>
              <a:srgbClr val="D8DEE8"/>
            </a:solidFill>
            <a:prstDash val="solid"/>
          </a:ln>
        </p:spPr>
        <p:txBody>
          <a:bodyPr wrap="square" lIns="38100" tIns="38100" rIns="38100" bIns="38100" rtlCol="0" anchor="ctr"/>
          <a:lstStyle/>
          <a:p>
            <a:pPr algn="ctr" indent="0" marL="0">
              <a:buNone/>
            </a:pPr>
            <a:r>
              <a:rPr lang="en-US" sz="950" b="1" dirty="0">
                <a:solidFill>
                  <a:srgbClr val="334155"/>
                </a:solidFill>
                <a:latin typeface="Segoe UI" pitchFamily="34" charset="0"/>
                <a:ea typeface="Segoe UI" pitchFamily="34" charset="-122"/>
                <a:cs typeface="Segoe UI" pitchFamily="34" charset="-120"/>
              </a:rPr>
              <a:t>Prepare cargo delivery online</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10–30 h</a:t>
            </a:r>
            <a:endParaRPr lang="en-US" sz="1100" dirty="0"/>
          </a:p>
        </p:txBody>
      </p:sp>
      <p:sp>
        <p:nvSpPr>
          <p:cNvPr id="36" name="Text 34"/>
          <p:cNvSpPr/>
          <p:nvPr/>
        </p:nvSpPr>
        <p:spPr>
          <a:xfrm>
            <a:off x="731520" y="4732020"/>
            <a:ext cx="1572768" cy="457200"/>
          </a:xfrm>
          <a:prstGeom prst="roundRect">
            <a:avLst>
              <a:gd name="adj" fmla="val 12000"/>
            </a:avLst>
          </a:prstGeom>
          <a:solidFill>
            <a:srgbClr val="EAF1FF"/>
          </a:solidFill>
          <a:ln w="19050">
            <a:solidFill>
              <a:srgbClr val="2563EB"/>
            </a:solidFill>
            <a:prstDash val="solid"/>
          </a:ln>
        </p:spPr>
        <p:txBody>
          <a:bodyPr wrap="square" lIns="38100" tIns="38100" rIns="38100" bIns="38100" rtlCol="0" anchor="ctr"/>
          <a:lstStyle/>
          <a:p>
            <a:pPr algn="ctr" indent="0" marL="0">
              <a:buNone/>
            </a:pPr>
            <a:r>
              <a:rPr lang="en-US" sz="950" b="1" dirty="0">
                <a:solidFill>
                  <a:srgbClr val="0B1F4D"/>
                </a:solidFill>
                <a:latin typeface="Segoe UI" pitchFamily="34" charset="0"/>
                <a:ea typeface="Segoe UI" pitchFamily="34" charset="-122"/>
                <a:cs typeface="Segoe UI" pitchFamily="34" charset="-120"/>
              </a:rPr>
              <a:t>Obtain code notification</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12–36 h</a:t>
            </a:r>
            <a:endParaRPr lang="en-US" sz="1100" dirty="0"/>
          </a:p>
        </p:txBody>
      </p:sp>
      <p:sp>
        <p:nvSpPr>
          <p:cNvPr id="37" name="Text 35"/>
          <p:cNvSpPr/>
          <p:nvPr/>
        </p:nvSpPr>
        <p:spPr>
          <a:xfrm>
            <a:off x="731520" y="5292090"/>
            <a:ext cx="1572768" cy="457200"/>
          </a:xfrm>
          <a:prstGeom prst="roundRect">
            <a:avLst>
              <a:gd name="adj" fmla="val 12000"/>
            </a:avLst>
          </a:prstGeom>
          <a:solidFill>
            <a:srgbClr val="FFFFFF"/>
          </a:solidFill>
          <a:ln w="12700">
            <a:solidFill>
              <a:srgbClr val="D8DEE8"/>
            </a:solidFill>
            <a:prstDash val="solid"/>
          </a:ln>
        </p:spPr>
        <p:txBody>
          <a:bodyPr wrap="square" lIns="38100" tIns="38100" rIns="38100" bIns="38100" rtlCol="0" anchor="ctr"/>
          <a:lstStyle/>
          <a:p>
            <a:pPr algn="ctr" indent="0" marL="0">
              <a:buNone/>
            </a:pPr>
            <a:r>
              <a:rPr lang="en-US" sz="950" b="1" dirty="0">
                <a:solidFill>
                  <a:srgbClr val="334155"/>
                </a:solidFill>
                <a:latin typeface="Segoe UI" pitchFamily="34" charset="0"/>
                <a:ea typeface="Segoe UI" pitchFamily="34" charset="-122"/>
                <a:cs typeface="Segoe UI" pitchFamily="34" charset="-120"/>
              </a:rPr>
              <a:t>Internal phytosanitary cert.</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24–72 h</a:t>
            </a:r>
            <a:endParaRPr lang="en-US" sz="1100" dirty="0"/>
          </a:p>
        </p:txBody>
      </p:sp>
      <p:sp>
        <p:nvSpPr>
          <p:cNvPr id="38" name="Text 36"/>
          <p:cNvSpPr/>
          <p:nvPr/>
        </p:nvSpPr>
        <p:spPr>
          <a:xfrm>
            <a:off x="2545080" y="4451985"/>
            <a:ext cx="1572768" cy="457200"/>
          </a:xfrm>
          <a:prstGeom prst="roundRect">
            <a:avLst>
              <a:gd name="adj" fmla="val 12000"/>
            </a:avLst>
          </a:prstGeom>
          <a:solidFill>
            <a:srgbClr val="EAF1FF"/>
          </a:solidFill>
          <a:ln w="19050">
            <a:solidFill>
              <a:srgbClr val="2563EB"/>
            </a:solidFill>
            <a:prstDash val="solid"/>
          </a:ln>
        </p:spPr>
        <p:txBody>
          <a:bodyPr wrap="square" lIns="38100" tIns="38100" rIns="38100" bIns="38100" rtlCol="0" anchor="ctr"/>
          <a:lstStyle/>
          <a:p>
            <a:pPr algn="ctr" indent="0" marL="0">
              <a:buNone/>
            </a:pPr>
            <a:r>
              <a:rPr lang="en-US" sz="950" b="1" dirty="0">
                <a:solidFill>
                  <a:srgbClr val="0B1F4D"/>
                </a:solidFill>
                <a:latin typeface="Segoe UI" pitchFamily="34" charset="0"/>
                <a:ea typeface="Segoe UI" pitchFamily="34" charset="-122"/>
                <a:cs typeface="Segoe UI" pitchFamily="34" charset="-120"/>
              </a:rPr>
              <a:t>Arrange rail transport</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16–48 h</a:t>
            </a:r>
            <a:endParaRPr lang="en-US" sz="1100" dirty="0"/>
          </a:p>
        </p:txBody>
      </p:sp>
      <p:sp>
        <p:nvSpPr>
          <p:cNvPr id="39" name="Text 37"/>
          <p:cNvSpPr/>
          <p:nvPr/>
        </p:nvSpPr>
        <p:spPr>
          <a:xfrm>
            <a:off x="4358640" y="4872038"/>
            <a:ext cx="1572768" cy="457200"/>
          </a:xfrm>
          <a:prstGeom prst="roundRect">
            <a:avLst>
              <a:gd name="adj" fmla="val 12000"/>
            </a:avLst>
          </a:prstGeom>
          <a:solidFill>
            <a:srgbClr val="EAF1FF"/>
          </a:solidFill>
          <a:ln w="19050">
            <a:solidFill>
              <a:srgbClr val="2563EB"/>
            </a:solidFill>
            <a:prstDash val="solid"/>
          </a:ln>
        </p:spPr>
        <p:txBody>
          <a:bodyPr wrap="square" lIns="38100" tIns="38100" rIns="38100" bIns="38100" rtlCol="0" anchor="ctr"/>
          <a:lstStyle/>
          <a:p>
            <a:pPr algn="ctr" indent="0" marL="0">
              <a:buNone/>
            </a:pPr>
            <a:r>
              <a:rPr lang="en-US" sz="950" b="1" dirty="0">
                <a:solidFill>
                  <a:srgbClr val="0B1F4D"/>
                </a:solidFill>
                <a:latin typeface="Segoe UI" pitchFamily="34" charset="0"/>
                <a:ea typeface="Segoe UI" pitchFamily="34" charset="-122"/>
                <a:cs typeface="Segoe UI" pitchFamily="34" charset="-120"/>
              </a:rPr>
              <a:t>Complete freight loading</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10–30 h</a:t>
            </a:r>
            <a:endParaRPr lang="en-US" sz="1100" dirty="0"/>
          </a:p>
        </p:txBody>
      </p:sp>
      <p:sp>
        <p:nvSpPr>
          <p:cNvPr id="40" name="Text 38"/>
          <p:cNvSpPr/>
          <p:nvPr/>
        </p:nvSpPr>
        <p:spPr>
          <a:xfrm>
            <a:off x="6172200" y="4872038"/>
            <a:ext cx="1572768" cy="457200"/>
          </a:xfrm>
          <a:prstGeom prst="roundRect">
            <a:avLst>
              <a:gd name="adj" fmla="val 12000"/>
            </a:avLst>
          </a:prstGeom>
          <a:solidFill>
            <a:srgbClr val="EAF1FF"/>
          </a:solidFill>
          <a:ln w="19050">
            <a:solidFill>
              <a:srgbClr val="2563EB"/>
            </a:solidFill>
            <a:prstDash val="solid"/>
          </a:ln>
        </p:spPr>
        <p:txBody>
          <a:bodyPr wrap="square" lIns="38100" tIns="38100" rIns="38100" bIns="38100" rtlCol="0" anchor="ctr"/>
          <a:lstStyle/>
          <a:p>
            <a:pPr algn="ctr" indent="0" marL="0">
              <a:buNone/>
            </a:pPr>
            <a:r>
              <a:rPr lang="en-US" sz="950" b="1" dirty="0">
                <a:solidFill>
                  <a:srgbClr val="0B1F4D"/>
                </a:solidFill>
                <a:latin typeface="Segoe UI" pitchFamily="34" charset="0"/>
                <a:ea typeface="Segoe UI" pitchFamily="34" charset="-122"/>
                <a:cs typeface="Segoe UI" pitchFamily="34" charset="-120"/>
              </a:rPr>
              <a:t>Phytosanitary certificate</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10–30 h</a:t>
            </a:r>
            <a:endParaRPr lang="en-US" sz="1100" dirty="0"/>
          </a:p>
        </p:txBody>
      </p:sp>
      <p:sp>
        <p:nvSpPr>
          <p:cNvPr id="41" name="Text 39"/>
          <p:cNvSpPr/>
          <p:nvPr/>
        </p:nvSpPr>
        <p:spPr>
          <a:xfrm>
            <a:off x="731520" y="5852160"/>
            <a:ext cx="1572768" cy="457200"/>
          </a:xfrm>
          <a:prstGeom prst="roundRect">
            <a:avLst>
              <a:gd name="adj" fmla="val 12000"/>
            </a:avLst>
          </a:prstGeom>
          <a:solidFill>
            <a:srgbClr val="FFFFFF"/>
          </a:solidFill>
          <a:ln w="12700">
            <a:solidFill>
              <a:srgbClr val="D8DEE8"/>
            </a:solidFill>
            <a:prstDash val="solid"/>
          </a:ln>
        </p:spPr>
        <p:txBody>
          <a:bodyPr wrap="square" lIns="38100" tIns="38100" rIns="38100" bIns="38100" rtlCol="0" anchor="ctr"/>
          <a:lstStyle/>
          <a:p>
            <a:pPr algn="ctr" indent="0" marL="0">
              <a:buNone/>
            </a:pPr>
            <a:r>
              <a:rPr lang="en-US" sz="950" b="1" dirty="0">
                <a:solidFill>
                  <a:srgbClr val="334155"/>
                </a:solidFill>
                <a:latin typeface="Segoe UI" pitchFamily="34" charset="0"/>
                <a:ea typeface="Segoe UI" pitchFamily="34" charset="-122"/>
                <a:cs typeface="Segoe UI" pitchFamily="34" charset="-120"/>
              </a:rPr>
              <a:t>Certificate of origin</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24–72 h</a:t>
            </a:r>
            <a:endParaRPr lang="en-US" sz="1100" dirty="0"/>
          </a:p>
        </p:txBody>
      </p:sp>
      <p:sp>
        <p:nvSpPr>
          <p:cNvPr id="42" name="Text 40"/>
          <p:cNvSpPr/>
          <p:nvPr/>
        </p:nvSpPr>
        <p:spPr>
          <a:xfrm>
            <a:off x="7985760" y="5362099"/>
            <a:ext cx="1572768" cy="457200"/>
          </a:xfrm>
          <a:prstGeom prst="roundRect">
            <a:avLst>
              <a:gd name="adj" fmla="val 12000"/>
            </a:avLst>
          </a:prstGeom>
          <a:solidFill>
            <a:srgbClr val="EAF1FF"/>
          </a:solidFill>
          <a:ln w="19050">
            <a:solidFill>
              <a:srgbClr val="2563EB"/>
            </a:solidFill>
            <a:prstDash val="solid"/>
          </a:ln>
        </p:spPr>
        <p:txBody>
          <a:bodyPr wrap="square" lIns="38100" tIns="38100" rIns="38100" bIns="38100" rtlCol="0" anchor="ctr"/>
          <a:lstStyle/>
          <a:p>
            <a:pPr algn="ctr" indent="0" marL="0">
              <a:buNone/>
            </a:pPr>
            <a:r>
              <a:rPr lang="en-US" sz="950" b="1" dirty="0">
                <a:solidFill>
                  <a:srgbClr val="0B1F4D"/>
                </a:solidFill>
                <a:latin typeface="Segoe UI" pitchFamily="34" charset="0"/>
                <a:ea typeface="Segoe UI" pitchFamily="34" charset="-122"/>
                <a:cs typeface="Segoe UI" pitchFamily="34" charset="-120"/>
              </a:rPr>
              <a:t>Customs clearance</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12–40 h</a:t>
            </a:r>
            <a:endParaRPr lang="en-US" sz="1100" dirty="0"/>
          </a:p>
        </p:txBody>
      </p:sp>
      <p:sp>
        <p:nvSpPr>
          <p:cNvPr id="43" name="Text 41"/>
          <p:cNvSpPr/>
          <p:nvPr/>
        </p:nvSpPr>
        <p:spPr>
          <a:xfrm>
            <a:off x="9799320" y="5362099"/>
            <a:ext cx="1572768" cy="457200"/>
          </a:xfrm>
          <a:prstGeom prst="roundRect">
            <a:avLst>
              <a:gd name="adj" fmla="val 12000"/>
            </a:avLst>
          </a:prstGeom>
          <a:solidFill>
            <a:srgbClr val="EAF1FF"/>
          </a:solidFill>
          <a:ln w="19050">
            <a:solidFill>
              <a:srgbClr val="2563EB"/>
            </a:solidFill>
            <a:prstDash val="solid"/>
          </a:ln>
        </p:spPr>
        <p:txBody>
          <a:bodyPr wrap="square" lIns="38100" tIns="38100" rIns="38100" bIns="38100" rtlCol="0" anchor="ctr"/>
          <a:lstStyle/>
          <a:p>
            <a:pPr algn="ctr" indent="0" marL="0">
              <a:buNone/>
            </a:pPr>
            <a:r>
              <a:rPr lang="en-US" sz="950" b="1" dirty="0">
                <a:solidFill>
                  <a:srgbClr val="0B1F4D"/>
                </a:solidFill>
                <a:latin typeface="Segoe UI" pitchFamily="34" charset="0"/>
                <a:ea typeface="Segoe UI" pitchFamily="34" charset="-122"/>
                <a:cs typeface="Segoe UI" pitchFamily="34" charset="-120"/>
              </a:rPr>
              <a:t>Dispatch freight</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4–12 h</a:t>
            </a:r>
            <a:endParaRPr lang="en-US" sz="1100" dirty="0"/>
          </a:p>
        </p:txBody>
      </p:sp>
      <p:sp>
        <p:nvSpPr>
          <p:cNvPr id="44" name="Text 42"/>
          <p:cNvSpPr/>
          <p:nvPr/>
        </p:nvSpPr>
        <p:spPr>
          <a:xfrm>
            <a:off x="8138160" y="3364992"/>
            <a:ext cx="3474720" cy="228600"/>
          </a:xfrm>
          <a:prstGeom prst="rect">
            <a:avLst/>
          </a:prstGeom>
          <a:noFill/>
          <a:ln/>
        </p:spPr>
        <p:txBody>
          <a:bodyPr wrap="square" lIns="0" tIns="0" rIns="0" bIns="0" rtlCol="0" anchor="t"/>
          <a:lstStyle/>
          <a:p>
            <a:pPr algn="r" indent="0" marL="0">
              <a:lnSpc>
                <a:spcPct val="105000"/>
              </a:lnSpc>
              <a:spcAft>
                <a:spcPts val="200"/>
              </a:spcAft>
              <a:buNone/>
            </a:pPr>
            <a:r>
              <a:rPr lang="en-US" sz="900" dirty="0">
                <a:solidFill>
                  <a:srgbClr val="2563EB"/>
                </a:solidFill>
                <a:latin typeface="Segoe UI" pitchFamily="34" charset="0"/>
                <a:ea typeface="Segoe UI" pitchFamily="34" charset="-122"/>
                <a:cs typeface="Segoe UI" pitchFamily="34" charset="-120"/>
              </a:rPr>
              <a:t>Blue = critical path</a:t>
            </a:r>
            <a:endParaRPr lang="en-US" sz="9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02 · STARTING A CASE</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The trader types one sentence; the chat asks only what's missing</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Live transcript from the intake agent for the demo shipment</a:t>
            </a:r>
            <a:endParaRPr lang="en-US" sz="1200" dirty="0"/>
          </a:p>
        </p:txBody>
      </p:sp>
      <p:sp>
        <p:nvSpPr>
          <p:cNvPr id="6" name="Text 4"/>
          <p:cNvSpPr/>
          <p:nvPr/>
        </p:nvSpPr>
        <p:spPr>
          <a:xfrm>
            <a:off x="731520" y="1554480"/>
            <a:ext cx="6035040" cy="4754880"/>
          </a:xfrm>
          <a:prstGeom prst="roundRect">
            <a:avLst>
              <a:gd name="adj" fmla="val 1538"/>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7" name="Text 5"/>
          <p:cNvSpPr/>
          <p:nvPr/>
        </p:nvSpPr>
        <p:spPr>
          <a:xfrm>
            <a:off x="896112" y="1664208"/>
            <a:ext cx="570585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DASHBOARD CHAT</a:t>
            </a:r>
            <a:endParaRPr lang="en-US" sz="950" dirty="0"/>
          </a:p>
        </p:txBody>
      </p:sp>
      <p:sp>
        <p:nvSpPr>
          <p:cNvPr id="8" name="Text 6"/>
          <p:cNvSpPr/>
          <p:nvPr/>
        </p:nvSpPr>
        <p:spPr>
          <a:xfrm>
            <a:off x="3931920" y="1874520"/>
            <a:ext cx="2651760" cy="310896"/>
          </a:xfrm>
          <a:prstGeom prst="roundRect">
            <a:avLst>
              <a:gd name="adj" fmla="val 17647"/>
            </a:avLst>
          </a:prstGeom>
          <a:solidFill>
            <a:srgbClr val="7C3AED"/>
          </a:solidFill>
          <a:ln w="12700">
            <a:solidFill>
              <a:srgbClr val="7C3AED"/>
            </a:solidFill>
            <a:prstDash val="solid"/>
          </a:ln>
        </p:spPr>
        <p:txBody>
          <a:bodyPr wrap="square" lIns="101600" tIns="101600" rIns="101600" bIns="101600" rtlCol="0" anchor="ctr"/>
          <a:lstStyle/>
          <a:p>
            <a:pPr algn="r" indent="0" marL="0">
              <a:buNone/>
            </a:pPr>
            <a:r>
              <a:rPr lang="en-US" sz="1000" dirty="0">
                <a:solidFill>
                  <a:srgbClr val="FFFFFF"/>
                </a:solidFill>
                <a:latin typeface="Segoe UI" pitchFamily="34" charset="0"/>
                <a:ea typeface="Segoe UI" pitchFamily="34" charset="-122"/>
                <a:cs typeface="Segoe UI" pitchFamily="34" charset="-120"/>
              </a:rPr>
              <a:t>I want to move tea</a:t>
            </a:r>
            <a:endParaRPr lang="en-US" sz="1100" dirty="0"/>
          </a:p>
        </p:txBody>
      </p:sp>
      <p:sp>
        <p:nvSpPr>
          <p:cNvPr id="9" name="Text 7"/>
          <p:cNvSpPr/>
          <p:nvPr/>
        </p:nvSpPr>
        <p:spPr>
          <a:xfrm>
            <a:off x="914400" y="2231136"/>
            <a:ext cx="5212080" cy="512064"/>
          </a:xfrm>
          <a:prstGeom prst="roundRect">
            <a:avLst>
              <a:gd name="adj" fmla="val 10714"/>
            </a:avLst>
          </a:prstGeom>
          <a:solidFill>
            <a:srgbClr val="FFFFFF"/>
          </a:solidFill>
          <a:ln w="12700">
            <a:solidFill>
              <a:srgbClr val="D8DEE8"/>
            </a:solidFill>
            <a:prstDash val="solid"/>
          </a:ln>
        </p:spPr>
        <p:txBody>
          <a:bodyPr wrap="square" lIns="101600" tIns="101600" rIns="101600" bIns="101600" rtlCol="0" anchor="ctr"/>
          <a:lstStyle/>
          <a:p>
            <a:pPr algn="l" indent="0" marL="0">
              <a:buNone/>
            </a:pPr>
            <a:r>
              <a:rPr lang="en-US" sz="1000" dirty="0">
                <a:solidFill>
                  <a:srgbClr val="0F1729"/>
                </a:solidFill>
                <a:latin typeface="Segoe UI" pitchFamily="34" charset="0"/>
                <a:ea typeface="Segoe UI" pitchFamily="34" charset="-122"/>
                <a:cs typeface="Segoe UI" pitchFamily="34" charset="-120"/>
              </a:rPr>
              <a:t>Tea: is it leaving Uzbekistan or coming in?</a:t>
            </a:r>
            <a:pPr algn="l" indent="0" marL="0">
              <a:buNone/>
            </a:pPr>
            <a:endParaRPr lang="en-US" sz="1100" dirty="0"/>
          </a:p>
          <a:p>
            <a:pPr algn="l" indent="0" marL="0">
              <a:buNone/>
            </a:pPr>
            <a:r>
              <a:rPr lang="en-US" sz="900" b="1" dirty="0">
                <a:solidFill>
                  <a:srgbClr val="2563EB"/>
                </a:solidFill>
                <a:latin typeface="Segoe UI" pitchFamily="34" charset="0"/>
                <a:ea typeface="Segoe UI" pitchFamily="34" charset="-122"/>
                <a:cs typeface="Segoe UI" pitchFamily="34" charset="-120"/>
              </a:rPr>
              <a:t>[ Export from Uzbekistan ]  [ Import into Uzbekistan ]</a:t>
            </a:r>
            <a:endParaRPr lang="en-US" sz="1100" dirty="0"/>
          </a:p>
        </p:txBody>
      </p:sp>
      <p:sp>
        <p:nvSpPr>
          <p:cNvPr id="10" name="Text 8"/>
          <p:cNvSpPr/>
          <p:nvPr/>
        </p:nvSpPr>
        <p:spPr>
          <a:xfrm>
            <a:off x="3931920" y="2788920"/>
            <a:ext cx="2651760" cy="310896"/>
          </a:xfrm>
          <a:prstGeom prst="roundRect">
            <a:avLst>
              <a:gd name="adj" fmla="val 17647"/>
            </a:avLst>
          </a:prstGeom>
          <a:solidFill>
            <a:srgbClr val="7C3AED"/>
          </a:solidFill>
          <a:ln w="12700">
            <a:solidFill>
              <a:srgbClr val="7C3AED"/>
            </a:solidFill>
            <a:prstDash val="solid"/>
          </a:ln>
        </p:spPr>
        <p:txBody>
          <a:bodyPr wrap="square" lIns="101600" tIns="101600" rIns="101600" bIns="101600" rtlCol="0" anchor="ctr"/>
          <a:lstStyle/>
          <a:p>
            <a:pPr algn="r" indent="0" marL="0">
              <a:buNone/>
            </a:pPr>
            <a:r>
              <a:rPr lang="en-US" sz="1000" dirty="0">
                <a:solidFill>
                  <a:srgbClr val="FFFFFF"/>
                </a:solidFill>
                <a:latin typeface="Segoe UI" pitchFamily="34" charset="0"/>
                <a:ea typeface="Segoe UI" pitchFamily="34" charset="-122"/>
                <a:cs typeface="Segoe UI" pitchFamily="34" charset="-120"/>
              </a:rPr>
              <a:t>export</a:t>
            </a:r>
            <a:endParaRPr lang="en-US" sz="1100" dirty="0"/>
          </a:p>
        </p:txBody>
      </p:sp>
      <p:sp>
        <p:nvSpPr>
          <p:cNvPr id="11" name="Text 9"/>
          <p:cNvSpPr/>
          <p:nvPr/>
        </p:nvSpPr>
        <p:spPr>
          <a:xfrm>
            <a:off x="914400" y="3145536"/>
            <a:ext cx="5212080" cy="512064"/>
          </a:xfrm>
          <a:prstGeom prst="roundRect">
            <a:avLst>
              <a:gd name="adj" fmla="val 10714"/>
            </a:avLst>
          </a:prstGeom>
          <a:solidFill>
            <a:srgbClr val="FFFFFF"/>
          </a:solidFill>
          <a:ln w="12700">
            <a:solidFill>
              <a:srgbClr val="D8DEE8"/>
            </a:solidFill>
            <a:prstDash val="solid"/>
          </a:ln>
        </p:spPr>
        <p:txBody>
          <a:bodyPr wrap="square" lIns="101600" tIns="101600" rIns="101600" bIns="101600" rtlCol="0" anchor="ctr"/>
          <a:lstStyle/>
          <a:p>
            <a:pPr algn="l" indent="0" marL="0">
              <a:buNone/>
            </a:pPr>
            <a:r>
              <a:rPr lang="en-US" sz="1000" dirty="0">
                <a:solidFill>
                  <a:srgbClr val="0F1729"/>
                </a:solidFill>
                <a:latin typeface="Segoe UI" pitchFamily="34" charset="0"/>
                <a:ea typeface="Segoe UI" pitchFamily="34" charset="-122"/>
                <a:cs typeface="Segoe UI" pitchFamily="34" charset="-120"/>
              </a:rPr>
              <a:t>Tea (HS 0902), export. How will it travel?</a:t>
            </a:r>
            <a:pPr algn="l" indent="0" marL="0">
              <a:buNone/>
            </a:pPr>
            <a:endParaRPr lang="en-US" sz="1100" dirty="0"/>
          </a:p>
          <a:p>
            <a:pPr algn="l" indent="0" marL="0">
              <a:buNone/>
            </a:pPr>
            <a:r>
              <a:rPr lang="en-US" sz="900" b="1" dirty="0">
                <a:solidFill>
                  <a:srgbClr val="2563EB"/>
                </a:solidFill>
                <a:latin typeface="Segoe UI" pitchFamily="34" charset="0"/>
                <a:ea typeface="Segoe UI" pitchFamily="34" charset="-122"/>
                <a:cs typeface="Segoe UI" pitchFamily="34" charset="-120"/>
              </a:rPr>
              <a:t>[ By train ]  [ By air ]</a:t>
            </a:r>
            <a:endParaRPr lang="en-US" sz="1100" dirty="0"/>
          </a:p>
        </p:txBody>
      </p:sp>
      <p:sp>
        <p:nvSpPr>
          <p:cNvPr id="12" name="Text 10"/>
          <p:cNvSpPr/>
          <p:nvPr/>
        </p:nvSpPr>
        <p:spPr>
          <a:xfrm>
            <a:off x="3931920" y="3703320"/>
            <a:ext cx="2651760" cy="310896"/>
          </a:xfrm>
          <a:prstGeom prst="roundRect">
            <a:avLst>
              <a:gd name="adj" fmla="val 17647"/>
            </a:avLst>
          </a:prstGeom>
          <a:solidFill>
            <a:srgbClr val="7C3AED"/>
          </a:solidFill>
          <a:ln w="12700">
            <a:solidFill>
              <a:srgbClr val="7C3AED"/>
            </a:solidFill>
            <a:prstDash val="solid"/>
          </a:ln>
        </p:spPr>
        <p:txBody>
          <a:bodyPr wrap="square" lIns="101600" tIns="101600" rIns="101600" bIns="101600" rtlCol="0" anchor="ctr"/>
          <a:lstStyle/>
          <a:p>
            <a:pPr algn="r" indent="0" marL="0">
              <a:buNone/>
            </a:pPr>
            <a:r>
              <a:rPr lang="en-US" sz="1000" dirty="0">
                <a:solidFill>
                  <a:srgbClr val="FFFFFF"/>
                </a:solidFill>
                <a:latin typeface="Segoe UI" pitchFamily="34" charset="0"/>
                <a:ea typeface="Segoe UI" pitchFamily="34" charset="-122"/>
                <a:cs typeface="Segoe UI" pitchFamily="34" charset="-120"/>
              </a:rPr>
              <a:t>by train</a:t>
            </a:r>
            <a:endParaRPr lang="en-US" sz="1100" dirty="0"/>
          </a:p>
        </p:txBody>
      </p:sp>
      <p:sp>
        <p:nvSpPr>
          <p:cNvPr id="13" name="Text 11"/>
          <p:cNvSpPr/>
          <p:nvPr/>
        </p:nvSpPr>
        <p:spPr>
          <a:xfrm>
            <a:off x="914400" y="4059936"/>
            <a:ext cx="5212080" cy="512064"/>
          </a:xfrm>
          <a:prstGeom prst="roundRect">
            <a:avLst>
              <a:gd name="adj" fmla="val 10714"/>
            </a:avLst>
          </a:prstGeom>
          <a:solidFill>
            <a:srgbClr val="FFFFFF"/>
          </a:solidFill>
          <a:ln w="12700">
            <a:solidFill>
              <a:srgbClr val="D8DEE8"/>
            </a:solidFill>
            <a:prstDash val="solid"/>
          </a:ln>
        </p:spPr>
        <p:txBody>
          <a:bodyPr wrap="square" lIns="101600" tIns="101600" rIns="101600" bIns="101600" rtlCol="0" anchor="ctr"/>
          <a:lstStyle/>
          <a:p>
            <a:pPr algn="l" indent="0" marL="0">
              <a:buNone/>
            </a:pPr>
            <a:r>
              <a:rPr lang="en-US" sz="1000" dirty="0">
                <a:solidFill>
                  <a:srgbClr val="0F1729"/>
                </a:solidFill>
                <a:latin typeface="Segoe UI" pitchFamily="34" charset="0"/>
                <a:ea typeface="Segoe UI" pitchFamily="34" charset="-122"/>
                <a:cs typeface="Segoe UI" pitchFamily="34" charset="-120"/>
              </a:rPr>
              <a:t>How much tea? For example 20 tonnes, 1 wagon, 60 tonnes.</a:t>
            </a:r>
            <a:pPr algn="l" indent="0" marL="0">
              <a:buNone/>
            </a:pPr>
            <a:endParaRPr lang="en-US" sz="1100" dirty="0"/>
          </a:p>
          <a:p>
            <a:pPr algn="l" indent="0" marL="0">
              <a:buNone/>
            </a:pPr>
            <a:r>
              <a:rPr lang="en-US" sz="900" b="1" dirty="0">
                <a:solidFill>
                  <a:srgbClr val="2563EB"/>
                </a:solidFill>
                <a:latin typeface="Segoe UI" pitchFamily="34" charset="0"/>
                <a:ea typeface="Segoe UI" pitchFamily="34" charset="-122"/>
                <a:cs typeface="Segoe UI" pitchFamily="34" charset="-120"/>
              </a:rPr>
              <a:t>[ 20 tonnes ]  [ 1 wagon ]  [ 60 tonnes ]</a:t>
            </a:r>
            <a:endParaRPr lang="en-US" sz="1100" dirty="0"/>
          </a:p>
        </p:txBody>
      </p:sp>
      <p:sp>
        <p:nvSpPr>
          <p:cNvPr id="14" name="Text 12"/>
          <p:cNvSpPr/>
          <p:nvPr/>
        </p:nvSpPr>
        <p:spPr>
          <a:xfrm>
            <a:off x="3931920" y="4617720"/>
            <a:ext cx="2651760" cy="310896"/>
          </a:xfrm>
          <a:prstGeom prst="roundRect">
            <a:avLst>
              <a:gd name="adj" fmla="val 17647"/>
            </a:avLst>
          </a:prstGeom>
          <a:solidFill>
            <a:srgbClr val="7C3AED"/>
          </a:solidFill>
          <a:ln w="12700">
            <a:solidFill>
              <a:srgbClr val="7C3AED"/>
            </a:solidFill>
            <a:prstDash val="solid"/>
          </a:ln>
        </p:spPr>
        <p:txBody>
          <a:bodyPr wrap="square" lIns="101600" tIns="101600" rIns="101600" bIns="101600" rtlCol="0" anchor="ctr"/>
          <a:lstStyle/>
          <a:p>
            <a:pPr algn="r" indent="0" marL="0">
              <a:buNone/>
            </a:pPr>
            <a:r>
              <a:rPr lang="en-US" sz="1000" dirty="0">
                <a:solidFill>
                  <a:srgbClr val="FFFFFF"/>
                </a:solidFill>
                <a:latin typeface="Segoe UI" pitchFamily="34" charset="0"/>
                <a:ea typeface="Segoe UI" pitchFamily="34" charset="-122"/>
                <a:cs typeface="Segoe UI" pitchFamily="34" charset="-120"/>
              </a:rPr>
              <a:t>60 tonnes</a:t>
            </a:r>
            <a:endParaRPr lang="en-US" sz="1100" dirty="0"/>
          </a:p>
        </p:txBody>
      </p:sp>
      <p:sp>
        <p:nvSpPr>
          <p:cNvPr id="15" name="Text 13"/>
          <p:cNvSpPr/>
          <p:nvPr/>
        </p:nvSpPr>
        <p:spPr>
          <a:xfrm>
            <a:off x="914400" y="4974336"/>
            <a:ext cx="5212080" cy="310896"/>
          </a:xfrm>
          <a:prstGeom prst="roundRect">
            <a:avLst>
              <a:gd name="adj" fmla="val 17647"/>
            </a:avLst>
          </a:prstGeom>
          <a:solidFill>
            <a:srgbClr val="FFFFFF"/>
          </a:solidFill>
          <a:ln w="12700">
            <a:solidFill>
              <a:srgbClr val="D8DEE8"/>
            </a:solidFill>
            <a:prstDash val="solid"/>
          </a:ln>
        </p:spPr>
        <p:txBody>
          <a:bodyPr wrap="square" lIns="101600" tIns="101600" rIns="101600" bIns="101600" rtlCol="0" anchor="ctr"/>
          <a:lstStyle/>
          <a:p>
            <a:pPr algn="l" indent="0" marL="0">
              <a:buNone/>
            </a:pPr>
            <a:r>
              <a:rPr lang="en-US" sz="1000" dirty="0">
                <a:solidFill>
                  <a:srgbClr val="0F1729"/>
                </a:solidFill>
                <a:latin typeface="Segoe UI" pitchFamily="34" charset="0"/>
                <a:ea typeface="Segoe UI" pitchFamily="34" charset="-122"/>
                <a:cs typeface="Segoe UI" pitchFamily="34" charset="-120"/>
              </a:rPr>
              <a:t>From where to where? One end must be Uzbekistan, the other in the country list.</a:t>
            </a:r>
            <a:endParaRPr lang="en-US" sz="1100" dirty="0"/>
          </a:p>
        </p:txBody>
      </p:sp>
      <p:sp>
        <p:nvSpPr>
          <p:cNvPr id="16" name="Text 14"/>
          <p:cNvSpPr/>
          <p:nvPr/>
        </p:nvSpPr>
        <p:spPr>
          <a:xfrm>
            <a:off x="3931920" y="5330952"/>
            <a:ext cx="2651760" cy="310896"/>
          </a:xfrm>
          <a:prstGeom prst="roundRect">
            <a:avLst>
              <a:gd name="adj" fmla="val 17647"/>
            </a:avLst>
          </a:prstGeom>
          <a:solidFill>
            <a:srgbClr val="7C3AED"/>
          </a:solidFill>
          <a:ln w="12700">
            <a:solidFill>
              <a:srgbClr val="7C3AED"/>
            </a:solidFill>
            <a:prstDash val="solid"/>
          </a:ln>
        </p:spPr>
        <p:txBody>
          <a:bodyPr wrap="square" lIns="101600" tIns="101600" rIns="101600" bIns="101600" rtlCol="0" anchor="ctr"/>
          <a:lstStyle/>
          <a:p>
            <a:pPr algn="r" indent="0" marL="0">
              <a:buNone/>
            </a:pPr>
            <a:r>
              <a:rPr lang="en-US" sz="1000" dirty="0">
                <a:solidFill>
                  <a:srgbClr val="FFFFFF"/>
                </a:solidFill>
                <a:latin typeface="Segoe UI" pitchFamily="34" charset="0"/>
                <a:ea typeface="Segoe UI" pitchFamily="34" charset="-122"/>
                <a:cs typeface="Segoe UI" pitchFamily="34" charset="-120"/>
              </a:rPr>
              <a:t>Tashkent to Moscow</a:t>
            </a:r>
            <a:endParaRPr lang="en-US" sz="1100" dirty="0"/>
          </a:p>
        </p:txBody>
      </p:sp>
      <p:sp>
        <p:nvSpPr>
          <p:cNvPr id="17" name="Text 15"/>
          <p:cNvSpPr/>
          <p:nvPr/>
        </p:nvSpPr>
        <p:spPr>
          <a:xfrm>
            <a:off x="914400" y="5687568"/>
            <a:ext cx="5212080" cy="310896"/>
          </a:xfrm>
          <a:prstGeom prst="roundRect">
            <a:avLst>
              <a:gd name="adj" fmla="val 17647"/>
            </a:avLst>
          </a:prstGeom>
          <a:solidFill>
            <a:srgbClr val="FFFFFF"/>
          </a:solidFill>
          <a:ln w="12700">
            <a:solidFill>
              <a:srgbClr val="D8DEE8"/>
            </a:solidFill>
            <a:prstDash val="solid"/>
          </a:ln>
        </p:spPr>
        <p:txBody>
          <a:bodyPr wrap="square" lIns="101600" tIns="101600" rIns="101600" bIns="101600" rtlCol="0" anchor="ctr"/>
          <a:lstStyle/>
          <a:p>
            <a:pPr algn="l" indent="0" marL="0">
              <a:buNone/>
            </a:pPr>
            <a:r>
              <a:rPr lang="en-US" sz="1000" dirty="0">
                <a:solidFill>
                  <a:srgbClr val="0F1729"/>
                </a:solidFill>
                <a:latin typeface="Segoe UI" pitchFamily="34" charset="0"/>
                <a:ea typeface="Segoe UI" pitchFamily="34" charset="-122"/>
                <a:cs typeface="Segoe UI" pitchFamily="34" charset="-120"/>
              </a:rPr>
              <a:t>Ready: Export of tea by train (procedure 868), 48 steps. Create the case and its steps?</a:t>
            </a:r>
            <a:endParaRPr lang="en-US" sz="1100" dirty="0"/>
          </a:p>
        </p:txBody>
      </p:sp>
      <p:sp>
        <p:nvSpPr>
          <p:cNvPr id="18" name="Text 16"/>
          <p:cNvSpPr/>
          <p:nvPr/>
        </p:nvSpPr>
        <p:spPr>
          <a:xfrm>
            <a:off x="7040880" y="1554480"/>
            <a:ext cx="4572000" cy="2971800"/>
          </a:xfrm>
          <a:prstGeom prst="roundRect">
            <a:avLst>
              <a:gd name="adj" fmla="val 2462"/>
            </a:avLst>
          </a:prstGeom>
          <a:solidFill>
            <a:srgbClr val="FFFFFF"/>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9" name="Text 17"/>
          <p:cNvSpPr/>
          <p:nvPr/>
        </p:nvSpPr>
        <p:spPr>
          <a:xfrm>
            <a:off x="7205472" y="1664208"/>
            <a:ext cx="424281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CONFIRM CARD — NOTHING IS CREATED BEFORE THIS</a:t>
            </a:r>
            <a:endParaRPr lang="en-US" sz="950" dirty="0"/>
          </a:p>
        </p:txBody>
      </p:sp>
      <p:sp>
        <p:nvSpPr>
          <p:cNvPr id="20" name="Text 18"/>
          <p:cNvSpPr/>
          <p:nvPr/>
        </p:nvSpPr>
        <p:spPr>
          <a:xfrm>
            <a:off x="7269480" y="1938528"/>
            <a:ext cx="1325880" cy="310896"/>
          </a:xfrm>
          <a:prstGeom prst="rect">
            <a:avLst/>
          </a:prstGeom>
          <a:noFill/>
          <a:ln/>
        </p:spPr>
        <p:txBody>
          <a:bodyPr wrap="square" lIns="0" tIns="0" rIns="0" bIns="0" rtlCol="0" anchor="ctr"/>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What</a:t>
            </a:r>
            <a:endParaRPr lang="en-US" sz="1050" dirty="0"/>
          </a:p>
        </p:txBody>
      </p:sp>
      <p:sp>
        <p:nvSpPr>
          <p:cNvPr id="21" name="Text 19"/>
          <p:cNvSpPr/>
          <p:nvPr/>
        </p:nvSpPr>
        <p:spPr>
          <a:xfrm>
            <a:off x="8595360" y="1938528"/>
            <a:ext cx="2926080" cy="310896"/>
          </a:xfrm>
          <a:prstGeom prst="rect">
            <a:avLst/>
          </a:prstGeom>
          <a:noFill/>
          <a:ln/>
        </p:spPr>
        <p:txBody>
          <a:bodyPr wrap="square" lIns="0" tIns="0" rIns="0" bIns="0" rtlCol="0" anchor="ctr"/>
          <a:lstStyle/>
          <a:p>
            <a:pPr algn="l" indent="0" marL="0">
              <a:lnSpc>
                <a:spcPct val="105000"/>
              </a:lnSpc>
              <a:spcAft>
                <a:spcPts val="200"/>
              </a:spcAft>
              <a:buNone/>
            </a:pPr>
            <a:r>
              <a:rPr lang="en-US" sz="1050" b="1" dirty="0">
                <a:solidFill>
                  <a:srgbClr val="0F1729"/>
                </a:solidFill>
                <a:latin typeface="Segoe UI" pitchFamily="34" charset="0"/>
                <a:ea typeface="Segoe UI" pitchFamily="34" charset="-122"/>
                <a:cs typeface="Segoe UI" pitchFamily="34" charset="-120"/>
              </a:rPr>
              <a:t>✓ Tea (HS 0902)</a:t>
            </a:r>
            <a:endParaRPr lang="en-US" sz="1050" dirty="0"/>
          </a:p>
        </p:txBody>
      </p:sp>
      <p:sp>
        <p:nvSpPr>
          <p:cNvPr id="22" name="Text 20"/>
          <p:cNvSpPr/>
          <p:nvPr/>
        </p:nvSpPr>
        <p:spPr>
          <a:xfrm>
            <a:off x="7269480" y="2304288"/>
            <a:ext cx="1325880" cy="310896"/>
          </a:xfrm>
          <a:prstGeom prst="rect">
            <a:avLst/>
          </a:prstGeom>
          <a:noFill/>
          <a:ln/>
        </p:spPr>
        <p:txBody>
          <a:bodyPr wrap="square" lIns="0" tIns="0" rIns="0" bIns="0" rtlCol="0" anchor="ctr"/>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Export / Import</a:t>
            </a:r>
            <a:endParaRPr lang="en-US" sz="1050" dirty="0"/>
          </a:p>
        </p:txBody>
      </p:sp>
      <p:sp>
        <p:nvSpPr>
          <p:cNvPr id="23" name="Text 21"/>
          <p:cNvSpPr/>
          <p:nvPr/>
        </p:nvSpPr>
        <p:spPr>
          <a:xfrm>
            <a:off x="8595360" y="2304288"/>
            <a:ext cx="2926080" cy="310896"/>
          </a:xfrm>
          <a:prstGeom prst="rect">
            <a:avLst/>
          </a:prstGeom>
          <a:noFill/>
          <a:ln/>
        </p:spPr>
        <p:txBody>
          <a:bodyPr wrap="square" lIns="0" tIns="0" rIns="0" bIns="0" rtlCol="0" anchor="ctr"/>
          <a:lstStyle/>
          <a:p>
            <a:pPr algn="l" indent="0" marL="0">
              <a:lnSpc>
                <a:spcPct val="105000"/>
              </a:lnSpc>
              <a:spcAft>
                <a:spcPts val="200"/>
              </a:spcAft>
              <a:buNone/>
            </a:pPr>
            <a:r>
              <a:rPr lang="en-US" sz="1050" b="1" dirty="0">
                <a:solidFill>
                  <a:srgbClr val="0F1729"/>
                </a:solidFill>
                <a:latin typeface="Segoe UI" pitchFamily="34" charset="0"/>
                <a:ea typeface="Segoe UI" pitchFamily="34" charset="-122"/>
                <a:cs typeface="Segoe UI" pitchFamily="34" charset="-120"/>
              </a:rPr>
              <a:t>✓ Export</a:t>
            </a:r>
            <a:endParaRPr lang="en-US" sz="1050" dirty="0"/>
          </a:p>
        </p:txBody>
      </p:sp>
      <p:sp>
        <p:nvSpPr>
          <p:cNvPr id="24" name="Text 22"/>
          <p:cNvSpPr/>
          <p:nvPr/>
        </p:nvSpPr>
        <p:spPr>
          <a:xfrm>
            <a:off x="7269480" y="2670048"/>
            <a:ext cx="1325880" cy="310896"/>
          </a:xfrm>
          <a:prstGeom prst="rect">
            <a:avLst/>
          </a:prstGeom>
          <a:noFill/>
          <a:ln/>
        </p:spPr>
        <p:txBody>
          <a:bodyPr wrap="square" lIns="0" tIns="0" rIns="0" bIns="0" rtlCol="0" anchor="ctr"/>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How</a:t>
            </a:r>
            <a:endParaRPr lang="en-US" sz="1050" dirty="0"/>
          </a:p>
        </p:txBody>
      </p:sp>
      <p:sp>
        <p:nvSpPr>
          <p:cNvPr id="25" name="Text 23"/>
          <p:cNvSpPr/>
          <p:nvPr/>
        </p:nvSpPr>
        <p:spPr>
          <a:xfrm>
            <a:off x="8595360" y="2670048"/>
            <a:ext cx="2926080" cy="310896"/>
          </a:xfrm>
          <a:prstGeom prst="rect">
            <a:avLst/>
          </a:prstGeom>
          <a:noFill/>
          <a:ln/>
        </p:spPr>
        <p:txBody>
          <a:bodyPr wrap="square" lIns="0" tIns="0" rIns="0" bIns="0" rtlCol="0" anchor="ctr"/>
          <a:lstStyle/>
          <a:p>
            <a:pPr algn="l" indent="0" marL="0">
              <a:lnSpc>
                <a:spcPct val="105000"/>
              </a:lnSpc>
              <a:spcAft>
                <a:spcPts val="200"/>
              </a:spcAft>
              <a:buNone/>
            </a:pPr>
            <a:r>
              <a:rPr lang="en-US" sz="1050" b="1" dirty="0">
                <a:solidFill>
                  <a:srgbClr val="0F1729"/>
                </a:solidFill>
                <a:latin typeface="Segoe UI" pitchFamily="34" charset="0"/>
                <a:ea typeface="Segoe UI" pitchFamily="34" charset="-122"/>
                <a:cs typeface="Segoe UI" pitchFamily="34" charset="-120"/>
              </a:rPr>
              <a:t>✓ By train</a:t>
            </a:r>
            <a:endParaRPr lang="en-US" sz="1050" dirty="0"/>
          </a:p>
        </p:txBody>
      </p:sp>
      <p:sp>
        <p:nvSpPr>
          <p:cNvPr id="26" name="Text 24"/>
          <p:cNvSpPr/>
          <p:nvPr/>
        </p:nvSpPr>
        <p:spPr>
          <a:xfrm>
            <a:off x="7269480" y="3035808"/>
            <a:ext cx="1325880" cy="310896"/>
          </a:xfrm>
          <a:prstGeom prst="rect">
            <a:avLst/>
          </a:prstGeom>
          <a:noFill/>
          <a:ln/>
        </p:spPr>
        <p:txBody>
          <a:bodyPr wrap="square" lIns="0" tIns="0" rIns="0" bIns="0" rtlCol="0" anchor="ctr"/>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How much</a:t>
            </a:r>
            <a:endParaRPr lang="en-US" sz="1050" dirty="0"/>
          </a:p>
        </p:txBody>
      </p:sp>
      <p:sp>
        <p:nvSpPr>
          <p:cNvPr id="27" name="Text 25"/>
          <p:cNvSpPr/>
          <p:nvPr/>
        </p:nvSpPr>
        <p:spPr>
          <a:xfrm>
            <a:off x="8595360" y="3035808"/>
            <a:ext cx="2926080" cy="310896"/>
          </a:xfrm>
          <a:prstGeom prst="rect">
            <a:avLst/>
          </a:prstGeom>
          <a:noFill/>
          <a:ln/>
        </p:spPr>
        <p:txBody>
          <a:bodyPr wrap="square" lIns="0" tIns="0" rIns="0" bIns="0" rtlCol="0" anchor="ctr"/>
          <a:lstStyle/>
          <a:p>
            <a:pPr algn="l" indent="0" marL="0">
              <a:lnSpc>
                <a:spcPct val="105000"/>
              </a:lnSpc>
              <a:spcAft>
                <a:spcPts val="200"/>
              </a:spcAft>
              <a:buNone/>
            </a:pPr>
            <a:r>
              <a:rPr lang="en-US" sz="1050" b="1" dirty="0">
                <a:solidFill>
                  <a:srgbClr val="0F1729"/>
                </a:solidFill>
                <a:latin typeface="Segoe UI" pitchFamily="34" charset="0"/>
                <a:ea typeface="Segoe UI" pitchFamily="34" charset="-122"/>
                <a:cs typeface="Segoe UI" pitchFamily="34" charset="-120"/>
              </a:rPr>
              <a:t>✓ 60 t ≈ 2 covered wagons</a:t>
            </a:r>
            <a:endParaRPr lang="en-US" sz="1050" dirty="0"/>
          </a:p>
        </p:txBody>
      </p:sp>
      <p:sp>
        <p:nvSpPr>
          <p:cNvPr id="28" name="Text 26"/>
          <p:cNvSpPr/>
          <p:nvPr/>
        </p:nvSpPr>
        <p:spPr>
          <a:xfrm>
            <a:off x="7269480" y="3401568"/>
            <a:ext cx="1325880" cy="310896"/>
          </a:xfrm>
          <a:prstGeom prst="rect">
            <a:avLst/>
          </a:prstGeom>
          <a:noFill/>
          <a:ln/>
        </p:spPr>
        <p:txBody>
          <a:bodyPr wrap="square" lIns="0" tIns="0" rIns="0" bIns="0" rtlCol="0" anchor="ctr"/>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From → To</a:t>
            </a:r>
            <a:endParaRPr lang="en-US" sz="1050" dirty="0"/>
          </a:p>
        </p:txBody>
      </p:sp>
      <p:sp>
        <p:nvSpPr>
          <p:cNvPr id="29" name="Text 27"/>
          <p:cNvSpPr/>
          <p:nvPr/>
        </p:nvSpPr>
        <p:spPr>
          <a:xfrm>
            <a:off x="8595360" y="3401568"/>
            <a:ext cx="2926080" cy="310896"/>
          </a:xfrm>
          <a:prstGeom prst="rect">
            <a:avLst/>
          </a:prstGeom>
          <a:noFill/>
          <a:ln/>
        </p:spPr>
        <p:txBody>
          <a:bodyPr wrap="square" lIns="0" tIns="0" rIns="0" bIns="0" rtlCol="0" anchor="ctr"/>
          <a:lstStyle/>
          <a:p>
            <a:pPr algn="l" indent="0" marL="0">
              <a:lnSpc>
                <a:spcPct val="105000"/>
              </a:lnSpc>
              <a:spcAft>
                <a:spcPts val="200"/>
              </a:spcAft>
              <a:buNone/>
            </a:pPr>
            <a:r>
              <a:rPr lang="en-US" sz="1050" b="1" dirty="0">
                <a:solidFill>
                  <a:srgbClr val="0F1729"/>
                </a:solidFill>
                <a:latin typeface="Segoe UI" pitchFamily="34" charset="0"/>
                <a:ea typeface="Segoe UI" pitchFamily="34" charset="-122"/>
                <a:cs typeface="Segoe UI" pitchFamily="34" charset="-120"/>
              </a:rPr>
              <a:t>✓ Tashkent, Uzbekistan → Moscow, Russia</a:t>
            </a:r>
            <a:endParaRPr lang="en-US" sz="1050" dirty="0"/>
          </a:p>
        </p:txBody>
      </p:sp>
      <p:sp>
        <p:nvSpPr>
          <p:cNvPr id="30" name="Text 28"/>
          <p:cNvSpPr/>
          <p:nvPr/>
        </p:nvSpPr>
        <p:spPr>
          <a:xfrm>
            <a:off x="7269480" y="3840480"/>
            <a:ext cx="4114800" cy="502920"/>
          </a:xfrm>
          <a:prstGeom prst="roundRect">
            <a:avLst>
              <a:gd name="adj" fmla="val 10909"/>
            </a:avLst>
          </a:prstGeom>
          <a:solidFill>
            <a:srgbClr val="2563EB"/>
          </a:solidFill>
          <a:ln w="12700">
            <a:solidFill>
              <a:srgbClr val="2563EB"/>
            </a:solidFill>
            <a:prstDash val="solid"/>
          </a:ln>
        </p:spPr>
        <p:txBody>
          <a:bodyPr wrap="square" lIns="76200" tIns="76200" rIns="76200" bIns="7620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Procedure 868 · 48 steps · 10 blocks  →  Create case &amp; steps</a:t>
            </a:r>
            <a:endParaRPr lang="en-US" sz="1100" dirty="0"/>
          </a:p>
        </p:txBody>
      </p:sp>
      <p:sp>
        <p:nvSpPr>
          <p:cNvPr id="31" name="Text 29"/>
          <p:cNvSpPr/>
          <p:nvPr/>
        </p:nvSpPr>
        <p:spPr>
          <a:xfrm>
            <a:off x="7040880" y="4663440"/>
            <a:ext cx="4572000" cy="1645920"/>
          </a:xfrm>
          <a:prstGeom prst="roundRect">
            <a:avLst>
              <a:gd name="adj" fmla="val 4444"/>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32" name="Text 30"/>
          <p:cNvSpPr/>
          <p:nvPr/>
        </p:nvSpPr>
        <p:spPr>
          <a:xfrm>
            <a:off x="7205472" y="4773168"/>
            <a:ext cx="424281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AROUND THE CHAT</a:t>
            </a:r>
            <a:endParaRPr lang="en-US" sz="950" dirty="0"/>
          </a:p>
        </p:txBody>
      </p:sp>
      <p:sp>
        <p:nvSpPr>
          <p:cNvPr id="33" name="Text 31"/>
          <p:cNvSpPr/>
          <p:nvPr/>
        </p:nvSpPr>
        <p:spPr>
          <a:xfrm>
            <a:off x="7269480" y="4983480"/>
            <a:ext cx="4206240" cy="128016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050" dirty="0">
                <a:solidFill>
                  <a:srgbClr val="334155"/>
                </a:solidFill>
                <a:latin typeface="Segoe UI" pitchFamily="34" charset="0"/>
                <a:ea typeface="Segoe UI" pitchFamily="34" charset="-122"/>
                <a:cs typeface="Segoe UI" pitchFamily="34" charset="-120"/>
              </a:rPr>
              <a:t>Off-topic question → FAQ page with the closest answers</a:t>
            </a:r>
            <a:endParaRPr lang="en-US" sz="1050" dirty="0"/>
          </a:p>
          <a:p>
            <a:pPr marL="177800" indent="-177800">
              <a:lnSpc>
                <a:spcPct val="105000"/>
              </a:lnSpc>
              <a:spcAft>
                <a:spcPts val="300"/>
              </a:spcAft>
              <a:buSzPct val="100000"/>
              <a:buChar char="•"/>
            </a:pPr>
            <a:r>
              <a:rPr lang="en-US" sz="1050" dirty="0">
                <a:solidFill>
                  <a:srgbClr val="334155"/>
                </a:solidFill>
                <a:latin typeface="Segoe UI" pitchFamily="34" charset="0"/>
                <a:ea typeface="Segoe UI" pitchFamily="34" charset="-122"/>
                <a:cs typeface="Segoe UI" pitchFamily="34" charset="-120"/>
              </a:rPr>
              <a:t>“+” starts another case &amp; shipment</a:t>
            </a:r>
            <a:endParaRPr lang="en-US" sz="1050" dirty="0"/>
          </a:p>
          <a:p>
            <a:pPr marL="177800" indent="-177800">
              <a:lnSpc>
                <a:spcPct val="105000"/>
              </a:lnSpc>
              <a:spcAft>
                <a:spcPts val="300"/>
              </a:spcAft>
              <a:buSzPct val="100000"/>
              <a:buChar char="•"/>
            </a:pPr>
            <a:r>
              <a:rPr lang="en-US" sz="1050" dirty="0">
                <a:solidFill>
                  <a:srgbClr val="334155"/>
                </a:solidFill>
                <a:latin typeface="Segoe UI" pitchFamily="34" charset="0"/>
                <a:ea typeface="Segoe UI" pitchFamily="34" charset="-122"/>
                <a:cs typeface="Segoe UI" pitchFamily="34" charset="-120"/>
              </a:rPr>
              <a:t>Below the chat: the current step of the case checked last</a:t>
            </a:r>
            <a:endParaRPr lang="en-US" sz="1050" dirty="0"/>
          </a:p>
          <a:p>
            <a:pPr marL="177800" indent="-177800">
              <a:lnSpc>
                <a:spcPct val="105000"/>
              </a:lnSpc>
              <a:spcAft>
                <a:spcPts val="300"/>
              </a:spcAft>
              <a:buSzPct val="100000"/>
              <a:buChar char="•"/>
            </a:pPr>
            <a:r>
              <a:rPr lang="en-US" sz="1050" dirty="0">
                <a:solidFill>
                  <a:srgbClr val="334155"/>
                </a:solidFill>
                <a:latin typeface="Segoe UI" pitchFamily="34" charset="0"/>
                <a:ea typeface="Segoe UI" pitchFamily="34" charset="-122"/>
                <a:cs typeface="Segoe UI" pitchFamily="34" charset="-120"/>
              </a:rPr>
              <a:t>Notes come from the country list: Russia · EAEU · CT-1 · via Kazakhstan</a:t>
            </a:r>
            <a:endParaRPr lang="en-US" sz="105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03 · INTAKE AGENT</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Deterministic checks against what is published — then one confirm</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Each stage either fills a detail, asks for it, or refuses an option no procedure supports</a:t>
            </a:r>
            <a:endParaRPr lang="en-US" sz="1200" dirty="0"/>
          </a:p>
        </p:txBody>
      </p:sp>
      <p:sp>
        <p:nvSpPr>
          <p:cNvPr id="6" name="Text 4"/>
          <p:cNvSpPr/>
          <p:nvPr/>
        </p:nvSpPr>
        <p:spPr>
          <a:xfrm>
            <a:off x="731520" y="1691640"/>
            <a:ext cx="1700784" cy="2103120"/>
          </a:xfrm>
          <a:prstGeom prst="roundRect">
            <a:avLst>
              <a:gd name="adj" fmla="val 3226"/>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7" name="Text 5"/>
          <p:cNvSpPr/>
          <p:nvPr/>
        </p:nvSpPr>
        <p:spPr>
          <a:xfrm>
            <a:off x="868680" y="1828800"/>
            <a:ext cx="384048" cy="384048"/>
          </a:xfrm>
          <a:prstGeom prst="roundRect">
            <a:avLst>
              <a:gd name="adj" fmla="val 50000"/>
            </a:avLst>
          </a:prstGeom>
          <a:solidFill>
            <a:srgbClr val="2563EB"/>
          </a:solidFill>
          <a:ln w="12700">
            <a:solidFill>
              <a:srgbClr val="2563EB"/>
            </a:solidFill>
            <a:prstDash val="solid"/>
          </a:ln>
        </p:spPr>
        <p:txBody>
          <a:bodyPr wrap="square" lIns="76200" tIns="76200" rIns="76200" bIns="7620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8" name="Text 6"/>
          <p:cNvSpPr/>
          <p:nvPr/>
        </p:nvSpPr>
        <p:spPr>
          <a:xfrm>
            <a:off x="868680" y="2313432"/>
            <a:ext cx="1426464" cy="320040"/>
          </a:xfrm>
          <a:prstGeom prst="rect">
            <a:avLst/>
          </a:prstGeom>
          <a:noFill/>
          <a:ln/>
        </p:spPr>
        <p:txBody>
          <a:bodyPr wrap="square" lIns="0" tIns="0" rIns="0" bIns="0" rtlCol="0" anchor="t"/>
          <a:lstStyle/>
          <a:p>
            <a:pPr algn="l" indent="0" marL="0">
              <a:lnSpc>
                <a:spcPct val="105000"/>
              </a:lnSpc>
              <a:spcAft>
                <a:spcPts val="200"/>
              </a:spcAft>
              <a:buNone/>
            </a:pPr>
            <a:r>
              <a:rPr lang="en-US" sz="1300" dirty="0">
                <a:solidFill>
                  <a:srgbClr val="0B1F4D"/>
                </a:solidFill>
                <a:latin typeface="Segoe UI Semibold" pitchFamily="34" charset="0"/>
                <a:ea typeface="Segoe UI Semibold" pitchFamily="34" charset="-122"/>
                <a:cs typeface="Segoe UI Semibold" pitchFamily="34" charset="-120"/>
              </a:rPr>
              <a:t>Relevance</a:t>
            </a:r>
            <a:endParaRPr lang="en-US" sz="1300" dirty="0"/>
          </a:p>
        </p:txBody>
      </p:sp>
      <p:sp>
        <p:nvSpPr>
          <p:cNvPr id="9" name="Text 7"/>
          <p:cNvSpPr/>
          <p:nvPr/>
        </p:nvSpPr>
        <p:spPr>
          <a:xfrm>
            <a:off x="868680" y="2651760"/>
            <a:ext cx="1426464" cy="640080"/>
          </a:xfrm>
          <a:prstGeom prst="rect">
            <a:avLst/>
          </a:prstGeom>
          <a:noFill/>
          <a:ln/>
        </p:spPr>
        <p:txBody>
          <a:bodyPr wrap="square" lIns="0" tIns="0" rIns="0" bIns="0" rtlCol="0" anchor="t"/>
          <a:lstStyle/>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Is it a shipment?</a:t>
            </a:r>
            <a:endParaRPr lang="en-US" sz="1000" dirty="0"/>
          </a:p>
        </p:txBody>
      </p:sp>
      <p:sp>
        <p:nvSpPr>
          <p:cNvPr id="10" name="Text 8"/>
          <p:cNvSpPr/>
          <p:nvPr/>
        </p:nvSpPr>
        <p:spPr>
          <a:xfrm>
            <a:off x="841248" y="3264408"/>
            <a:ext cx="1481328" cy="411480"/>
          </a:xfrm>
          <a:prstGeom prst="roundRect">
            <a:avLst>
              <a:gd name="adj" fmla="val 13333"/>
            </a:avLst>
          </a:prstGeom>
          <a:solidFill>
            <a:srgbClr val="E7F6EF"/>
          </a:solidFill>
          <a:ln w="12700">
            <a:solidFill>
              <a:srgbClr val="E7F6EF"/>
            </a:solidFill>
            <a:prstDash val="solid"/>
          </a:ln>
        </p:spPr>
        <p:txBody>
          <a:bodyPr wrap="square" lIns="76200" tIns="76200" rIns="76200" bIns="76200" rtlCol="0" anchor="ctr"/>
          <a:lstStyle/>
          <a:p>
            <a:pPr algn="ctr" indent="0" marL="0">
              <a:buNone/>
            </a:pPr>
            <a:r>
              <a:rPr lang="en-US" sz="950" b="1" dirty="0">
                <a:solidFill>
                  <a:srgbClr val="047857"/>
                </a:solidFill>
                <a:latin typeface="Segoe UI" pitchFamily="34" charset="0"/>
                <a:ea typeface="Segoe UI" pitchFamily="34" charset="-122"/>
                <a:cs typeface="Segoe UI" pitchFamily="34" charset="-120"/>
              </a:rPr>
              <a:t>No → FAQ page</a:t>
            </a:r>
            <a:endParaRPr lang="en-US" sz="950" dirty="0"/>
          </a:p>
        </p:txBody>
      </p:sp>
      <p:sp>
        <p:nvSpPr>
          <p:cNvPr id="11" name="Shape 9"/>
          <p:cNvSpPr/>
          <p:nvPr/>
        </p:nvSpPr>
        <p:spPr>
          <a:xfrm>
            <a:off x="2432304" y="2743200"/>
            <a:ext cx="137160" cy="914"/>
          </a:xfrm>
          <a:prstGeom prst="line">
            <a:avLst/>
          </a:prstGeom>
          <a:noFill/>
          <a:ln w="19050">
            <a:solidFill>
              <a:srgbClr val="2563EB"/>
            </a:solidFill>
            <a:prstDash val="solid"/>
            <a:tailEnd type="triangle"/>
          </a:ln>
        </p:spPr>
      </p:sp>
      <p:sp>
        <p:nvSpPr>
          <p:cNvPr id="12" name="Text 10"/>
          <p:cNvSpPr/>
          <p:nvPr/>
        </p:nvSpPr>
        <p:spPr>
          <a:xfrm>
            <a:off x="2569464" y="1691640"/>
            <a:ext cx="1700784" cy="2103120"/>
          </a:xfrm>
          <a:prstGeom prst="roundRect">
            <a:avLst>
              <a:gd name="adj" fmla="val 3226"/>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3" name="Text 11"/>
          <p:cNvSpPr/>
          <p:nvPr/>
        </p:nvSpPr>
        <p:spPr>
          <a:xfrm>
            <a:off x="2706624" y="1828800"/>
            <a:ext cx="384048" cy="384048"/>
          </a:xfrm>
          <a:prstGeom prst="roundRect">
            <a:avLst>
              <a:gd name="adj" fmla="val 50000"/>
            </a:avLst>
          </a:prstGeom>
          <a:solidFill>
            <a:srgbClr val="2563EB"/>
          </a:solidFill>
          <a:ln w="12700">
            <a:solidFill>
              <a:srgbClr val="2563EB"/>
            </a:solidFill>
            <a:prstDash val="solid"/>
          </a:ln>
        </p:spPr>
        <p:txBody>
          <a:bodyPr wrap="square" lIns="76200" tIns="76200" rIns="76200" bIns="7620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4" name="Text 12"/>
          <p:cNvSpPr/>
          <p:nvPr/>
        </p:nvSpPr>
        <p:spPr>
          <a:xfrm>
            <a:off x="2706624" y="2313432"/>
            <a:ext cx="1426464" cy="320040"/>
          </a:xfrm>
          <a:prstGeom prst="rect">
            <a:avLst/>
          </a:prstGeom>
          <a:noFill/>
          <a:ln/>
        </p:spPr>
        <p:txBody>
          <a:bodyPr wrap="square" lIns="0" tIns="0" rIns="0" bIns="0" rtlCol="0" anchor="t"/>
          <a:lstStyle/>
          <a:p>
            <a:pPr algn="l" indent="0" marL="0">
              <a:lnSpc>
                <a:spcPct val="105000"/>
              </a:lnSpc>
              <a:spcAft>
                <a:spcPts val="200"/>
              </a:spcAft>
              <a:buNone/>
            </a:pPr>
            <a:r>
              <a:rPr lang="en-US" sz="1300" dirty="0">
                <a:solidFill>
                  <a:srgbClr val="0B1F4D"/>
                </a:solidFill>
                <a:latin typeface="Segoe UI Semibold" pitchFamily="34" charset="0"/>
                <a:ea typeface="Segoe UI Semibold" pitchFamily="34" charset="-122"/>
                <a:cs typeface="Segoe UI Semibold" pitchFamily="34" charset="-120"/>
              </a:rPr>
              <a:t>Commodity</a:t>
            </a:r>
            <a:endParaRPr lang="en-US" sz="1300" dirty="0"/>
          </a:p>
        </p:txBody>
      </p:sp>
      <p:sp>
        <p:nvSpPr>
          <p:cNvPr id="15" name="Text 13"/>
          <p:cNvSpPr/>
          <p:nvPr/>
        </p:nvSpPr>
        <p:spPr>
          <a:xfrm>
            <a:off x="2706624" y="2651760"/>
            <a:ext cx="1426464" cy="640080"/>
          </a:xfrm>
          <a:prstGeom prst="rect">
            <a:avLst/>
          </a:prstGeom>
          <a:noFill/>
          <a:ln/>
        </p:spPr>
        <p:txBody>
          <a:bodyPr wrap="square" lIns="0" tIns="0" rIns="0" bIns="0" rtlCol="0" anchor="t"/>
          <a:lstStyle/>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“tea” → category tea</a:t>
            </a:r>
            <a:endParaRPr lang="en-US" sz="1000" dirty="0"/>
          </a:p>
        </p:txBody>
      </p:sp>
      <p:sp>
        <p:nvSpPr>
          <p:cNvPr id="16" name="Text 14"/>
          <p:cNvSpPr/>
          <p:nvPr/>
        </p:nvSpPr>
        <p:spPr>
          <a:xfrm>
            <a:off x="2679192" y="3264408"/>
            <a:ext cx="1481328" cy="411480"/>
          </a:xfrm>
          <a:prstGeom prst="roundRect">
            <a:avLst>
              <a:gd name="adj" fmla="val 13333"/>
            </a:avLst>
          </a:prstGeom>
          <a:solidFill>
            <a:srgbClr val="E7F6EF"/>
          </a:solidFill>
          <a:ln w="12700">
            <a:solidFill>
              <a:srgbClr val="E7F6EF"/>
            </a:solidFill>
            <a:prstDash val="solid"/>
          </a:ln>
        </p:spPr>
        <p:txBody>
          <a:bodyPr wrap="square" lIns="76200" tIns="76200" rIns="76200" bIns="76200" rtlCol="0" anchor="ctr"/>
          <a:lstStyle/>
          <a:p>
            <a:pPr algn="ctr" indent="0" marL="0">
              <a:buNone/>
            </a:pPr>
            <a:r>
              <a:rPr lang="en-US" sz="950" b="1" dirty="0">
                <a:solidFill>
                  <a:srgbClr val="047857"/>
                </a:solidFill>
                <a:latin typeface="Segoe UI" pitchFamily="34" charset="0"/>
                <a:ea typeface="Segoe UI" pitchFamily="34" charset="-122"/>
                <a:cs typeface="Segoe UI" pitchFamily="34" charset="-120"/>
              </a:rPr>
              <a:t>HS 0902</a:t>
            </a:r>
            <a:endParaRPr lang="en-US" sz="950" dirty="0"/>
          </a:p>
        </p:txBody>
      </p:sp>
      <p:sp>
        <p:nvSpPr>
          <p:cNvPr id="17" name="Shape 15"/>
          <p:cNvSpPr/>
          <p:nvPr/>
        </p:nvSpPr>
        <p:spPr>
          <a:xfrm>
            <a:off x="4270248" y="2743200"/>
            <a:ext cx="137160" cy="914"/>
          </a:xfrm>
          <a:prstGeom prst="line">
            <a:avLst/>
          </a:prstGeom>
          <a:noFill/>
          <a:ln w="19050">
            <a:solidFill>
              <a:srgbClr val="2563EB"/>
            </a:solidFill>
            <a:prstDash val="solid"/>
            <a:tailEnd type="triangle"/>
          </a:ln>
        </p:spPr>
      </p:sp>
      <p:sp>
        <p:nvSpPr>
          <p:cNvPr id="18" name="Text 16"/>
          <p:cNvSpPr/>
          <p:nvPr/>
        </p:nvSpPr>
        <p:spPr>
          <a:xfrm>
            <a:off x="4407408" y="1691640"/>
            <a:ext cx="1700784" cy="2103120"/>
          </a:xfrm>
          <a:prstGeom prst="roundRect">
            <a:avLst>
              <a:gd name="adj" fmla="val 3226"/>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9" name="Text 17"/>
          <p:cNvSpPr/>
          <p:nvPr/>
        </p:nvSpPr>
        <p:spPr>
          <a:xfrm>
            <a:off x="4544568" y="1828800"/>
            <a:ext cx="384048" cy="384048"/>
          </a:xfrm>
          <a:prstGeom prst="roundRect">
            <a:avLst>
              <a:gd name="adj" fmla="val 50000"/>
            </a:avLst>
          </a:prstGeom>
          <a:solidFill>
            <a:srgbClr val="2563EB"/>
          </a:solidFill>
          <a:ln w="12700">
            <a:solidFill>
              <a:srgbClr val="2563EB"/>
            </a:solidFill>
            <a:prstDash val="solid"/>
          </a:ln>
        </p:spPr>
        <p:txBody>
          <a:bodyPr wrap="square" lIns="76200" tIns="76200" rIns="76200" bIns="7620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0" name="Text 18"/>
          <p:cNvSpPr/>
          <p:nvPr/>
        </p:nvSpPr>
        <p:spPr>
          <a:xfrm>
            <a:off x="4544568" y="2313432"/>
            <a:ext cx="1426464" cy="320040"/>
          </a:xfrm>
          <a:prstGeom prst="rect">
            <a:avLst/>
          </a:prstGeom>
          <a:noFill/>
          <a:ln/>
        </p:spPr>
        <p:txBody>
          <a:bodyPr wrap="square" lIns="0" tIns="0" rIns="0" bIns="0" rtlCol="0" anchor="t"/>
          <a:lstStyle/>
          <a:p>
            <a:pPr algn="l" indent="0" marL="0">
              <a:lnSpc>
                <a:spcPct val="105000"/>
              </a:lnSpc>
              <a:spcAft>
                <a:spcPts val="200"/>
              </a:spcAft>
              <a:buNone/>
            </a:pPr>
            <a:r>
              <a:rPr lang="en-US" sz="1300" dirty="0">
                <a:solidFill>
                  <a:srgbClr val="0B1F4D"/>
                </a:solidFill>
                <a:latin typeface="Segoe UI Semibold" pitchFamily="34" charset="0"/>
                <a:ea typeface="Segoe UI Semibold" pitchFamily="34" charset="-122"/>
                <a:cs typeface="Segoe UI Semibold" pitchFamily="34" charset="-120"/>
              </a:rPr>
              <a:t>Direction</a:t>
            </a:r>
            <a:endParaRPr lang="en-US" sz="1300" dirty="0"/>
          </a:p>
        </p:txBody>
      </p:sp>
      <p:sp>
        <p:nvSpPr>
          <p:cNvPr id="21" name="Text 19"/>
          <p:cNvSpPr/>
          <p:nvPr/>
        </p:nvSpPr>
        <p:spPr>
          <a:xfrm>
            <a:off x="4544568" y="2651760"/>
            <a:ext cx="1426464" cy="640080"/>
          </a:xfrm>
          <a:prstGeom prst="rect">
            <a:avLst/>
          </a:prstGeom>
          <a:noFill/>
          <a:ln/>
        </p:spPr>
        <p:txBody>
          <a:bodyPr wrap="square" lIns="0" tIns="0" rIns="0" bIns="0" rtlCol="0" anchor="t"/>
          <a:lstStyle/>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Published for tea: export, import</a:t>
            </a:r>
            <a:endParaRPr lang="en-US" sz="1000" dirty="0"/>
          </a:p>
        </p:txBody>
      </p:sp>
      <p:sp>
        <p:nvSpPr>
          <p:cNvPr id="22" name="Text 20"/>
          <p:cNvSpPr/>
          <p:nvPr/>
        </p:nvSpPr>
        <p:spPr>
          <a:xfrm>
            <a:off x="4517136" y="3264408"/>
            <a:ext cx="1481328" cy="411480"/>
          </a:xfrm>
          <a:prstGeom prst="roundRect">
            <a:avLst>
              <a:gd name="adj" fmla="val 13333"/>
            </a:avLst>
          </a:prstGeom>
          <a:solidFill>
            <a:srgbClr val="E7F6EF"/>
          </a:solidFill>
          <a:ln w="12700">
            <a:solidFill>
              <a:srgbClr val="E7F6EF"/>
            </a:solidFill>
            <a:prstDash val="solid"/>
          </a:ln>
        </p:spPr>
        <p:txBody>
          <a:bodyPr wrap="square" lIns="76200" tIns="76200" rIns="76200" bIns="76200" rtlCol="0" anchor="ctr"/>
          <a:lstStyle/>
          <a:p>
            <a:pPr algn="ctr" indent="0" marL="0">
              <a:buNone/>
            </a:pPr>
            <a:r>
              <a:rPr lang="en-US" sz="950" b="1" dirty="0">
                <a:solidFill>
                  <a:srgbClr val="047857"/>
                </a:solidFill>
                <a:latin typeface="Segoe UI" pitchFamily="34" charset="0"/>
                <a:ea typeface="Segoe UI" pitchFamily="34" charset="-122"/>
                <a:cs typeface="Segoe UI" pitchFamily="34" charset="-120"/>
              </a:rPr>
              <a:t>Asked → Export</a:t>
            </a:r>
            <a:endParaRPr lang="en-US" sz="950" dirty="0"/>
          </a:p>
        </p:txBody>
      </p:sp>
      <p:sp>
        <p:nvSpPr>
          <p:cNvPr id="23" name="Shape 21"/>
          <p:cNvSpPr/>
          <p:nvPr/>
        </p:nvSpPr>
        <p:spPr>
          <a:xfrm>
            <a:off x="6108192" y="2743200"/>
            <a:ext cx="137160" cy="914"/>
          </a:xfrm>
          <a:prstGeom prst="line">
            <a:avLst/>
          </a:prstGeom>
          <a:noFill/>
          <a:ln w="19050">
            <a:solidFill>
              <a:srgbClr val="2563EB"/>
            </a:solidFill>
            <a:prstDash val="solid"/>
            <a:tailEnd type="triangle"/>
          </a:ln>
        </p:spPr>
      </p:sp>
      <p:sp>
        <p:nvSpPr>
          <p:cNvPr id="24" name="Text 22"/>
          <p:cNvSpPr/>
          <p:nvPr/>
        </p:nvSpPr>
        <p:spPr>
          <a:xfrm>
            <a:off x="6245352" y="1691640"/>
            <a:ext cx="1700784" cy="2103120"/>
          </a:xfrm>
          <a:prstGeom prst="roundRect">
            <a:avLst>
              <a:gd name="adj" fmla="val 3226"/>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25" name="Text 23"/>
          <p:cNvSpPr/>
          <p:nvPr/>
        </p:nvSpPr>
        <p:spPr>
          <a:xfrm>
            <a:off x="6382512" y="1828800"/>
            <a:ext cx="384048" cy="384048"/>
          </a:xfrm>
          <a:prstGeom prst="roundRect">
            <a:avLst>
              <a:gd name="adj" fmla="val 50000"/>
            </a:avLst>
          </a:prstGeom>
          <a:solidFill>
            <a:srgbClr val="2563EB"/>
          </a:solidFill>
          <a:ln w="12700">
            <a:solidFill>
              <a:srgbClr val="2563EB"/>
            </a:solidFill>
            <a:prstDash val="solid"/>
          </a:ln>
        </p:spPr>
        <p:txBody>
          <a:bodyPr wrap="square" lIns="76200" tIns="76200" rIns="76200" bIns="7620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4</a:t>
            </a:r>
            <a:endParaRPr lang="en-US" sz="1200" dirty="0"/>
          </a:p>
        </p:txBody>
      </p:sp>
      <p:sp>
        <p:nvSpPr>
          <p:cNvPr id="26" name="Text 24"/>
          <p:cNvSpPr/>
          <p:nvPr/>
        </p:nvSpPr>
        <p:spPr>
          <a:xfrm>
            <a:off x="6382512" y="2313432"/>
            <a:ext cx="1426464" cy="320040"/>
          </a:xfrm>
          <a:prstGeom prst="rect">
            <a:avLst/>
          </a:prstGeom>
          <a:noFill/>
          <a:ln/>
        </p:spPr>
        <p:txBody>
          <a:bodyPr wrap="square" lIns="0" tIns="0" rIns="0" bIns="0" rtlCol="0" anchor="t"/>
          <a:lstStyle/>
          <a:p>
            <a:pPr algn="l" indent="0" marL="0">
              <a:lnSpc>
                <a:spcPct val="105000"/>
              </a:lnSpc>
              <a:spcAft>
                <a:spcPts val="200"/>
              </a:spcAft>
              <a:buNone/>
            </a:pPr>
            <a:r>
              <a:rPr lang="en-US" sz="1300" dirty="0">
                <a:solidFill>
                  <a:srgbClr val="0B1F4D"/>
                </a:solidFill>
                <a:latin typeface="Segoe UI Semibold" pitchFamily="34" charset="0"/>
                <a:ea typeface="Segoe UI Semibold" pitchFamily="34" charset="-122"/>
                <a:cs typeface="Segoe UI Semibold" pitchFamily="34" charset="-120"/>
              </a:rPr>
              <a:t>Mode</a:t>
            </a:r>
            <a:endParaRPr lang="en-US" sz="1300" dirty="0"/>
          </a:p>
        </p:txBody>
      </p:sp>
      <p:sp>
        <p:nvSpPr>
          <p:cNvPr id="27" name="Text 25"/>
          <p:cNvSpPr/>
          <p:nvPr/>
        </p:nvSpPr>
        <p:spPr>
          <a:xfrm>
            <a:off x="6382512" y="2651760"/>
            <a:ext cx="1426464" cy="640080"/>
          </a:xfrm>
          <a:prstGeom prst="rect">
            <a:avLst/>
          </a:prstGeom>
          <a:noFill/>
          <a:ln/>
        </p:spPr>
        <p:txBody>
          <a:bodyPr wrap="square" lIns="0" tIns="0" rIns="0" bIns="0" rtlCol="0" anchor="t"/>
          <a:lstStyle/>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Tea × export: train, air</a:t>
            </a:r>
            <a:endParaRPr lang="en-US" sz="1000" dirty="0"/>
          </a:p>
        </p:txBody>
      </p:sp>
      <p:sp>
        <p:nvSpPr>
          <p:cNvPr id="28" name="Text 26"/>
          <p:cNvSpPr/>
          <p:nvPr/>
        </p:nvSpPr>
        <p:spPr>
          <a:xfrm>
            <a:off x="6355080" y="3264408"/>
            <a:ext cx="1481328" cy="411480"/>
          </a:xfrm>
          <a:prstGeom prst="roundRect">
            <a:avLst>
              <a:gd name="adj" fmla="val 13333"/>
            </a:avLst>
          </a:prstGeom>
          <a:solidFill>
            <a:srgbClr val="E7F6EF"/>
          </a:solidFill>
          <a:ln w="12700">
            <a:solidFill>
              <a:srgbClr val="E7F6EF"/>
            </a:solidFill>
            <a:prstDash val="solid"/>
          </a:ln>
        </p:spPr>
        <p:txBody>
          <a:bodyPr wrap="square" lIns="76200" tIns="76200" rIns="76200" bIns="76200" rtlCol="0" anchor="ctr"/>
          <a:lstStyle/>
          <a:p>
            <a:pPr algn="ctr" indent="0" marL="0">
              <a:buNone/>
            </a:pPr>
            <a:r>
              <a:rPr lang="en-US" sz="950" b="1" dirty="0">
                <a:solidFill>
                  <a:srgbClr val="047857"/>
                </a:solidFill>
                <a:latin typeface="Segoe UI" pitchFamily="34" charset="0"/>
                <a:ea typeface="Segoe UI" pitchFamily="34" charset="-122"/>
                <a:cs typeface="Segoe UI" pitchFamily="34" charset="-120"/>
              </a:rPr>
              <a:t>Asked → Train</a:t>
            </a:r>
            <a:endParaRPr lang="en-US" sz="950" dirty="0"/>
          </a:p>
        </p:txBody>
      </p:sp>
      <p:sp>
        <p:nvSpPr>
          <p:cNvPr id="29" name="Shape 27"/>
          <p:cNvSpPr/>
          <p:nvPr/>
        </p:nvSpPr>
        <p:spPr>
          <a:xfrm>
            <a:off x="7946136" y="2743200"/>
            <a:ext cx="137160" cy="914"/>
          </a:xfrm>
          <a:prstGeom prst="line">
            <a:avLst/>
          </a:prstGeom>
          <a:noFill/>
          <a:ln w="19050">
            <a:solidFill>
              <a:srgbClr val="2563EB"/>
            </a:solidFill>
            <a:prstDash val="solid"/>
            <a:tailEnd type="triangle"/>
          </a:ln>
        </p:spPr>
      </p:sp>
      <p:sp>
        <p:nvSpPr>
          <p:cNvPr id="30" name="Text 28"/>
          <p:cNvSpPr/>
          <p:nvPr/>
        </p:nvSpPr>
        <p:spPr>
          <a:xfrm>
            <a:off x="8083296" y="1691640"/>
            <a:ext cx="1700784" cy="2103120"/>
          </a:xfrm>
          <a:prstGeom prst="roundRect">
            <a:avLst>
              <a:gd name="adj" fmla="val 3226"/>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31" name="Text 29"/>
          <p:cNvSpPr/>
          <p:nvPr/>
        </p:nvSpPr>
        <p:spPr>
          <a:xfrm>
            <a:off x="8220456" y="1828800"/>
            <a:ext cx="384048" cy="384048"/>
          </a:xfrm>
          <a:prstGeom prst="roundRect">
            <a:avLst>
              <a:gd name="adj" fmla="val 50000"/>
            </a:avLst>
          </a:prstGeom>
          <a:solidFill>
            <a:srgbClr val="2563EB"/>
          </a:solidFill>
          <a:ln w="12700">
            <a:solidFill>
              <a:srgbClr val="2563EB"/>
            </a:solidFill>
            <a:prstDash val="solid"/>
          </a:ln>
        </p:spPr>
        <p:txBody>
          <a:bodyPr wrap="square" lIns="76200" tIns="76200" rIns="76200" bIns="7620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5</a:t>
            </a:r>
            <a:endParaRPr lang="en-US" sz="1200" dirty="0"/>
          </a:p>
        </p:txBody>
      </p:sp>
      <p:sp>
        <p:nvSpPr>
          <p:cNvPr id="32" name="Text 30"/>
          <p:cNvSpPr/>
          <p:nvPr/>
        </p:nvSpPr>
        <p:spPr>
          <a:xfrm>
            <a:off x="8220456" y="2313432"/>
            <a:ext cx="1426464" cy="320040"/>
          </a:xfrm>
          <a:prstGeom prst="rect">
            <a:avLst/>
          </a:prstGeom>
          <a:noFill/>
          <a:ln/>
        </p:spPr>
        <p:txBody>
          <a:bodyPr wrap="square" lIns="0" tIns="0" rIns="0" bIns="0" rtlCol="0" anchor="t"/>
          <a:lstStyle/>
          <a:p>
            <a:pPr algn="l" indent="0" marL="0">
              <a:lnSpc>
                <a:spcPct val="105000"/>
              </a:lnSpc>
              <a:spcAft>
                <a:spcPts val="200"/>
              </a:spcAft>
              <a:buNone/>
            </a:pPr>
            <a:r>
              <a:rPr lang="en-US" sz="1300" dirty="0">
                <a:solidFill>
                  <a:srgbClr val="0B1F4D"/>
                </a:solidFill>
                <a:latin typeface="Segoe UI Semibold" pitchFamily="34" charset="0"/>
                <a:ea typeface="Segoe UI Semibold" pitchFamily="34" charset="-122"/>
                <a:cs typeface="Segoe UI Semibold" pitchFamily="34" charset="-120"/>
              </a:rPr>
              <a:t>Quantity</a:t>
            </a:r>
            <a:endParaRPr lang="en-US" sz="1300" dirty="0"/>
          </a:p>
        </p:txBody>
      </p:sp>
      <p:sp>
        <p:nvSpPr>
          <p:cNvPr id="33" name="Text 31"/>
          <p:cNvSpPr/>
          <p:nvPr/>
        </p:nvSpPr>
        <p:spPr>
          <a:xfrm>
            <a:off x="8220456" y="2651760"/>
            <a:ext cx="1426464" cy="640080"/>
          </a:xfrm>
          <a:prstGeom prst="rect">
            <a:avLst/>
          </a:prstGeom>
          <a:noFill/>
          <a:ln/>
        </p:spPr>
        <p:txBody>
          <a:bodyPr wrap="square" lIns="0" tIns="0" rIns="0" bIns="0" rtlCol="0" anchor="t"/>
          <a:lstStyle/>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Rail 1–5,000 t · air ≤ 500 t</a:t>
            </a:r>
            <a:endParaRPr lang="en-US" sz="1000" dirty="0"/>
          </a:p>
        </p:txBody>
      </p:sp>
      <p:sp>
        <p:nvSpPr>
          <p:cNvPr id="34" name="Text 32"/>
          <p:cNvSpPr/>
          <p:nvPr/>
        </p:nvSpPr>
        <p:spPr>
          <a:xfrm>
            <a:off x="8193024" y="3264408"/>
            <a:ext cx="1481328" cy="411480"/>
          </a:xfrm>
          <a:prstGeom prst="roundRect">
            <a:avLst>
              <a:gd name="adj" fmla="val 13333"/>
            </a:avLst>
          </a:prstGeom>
          <a:solidFill>
            <a:srgbClr val="E7F6EF"/>
          </a:solidFill>
          <a:ln w="12700">
            <a:solidFill>
              <a:srgbClr val="E7F6EF"/>
            </a:solidFill>
            <a:prstDash val="solid"/>
          </a:ln>
        </p:spPr>
        <p:txBody>
          <a:bodyPr wrap="square" lIns="76200" tIns="76200" rIns="76200" bIns="76200" rtlCol="0" anchor="ctr"/>
          <a:lstStyle/>
          <a:p>
            <a:pPr algn="ctr" indent="0" marL="0">
              <a:buNone/>
            </a:pPr>
            <a:r>
              <a:rPr lang="en-US" sz="950" b="1" dirty="0">
                <a:solidFill>
                  <a:srgbClr val="047857"/>
                </a:solidFill>
                <a:latin typeface="Segoe UI" pitchFamily="34" charset="0"/>
                <a:ea typeface="Segoe UI" pitchFamily="34" charset="-122"/>
                <a:cs typeface="Segoe UI" pitchFamily="34" charset="-120"/>
              </a:rPr>
              <a:t>60 t ≈ 2 covered wagons</a:t>
            </a:r>
            <a:endParaRPr lang="en-US" sz="950" dirty="0"/>
          </a:p>
        </p:txBody>
      </p:sp>
      <p:sp>
        <p:nvSpPr>
          <p:cNvPr id="35" name="Shape 33"/>
          <p:cNvSpPr/>
          <p:nvPr/>
        </p:nvSpPr>
        <p:spPr>
          <a:xfrm>
            <a:off x="9784080" y="2743200"/>
            <a:ext cx="137160" cy="914"/>
          </a:xfrm>
          <a:prstGeom prst="line">
            <a:avLst/>
          </a:prstGeom>
          <a:noFill/>
          <a:ln w="19050">
            <a:solidFill>
              <a:srgbClr val="2563EB"/>
            </a:solidFill>
            <a:prstDash val="solid"/>
            <a:tailEnd type="triangle"/>
          </a:ln>
        </p:spPr>
      </p:sp>
      <p:sp>
        <p:nvSpPr>
          <p:cNvPr id="36" name="Text 34"/>
          <p:cNvSpPr/>
          <p:nvPr/>
        </p:nvSpPr>
        <p:spPr>
          <a:xfrm>
            <a:off x="9921240" y="1691640"/>
            <a:ext cx="1700784" cy="2103120"/>
          </a:xfrm>
          <a:prstGeom prst="roundRect">
            <a:avLst>
              <a:gd name="adj" fmla="val 3226"/>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37" name="Text 35"/>
          <p:cNvSpPr/>
          <p:nvPr/>
        </p:nvSpPr>
        <p:spPr>
          <a:xfrm>
            <a:off x="10058400" y="1828800"/>
            <a:ext cx="384048" cy="384048"/>
          </a:xfrm>
          <a:prstGeom prst="roundRect">
            <a:avLst>
              <a:gd name="adj" fmla="val 50000"/>
            </a:avLst>
          </a:prstGeom>
          <a:solidFill>
            <a:srgbClr val="2563EB"/>
          </a:solidFill>
          <a:ln w="12700">
            <a:solidFill>
              <a:srgbClr val="2563EB"/>
            </a:solidFill>
            <a:prstDash val="solid"/>
          </a:ln>
        </p:spPr>
        <p:txBody>
          <a:bodyPr wrap="square" lIns="76200" tIns="76200" rIns="76200" bIns="7620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6</a:t>
            </a:r>
            <a:endParaRPr lang="en-US" sz="1200" dirty="0"/>
          </a:p>
        </p:txBody>
      </p:sp>
      <p:sp>
        <p:nvSpPr>
          <p:cNvPr id="38" name="Text 36"/>
          <p:cNvSpPr/>
          <p:nvPr/>
        </p:nvSpPr>
        <p:spPr>
          <a:xfrm>
            <a:off x="10058400" y="2313432"/>
            <a:ext cx="1426464" cy="320040"/>
          </a:xfrm>
          <a:prstGeom prst="rect">
            <a:avLst/>
          </a:prstGeom>
          <a:noFill/>
          <a:ln/>
        </p:spPr>
        <p:txBody>
          <a:bodyPr wrap="square" lIns="0" tIns="0" rIns="0" bIns="0" rtlCol="0" anchor="t"/>
          <a:lstStyle/>
          <a:p>
            <a:pPr algn="l" indent="0" marL="0">
              <a:lnSpc>
                <a:spcPct val="105000"/>
              </a:lnSpc>
              <a:spcAft>
                <a:spcPts val="200"/>
              </a:spcAft>
              <a:buNone/>
            </a:pPr>
            <a:r>
              <a:rPr lang="en-US" sz="1300" dirty="0">
                <a:solidFill>
                  <a:srgbClr val="0B1F4D"/>
                </a:solidFill>
                <a:latin typeface="Segoe UI Semibold" pitchFamily="34" charset="0"/>
                <a:ea typeface="Segoe UI Semibold" pitchFamily="34" charset="-122"/>
                <a:cs typeface="Segoe UI Semibold" pitchFamily="34" charset="-120"/>
              </a:rPr>
              <a:t>Route</a:t>
            </a:r>
            <a:endParaRPr lang="en-US" sz="1300" dirty="0"/>
          </a:p>
        </p:txBody>
      </p:sp>
      <p:sp>
        <p:nvSpPr>
          <p:cNvPr id="39" name="Text 37"/>
          <p:cNvSpPr/>
          <p:nvPr/>
        </p:nvSpPr>
        <p:spPr>
          <a:xfrm>
            <a:off x="10058400" y="2651760"/>
            <a:ext cx="1426464" cy="640080"/>
          </a:xfrm>
          <a:prstGeom prst="rect">
            <a:avLst/>
          </a:prstGeom>
          <a:noFill/>
          <a:ln/>
        </p:spPr>
        <p:txBody>
          <a:bodyPr wrap="square" lIns="0" tIns="0" rIns="0" bIns="0" rtlCol="0" anchor="t"/>
          <a:lstStyle/>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One end Uzbekistan; other in country list</a:t>
            </a:r>
            <a:endParaRPr lang="en-US" sz="1000" dirty="0"/>
          </a:p>
        </p:txBody>
      </p:sp>
      <p:sp>
        <p:nvSpPr>
          <p:cNvPr id="40" name="Text 38"/>
          <p:cNvSpPr/>
          <p:nvPr/>
        </p:nvSpPr>
        <p:spPr>
          <a:xfrm>
            <a:off x="10030968" y="3264408"/>
            <a:ext cx="1481328" cy="411480"/>
          </a:xfrm>
          <a:prstGeom prst="roundRect">
            <a:avLst>
              <a:gd name="adj" fmla="val 13333"/>
            </a:avLst>
          </a:prstGeom>
          <a:solidFill>
            <a:srgbClr val="E7F6EF"/>
          </a:solidFill>
          <a:ln w="12700">
            <a:solidFill>
              <a:srgbClr val="E7F6EF"/>
            </a:solidFill>
            <a:prstDash val="solid"/>
          </a:ln>
        </p:spPr>
        <p:txBody>
          <a:bodyPr wrap="square" lIns="76200" tIns="76200" rIns="76200" bIns="76200" rtlCol="0" anchor="ctr"/>
          <a:lstStyle/>
          <a:p>
            <a:pPr algn="ctr" indent="0" marL="0">
              <a:buNone/>
            </a:pPr>
            <a:r>
              <a:rPr lang="en-US" sz="950" b="1" dirty="0">
                <a:solidFill>
                  <a:srgbClr val="047857"/>
                </a:solidFill>
                <a:latin typeface="Segoe UI" pitchFamily="34" charset="0"/>
                <a:ea typeface="Segoe UI" pitchFamily="34" charset="-122"/>
                <a:cs typeface="Segoe UI" pitchFamily="34" charset="-120"/>
              </a:rPr>
              <a:t>Tashkent → Moscow · EAEU · CT-1</a:t>
            </a:r>
            <a:endParaRPr lang="en-US" sz="950" dirty="0"/>
          </a:p>
        </p:txBody>
      </p:sp>
      <p:sp>
        <p:nvSpPr>
          <p:cNvPr id="41" name="Text 39"/>
          <p:cNvSpPr/>
          <p:nvPr/>
        </p:nvSpPr>
        <p:spPr>
          <a:xfrm>
            <a:off x="731520" y="4023360"/>
            <a:ext cx="5120640" cy="868680"/>
          </a:xfrm>
          <a:prstGeom prst="roundRect">
            <a:avLst>
              <a:gd name="adj" fmla="val 6316"/>
            </a:avLst>
          </a:prstGeom>
          <a:solidFill>
            <a:srgbClr val="EAF1FF"/>
          </a:solidFill>
          <a:ln w="12700">
            <a:solidFill>
              <a:srgbClr val="2563EB"/>
            </a:solidFill>
            <a:prstDash val="solid"/>
          </a:ln>
        </p:spPr>
        <p:txBody>
          <a:bodyPr wrap="square" lIns="127000" tIns="127000" rIns="127000" bIns="127000" rtlCol="0" anchor="ctr"/>
          <a:lstStyle/>
          <a:p>
            <a:pPr algn="l" indent="0" marL="0">
              <a:buNone/>
            </a:pPr>
            <a:r>
              <a:rPr lang="en-US" sz="1300" b="1" dirty="0">
                <a:solidFill>
                  <a:srgbClr val="0B1F4D"/>
                </a:solidFill>
                <a:latin typeface="Segoe UI" pitchFamily="34" charset="0"/>
                <a:ea typeface="Segoe UI" pitchFamily="34" charset="-122"/>
                <a:cs typeface="Segoe UI" pitchFamily="34" charset="-120"/>
              </a:rPr>
              <a:t>Lookup(tea, export, train) → procedure 868</a:t>
            </a:r>
            <a:endParaRPr lang="en-US" sz="1100" dirty="0"/>
          </a:p>
          <a:p>
            <a:pPr algn="l" indent="0" marL="0">
              <a:buNone/>
            </a:pPr>
            <a:r>
              <a:rPr lang="en-US" sz="1050" dirty="0">
                <a:solidFill>
                  <a:srgbClr val="64748B"/>
                </a:solidFill>
                <a:latin typeface="Segoe UI" pitchFamily="34" charset="0"/>
                <a:ea typeface="Segoe UI" pitchFamily="34" charset="-122"/>
                <a:cs typeface="Segoe UI" pitchFamily="34" charset="-120"/>
              </a:rPr>
              <a:t>Exactly one published match — case created with a 48-node workflow</a:t>
            </a:r>
            <a:endParaRPr lang="en-US" sz="1100" dirty="0"/>
          </a:p>
        </p:txBody>
      </p:sp>
      <p:sp>
        <p:nvSpPr>
          <p:cNvPr id="42" name="Shape 40"/>
          <p:cNvSpPr/>
          <p:nvPr/>
        </p:nvSpPr>
        <p:spPr>
          <a:xfrm>
            <a:off x="5852160" y="4453128"/>
            <a:ext cx="502920" cy="914"/>
          </a:xfrm>
          <a:prstGeom prst="line">
            <a:avLst/>
          </a:prstGeom>
          <a:noFill/>
          <a:ln w="19050">
            <a:solidFill>
              <a:srgbClr val="2563EB"/>
            </a:solidFill>
            <a:prstDash val="solid"/>
            <a:tailEnd type="triangle"/>
          </a:ln>
        </p:spPr>
      </p:sp>
      <p:sp>
        <p:nvSpPr>
          <p:cNvPr id="43" name="Text 41"/>
          <p:cNvSpPr/>
          <p:nvPr/>
        </p:nvSpPr>
        <p:spPr>
          <a:xfrm>
            <a:off x="6355080" y="4023360"/>
            <a:ext cx="5257800" cy="868680"/>
          </a:xfrm>
          <a:prstGeom prst="roundRect">
            <a:avLst>
              <a:gd name="adj" fmla="val 6316"/>
            </a:avLst>
          </a:prstGeom>
          <a:solidFill>
            <a:srgbClr val="FFFFFF"/>
          </a:solidFill>
          <a:ln w="12700">
            <a:solidFill>
              <a:srgbClr val="D8DEE8"/>
            </a:solidFill>
            <a:prstDash val="solid"/>
          </a:ln>
        </p:spPr>
        <p:txBody>
          <a:bodyPr wrap="square" lIns="127000" tIns="127000" rIns="127000" bIns="127000" rtlCol="0" anchor="ctr"/>
          <a:lstStyle/>
          <a:p>
            <a:pPr algn="l" indent="0" marL="0">
              <a:buNone/>
            </a:pPr>
            <a:r>
              <a:rPr lang="en-US" sz="1300" b="1" dirty="0">
                <a:solidFill>
                  <a:srgbClr val="0B1F4D"/>
                </a:solidFill>
                <a:latin typeface="Segoe UI" pitchFamily="34" charset="0"/>
                <a:ea typeface="Segoe UI" pitchFamily="34" charset="-122"/>
                <a:cs typeface="Segoe UI" pitchFamily="34" charset="-120"/>
              </a:rPr>
              <a:t>Case UZ-… opened</a:t>
            </a:r>
            <a:endParaRPr lang="en-US" sz="1100" dirty="0"/>
          </a:p>
          <a:p>
            <a:pPr algn="l" indent="0" marL="0">
              <a:buNone/>
            </a:pPr>
            <a:r>
              <a:rPr lang="en-US" sz="1050" dirty="0">
                <a:solidFill>
                  <a:srgbClr val="64748B"/>
                </a:solidFill>
                <a:latin typeface="Segoe UI" pitchFamily="34" charset="0"/>
                <a:ea typeface="Segoe UI" pitchFamily="34" charset="-122"/>
                <a:cs typeface="Segoe UI" pitchFamily="34" charset="-120"/>
              </a:rPr>
              <a:t>5 dependency-free steps become ready: 1, 2, 7, 11, 32</a:t>
            </a:r>
            <a:endParaRPr lang="en-US" sz="1100" dirty="0"/>
          </a:p>
        </p:txBody>
      </p:sp>
      <p:sp>
        <p:nvSpPr>
          <p:cNvPr id="44" name="Text 42"/>
          <p:cNvSpPr/>
          <p:nvPr/>
        </p:nvSpPr>
        <p:spPr>
          <a:xfrm>
            <a:off x="731520" y="5074920"/>
            <a:ext cx="10881360" cy="1234440"/>
          </a:xfrm>
          <a:prstGeom prst="roundRect">
            <a:avLst>
              <a:gd name="adj" fmla="val 5926"/>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45" name="Text 43"/>
          <p:cNvSpPr/>
          <p:nvPr/>
        </p:nvSpPr>
        <p:spPr>
          <a:xfrm>
            <a:off x="896112" y="5184648"/>
            <a:ext cx="1055217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WHY DETERMINISTIC FIRST</a:t>
            </a:r>
            <a:endParaRPr lang="en-US" sz="950" dirty="0"/>
          </a:p>
        </p:txBody>
      </p:sp>
      <p:sp>
        <p:nvSpPr>
          <p:cNvPr id="46" name="Text 44"/>
          <p:cNvSpPr/>
          <p:nvPr/>
        </p:nvSpPr>
        <p:spPr>
          <a:xfrm>
            <a:off x="960120" y="5394960"/>
            <a:ext cx="10424160" cy="91440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00" dirty="0">
                <a:solidFill>
                  <a:srgbClr val="334155"/>
                </a:solidFill>
                <a:latin typeface="Segoe UI" pitchFamily="34" charset="0"/>
                <a:ea typeface="Segoe UI" pitchFamily="34" charset="-122"/>
                <a:cs typeface="Segoe UI" pitchFamily="34" charset="-120"/>
              </a:rPr>
              <a:t>Tables decide the procedure: a model's pick can never select a procedure that isn't published (it is validated against the five).</a:t>
            </a:r>
            <a:endParaRPr lang="en-US" sz="1100" dirty="0"/>
          </a:p>
          <a:p>
            <a:pPr marL="177800" indent="-177800">
              <a:lnSpc>
                <a:spcPct val="105000"/>
              </a:lnSpc>
              <a:spcAft>
                <a:spcPts val="300"/>
              </a:spcAft>
              <a:buSzPct val="100000"/>
              <a:buChar char="•"/>
            </a:pPr>
            <a:r>
              <a:rPr lang="en-US" sz="1100" dirty="0">
                <a:solidFill>
                  <a:srgbClr val="334155"/>
                </a:solidFill>
                <a:latin typeface="Segoe UI" pitchFamily="34" charset="0"/>
                <a:ea typeface="Segoe UI" pitchFamily="34" charset="-122"/>
                <a:cs typeface="Segoe UI" pitchFamily="34" charset="-120"/>
              </a:rPr>
              <a:t>An LLM is used only to read unusual wording into slots — cheap, fast model, structured output (see model selection).</a:t>
            </a:r>
            <a:endParaRPr lang="en-US" sz="1100" dirty="0"/>
          </a:p>
          <a:p>
            <a:pPr marL="177800" indent="-177800">
              <a:lnSpc>
                <a:spcPct val="105000"/>
              </a:lnSpc>
              <a:spcAft>
                <a:spcPts val="300"/>
              </a:spcAft>
              <a:buSzPct val="100000"/>
              <a:buChar char="•"/>
            </a:pPr>
            <a:r>
              <a:rPr lang="en-US" sz="1100" dirty="0">
                <a:solidFill>
                  <a:srgbClr val="334155"/>
                </a:solidFill>
                <a:latin typeface="Segoe UI" pitchFamily="34" charset="0"/>
                <a:ea typeface="Segoe UI" pitchFamily="34" charset="-122"/>
                <a:cs typeface="Segoe UI" pitchFamily="34" charset="-120"/>
              </a:rPr>
              <a:t>Every refusal names the reason: “Dried fruit by air isn't a published procedure — it can go by train.”</a:t>
            </a:r>
            <a:endParaRPr lang="en-US" sz="11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03 · INTAKE AGENT</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What the trader gives up front — and why the rest must wait</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29 items can be given at the start; 19 depend on something that happens during the procedure</a:t>
            </a:r>
            <a:endParaRPr lang="en-US" sz="1200" dirty="0"/>
          </a:p>
        </p:txBody>
      </p:sp>
      <p:sp>
        <p:nvSpPr>
          <p:cNvPr id="6" name="Text 4"/>
          <p:cNvSpPr/>
          <p:nvPr/>
        </p:nvSpPr>
        <p:spPr>
          <a:xfrm>
            <a:off x="731520" y="1554480"/>
            <a:ext cx="10881360" cy="502920"/>
          </a:xfrm>
          <a:prstGeom prst="roundRect">
            <a:avLst>
              <a:gd name="adj" fmla="val 10909"/>
            </a:avLst>
          </a:prstGeom>
          <a:solidFill>
            <a:srgbClr val="EAF1FF"/>
          </a:solidFill>
          <a:ln w="12700">
            <a:solidFill>
              <a:srgbClr val="EAF1FF"/>
            </a:solidFill>
            <a:prstDash val="solid"/>
          </a:ln>
        </p:spPr>
        <p:txBody>
          <a:bodyPr wrap="square" lIns="127000" tIns="127000" rIns="127000" bIns="127000" rtlCol="0" anchor="ctr"/>
          <a:lstStyle/>
          <a:p>
            <a:pPr algn="l" indent="0" marL="0">
              <a:buNone/>
            </a:pPr>
            <a:r>
              <a:rPr lang="en-US" sz="1150" b="1" dirty="0">
                <a:solidFill>
                  <a:srgbClr val="0B1F4D"/>
                </a:solidFill>
                <a:latin typeface="Segoe UI" pitchFamily="34" charset="0"/>
                <a:ea typeface="Segoe UI" pitchFamily="34" charset="-122"/>
                <a:cs typeface="Segoe UI" pitchFamily="34" charset="-120"/>
              </a:rPr>
              <a:t>Rule: </a:t>
            </a:r>
            <a:pPr algn="l" indent="0" marL="0">
              <a:buNone/>
            </a:pPr>
            <a:r>
              <a:rPr lang="en-US" sz="1150" dirty="0">
                <a:solidFill>
                  <a:srgbClr val="334155"/>
                </a:solidFill>
                <a:latin typeface="Segoe UI" pitchFamily="34" charset="0"/>
                <a:ea typeface="Segoe UI" pitchFamily="34" charset="-122"/>
                <a:cs typeface="Segoe UI" pitchFamily="34" charset="-120"/>
              </a:rPr>
              <a:t>an input is asked up front when (1) no earlier step produces it and (2) the trader already holds or issues it. Given once, it fills every later step that needs it — agent steps don't pause.</a:t>
            </a:r>
            <a:endParaRPr lang="en-US" sz="1150" dirty="0"/>
          </a:p>
        </p:txBody>
      </p:sp>
      <p:sp>
        <p:nvSpPr>
          <p:cNvPr id="7" name="Text 5"/>
          <p:cNvSpPr/>
          <p:nvPr/>
        </p:nvSpPr>
        <p:spPr>
          <a:xfrm>
            <a:off x="731520" y="2240280"/>
            <a:ext cx="3017520" cy="4069080"/>
          </a:xfrm>
          <a:prstGeom prst="roundRect">
            <a:avLst>
              <a:gd name="adj" fmla="val 2424"/>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8" name="Text 6"/>
          <p:cNvSpPr/>
          <p:nvPr/>
        </p:nvSpPr>
        <p:spPr>
          <a:xfrm>
            <a:off x="896112" y="2350008"/>
            <a:ext cx="268833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VALUES · 10</a:t>
            </a:r>
            <a:endParaRPr lang="en-US" sz="950" dirty="0"/>
          </a:p>
        </p:txBody>
      </p:sp>
      <p:sp>
        <p:nvSpPr>
          <p:cNvPr id="9" name="Text 7"/>
          <p:cNvSpPr/>
          <p:nvPr/>
        </p:nvSpPr>
        <p:spPr>
          <a:xfrm>
            <a:off x="914400" y="2606040"/>
            <a:ext cx="2743200" cy="3657600"/>
          </a:xfrm>
          <a:prstGeom prst="rect">
            <a:avLst/>
          </a:prstGeom>
          <a:noFill/>
          <a:ln/>
        </p:spPr>
        <p:txBody>
          <a:bodyPr wrap="square" lIns="0" tIns="0" rIns="0" bIns="0" rtlCol="0" anchor="t"/>
          <a:lstStyle/>
          <a:p>
            <a:pPr algn="l" marL="152400" indent="-152400">
              <a:lnSpc>
                <a:spcPct val="105000"/>
              </a:lnSpc>
              <a:spcAft>
                <a:spcPts val="300"/>
              </a:spcAft>
              <a:buSzPct val="100000"/>
              <a:buChar char="•"/>
            </a:pPr>
            <a:r>
              <a:rPr lang="en-US" sz="1000" dirty="0">
                <a:solidFill>
                  <a:srgbClr val="334155"/>
                </a:solidFill>
                <a:latin typeface="Segoe UI" pitchFamily="34" charset="0"/>
                <a:ea typeface="Segoe UI" pitchFamily="34" charset="-122"/>
                <a:cs typeface="Segoe UI" pitchFamily="34" charset="-120"/>
              </a:rPr>
              <a:t>Tax Identification Number</a:t>
            </a:r>
            <a:endParaRPr lang="en-US" sz="1000" dirty="0"/>
          </a:p>
          <a:p>
            <a:pPr algn="l" marL="152400" indent="-152400">
              <a:lnSpc>
                <a:spcPct val="105000"/>
              </a:lnSpc>
              <a:spcAft>
                <a:spcPts val="300"/>
              </a:spcAft>
              <a:buSzPct val="100000"/>
              <a:buChar char="•"/>
            </a:pPr>
            <a:r>
              <a:rPr lang="en-US" sz="1000" dirty="0">
                <a:solidFill>
                  <a:srgbClr val="334155"/>
                </a:solidFill>
                <a:latin typeface="Segoe UI" pitchFamily="34" charset="0"/>
                <a:ea typeface="Segoe UI" pitchFamily="34" charset="-122"/>
                <a:cs typeface="Segoe UI" pitchFamily="34" charset="-120"/>
              </a:rPr>
              <a:t>Personal identification number of an individual</a:t>
            </a:r>
            <a:endParaRPr lang="en-US" sz="1000" dirty="0"/>
          </a:p>
          <a:p>
            <a:pPr algn="l" marL="152400" indent="-152400">
              <a:lnSpc>
                <a:spcPct val="105000"/>
              </a:lnSpc>
              <a:spcAft>
                <a:spcPts val="300"/>
              </a:spcAft>
              <a:buSzPct val="100000"/>
              <a:buChar char="•"/>
            </a:pPr>
            <a:r>
              <a:rPr lang="en-US" sz="1000" dirty="0">
                <a:solidFill>
                  <a:srgbClr val="334155"/>
                </a:solidFill>
                <a:latin typeface="Segoe UI" pitchFamily="34" charset="0"/>
                <a:ea typeface="Segoe UI" pitchFamily="34" charset="-122"/>
                <a:cs typeface="Segoe UI" pitchFamily="34" charset="-120"/>
              </a:rPr>
              <a:t>Bank details</a:t>
            </a:r>
            <a:endParaRPr lang="en-US" sz="1000" dirty="0"/>
          </a:p>
          <a:p>
            <a:pPr algn="l" marL="152400" indent="-152400">
              <a:lnSpc>
                <a:spcPct val="105000"/>
              </a:lnSpc>
              <a:spcAft>
                <a:spcPts val="300"/>
              </a:spcAft>
              <a:buSzPct val="100000"/>
              <a:buChar char="•"/>
            </a:pPr>
            <a:r>
              <a:rPr lang="en-US" sz="1000" dirty="0">
                <a:solidFill>
                  <a:srgbClr val="334155"/>
                </a:solidFill>
                <a:latin typeface="Segoe UI" pitchFamily="34" charset="0"/>
                <a:ea typeface="Segoe UI" pitchFamily="34" charset="-122"/>
                <a:cs typeface="Segoe UI" pitchFamily="34" charset="-120"/>
              </a:rPr>
              <a:t>Name of the organization</a:t>
            </a:r>
            <a:endParaRPr lang="en-US" sz="1000" dirty="0"/>
          </a:p>
          <a:p>
            <a:pPr algn="l" marL="152400" indent="-152400">
              <a:lnSpc>
                <a:spcPct val="105000"/>
              </a:lnSpc>
              <a:spcAft>
                <a:spcPts val="300"/>
              </a:spcAft>
              <a:buSzPct val="100000"/>
              <a:buChar char="•"/>
            </a:pPr>
            <a:r>
              <a:rPr lang="en-US" sz="1000" dirty="0">
                <a:solidFill>
                  <a:srgbClr val="334155"/>
                </a:solidFill>
                <a:latin typeface="Segoe UI" pitchFamily="34" charset="0"/>
                <a:ea typeface="Segoe UI" pitchFamily="34" charset="-122"/>
                <a:cs typeface="Segoe UI" pitchFamily="34" charset="-120"/>
              </a:rPr>
              <a:t>Full name of an organization's manager</a:t>
            </a:r>
            <a:endParaRPr lang="en-US" sz="1000" dirty="0"/>
          </a:p>
          <a:p>
            <a:pPr algn="l" marL="152400" indent="-152400">
              <a:lnSpc>
                <a:spcPct val="105000"/>
              </a:lnSpc>
              <a:spcAft>
                <a:spcPts val="300"/>
              </a:spcAft>
              <a:buSzPct val="100000"/>
              <a:buChar char="•"/>
            </a:pPr>
            <a:r>
              <a:rPr lang="en-US" sz="1000" dirty="0">
                <a:solidFill>
                  <a:srgbClr val="334155"/>
                </a:solidFill>
                <a:latin typeface="Segoe UI" pitchFamily="34" charset="0"/>
                <a:ea typeface="Segoe UI" pitchFamily="34" charset="-122"/>
                <a:cs typeface="Segoe UI" pitchFamily="34" charset="-120"/>
              </a:rPr>
              <a:t>Contact phone number</a:t>
            </a:r>
            <a:endParaRPr lang="en-US" sz="1000" dirty="0"/>
          </a:p>
          <a:p>
            <a:pPr algn="l" marL="152400" indent="-152400">
              <a:lnSpc>
                <a:spcPct val="105000"/>
              </a:lnSpc>
              <a:spcAft>
                <a:spcPts val="300"/>
              </a:spcAft>
              <a:buSzPct val="100000"/>
              <a:buChar char="•"/>
            </a:pPr>
            <a:r>
              <a:rPr lang="en-US" sz="1000" dirty="0">
                <a:solidFill>
                  <a:srgbClr val="334155"/>
                </a:solidFill>
                <a:latin typeface="Segoe UI" pitchFamily="34" charset="0"/>
                <a:ea typeface="Segoe UI" pitchFamily="34" charset="-122"/>
                <a:cs typeface="Segoe UI" pitchFamily="34" charset="-120"/>
              </a:rPr>
              <a:t>Agency region</a:t>
            </a:r>
            <a:endParaRPr lang="en-US" sz="1000" dirty="0"/>
          </a:p>
          <a:p>
            <a:pPr algn="l" marL="152400" indent="-152400">
              <a:lnSpc>
                <a:spcPct val="105000"/>
              </a:lnSpc>
              <a:spcAft>
                <a:spcPts val="300"/>
              </a:spcAft>
              <a:buSzPct val="100000"/>
              <a:buChar char="•"/>
            </a:pPr>
            <a:r>
              <a:rPr lang="en-US" sz="1000" dirty="0">
                <a:solidFill>
                  <a:srgbClr val="334155"/>
                </a:solidFill>
                <a:latin typeface="Segoe UI" pitchFamily="34" charset="0"/>
                <a:ea typeface="Segoe UI" pitchFamily="34" charset="-122"/>
                <a:cs typeface="Segoe UI" pitchFamily="34" charset="-120"/>
              </a:rPr>
              <a:t>Email</a:t>
            </a:r>
            <a:endParaRPr lang="en-US" sz="1000" dirty="0"/>
          </a:p>
          <a:p>
            <a:pPr algn="l" marL="152400" indent="-152400">
              <a:lnSpc>
                <a:spcPct val="105000"/>
              </a:lnSpc>
              <a:spcAft>
                <a:spcPts val="300"/>
              </a:spcAft>
              <a:buSzPct val="100000"/>
              <a:buChar char="•"/>
            </a:pPr>
            <a:r>
              <a:rPr lang="en-US" sz="1000" dirty="0">
                <a:solidFill>
                  <a:srgbClr val="334155"/>
                </a:solidFill>
                <a:latin typeface="Segoe UI" pitchFamily="34" charset="0"/>
                <a:ea typeface="Segoe UI" pitchFamily="34" charset="-122"/>
                <a:cs typeface="Segoe UI" pitchFamily="34" charset="-120"/>
              </a:rPr>
              <a:t>Type of organization</a:t>
            </a:r>
            <a:endParaRPr lang="en-US" sz="1000" dirty="0"/>
          </a:p>
          <a:p>
            <a:pPr algn="l" marL="152400" indent="-152400">
              <a:lnSpc>
                <a:spcPct val="105000"/>
              </a:lnSpc>
              <a:spcAft>
                <a:spcPts val="300"/>
              </a:spcAft>
              <a:buSzPct val="100000"/>
              <a:buChar char="•"/>
            </a:pPr>
            <a:r>
              <a:rPr lang="en-US" sz="1000" dirty="0">
                <a:solidFill>
                  <a:srgbClr val="334155"/>
                </a:solidFill>
                <a:latin typeface="Segoe UI" pitchFamily="34" charset="0"/>
                <a:ea typeface="Segoe UI" pitchFamily="34" charset="-122"/>
                <a:cs typeface="Segoe UI" pitchFamily="34" charset="-120"/>
              </a:rPr>
              <a:t>Quantity of transport units</a:t>
            </a:r>
            <a:endParaRPr lang="en-US" sz="1000" dirty="0"/>
          </a:p>
        </p:txBody>
      </p:sp>
      <p:sp>
        <p:nvSpPr>
          <p:cNvPr id="10" name="Text 8"/>
          <p:cNvSpPr/>
          <p:nvPr/>
        </p:nvSpPr>
        <p:spPr>
          <a:xfrm>
            <a:off x="3931920" y="2240280"/>
            <a:ext cx="3977640" cy="4069080"/>
          </a:xfrm>
          <a:prstGeom prst="roundRect">
            <a:avLst>
              <a:gd name="adj" fmla="val 1839"/>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1" name="Text 9"/>
          <p:cNvSpPr/>
          <p:nvPr/>
        </p:nvSpPr>
        <p:spPr>
          <a:xfrm>
            <a:off x="4096512" y="2350008"/>
            <a:ext cx="364845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DOCUMENTS · 19</a:t>
            </a:r>
            <a:endParaRPr lang="en-US" sz="950" dirty="0"/>
          </a:p>
        </p:txBody>
      </p:sp>
      <p:sp>
        <p:nvSpPr>
          <p:cNvPr id="12" name="Text 10"/>
          <p:cNvSpPr/>
          <p:nvPr/>
        </p:nvSpPr>
        <p:spPr>
          <a:xfrm>
            <a:off x="4114800" y="2606040"/>
            <a:ext cx="3703320" cy="3657600"/>
          </a:xfrm>
          <a:prstGeom prst="rect">
            <a:avLst/>
          </a:prstGeom>
          <a:noFill/>
          <a:ln/>
        </p:spPr>
        <p:txBody>
          <a:bodyPr wrap="square" lIns="0" tIns="0" rIns="0" bIns="0" rtlCol="0" anchor="t"/>
          <a:lstStyle/>
          <a:p>
            <a:pPr algn="l" marL="152400" indent="-152400">
              <a:lnSpc>
                <a:spcPct val="105000"/>
              </a:lnSpc>
              <a:spcAft>
                <a:spcPts val="150"/>
              </a:spcAft>
              <a:buSzPct val="100000"/>
              <a:buChar char="•"/>
            </a:pPr>
            <a:r>
              <a:rPr lang="en-US" sz="950" b="1" dirty="0">
                <a:solidFill>
                  <a:srgbClr val="334155"/>
                </a:solidFill>
                <a:latin typeface="Segoe UI" pitchFamily="34" charset="0"/>
                <a:ea typeface="Segoe UI" pitchFamily="34" charset="-122"/>
                <a:cs typeface="Segoe UI" pitchFamily="34" charset="-120"/>
              </a:rPr>
              <a:t>Passport  ·  11 steps</a:t>
            </a:r>
            <a:endParaRPr lang="en-US" sz="950" dirty="0"/>
          </a:p>
          <a:p>
            <a:pPr algn="l" marL="152400" indent="-152400">
              <a:lnSpc>
                <a:spcPct val="105000"/>
              </a:lnSpc>
              <a:spcAft>
                <a:spcPts val="150"/>
              </a:spcAft>
              <a:buSzPct val="100000"/>
              <a:buChar char="•"/>
            </a:pPr>
            <a:r>
              <a:rPr lang="en-US" sz="950" b="1" dirty="0">
                <a:solidFill>
                  <a:srgbClr val="334155"/>
                </a:solidFill>
                <a:latin typeface="Segoe UI" pitchFamily="34" charset="0"/>
                <a:ea typeface="Segoe UI" pitchFamily="34" charset="-122"/>
                <a:cs typeface="Segoe UI" pitchFamily="34" charset="-120"/>
              </a:rPr>
              <a:t>Commercial invoice  ·  7 steps</a:t>
            </a:r>
            <a:endParaRPr lang="en-US" sz="950" dirty="0"/>
          </a:p>
          <a:p>
            <a:pPr algn="l" marL="152400" indent="-152400">
              <a:lnSpc>
                <a:spcPct val="105000"/>
              </a:lnSpc>
              <a:spcAft>
                <a:spcPts val="150"/>
              </a:spcAft>
              <a:buSzPct val="100000"/>
              <a:buChar char="•"/>
            </a:pPr>
            <a:r>
              <a:rPr lang="en-US" sz="950" b="1" dirty="0">
                <a:solidFill>
                  <a:srgbClr val="334155"/>
                </a:solidFill>
                <a:latin typeface="Segoe UI" pitchFamily="34" charset="0"/>
                <a:ea typeface="Segoe UI" pitchFamily="34" charset="-122"/>
                <a:cs typeface="Segoe UI" pitchFamily="34" charset="-120"/>
              </a:rPr>
              <a:t>Power of attorney  ·  5 steps</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Land-plot right proof  ·  3 steps</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Purchase of produce proof  ·  3 steps</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foreign trade contract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Foreign economic activity contract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Supply contract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Application for good transportation on specific conditions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Application for cargo transportation GU-12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Application for obtaining approval of cargo transportation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Application on letterhead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Application on letterhead (own wagons)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Power of attorney for Transportation Unit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Application on letterhead for allotment of wagons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Certificate on availability of funds at client's account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Power of attorney for railway station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CoO application  ·  1 step</a:t>
            </a:r>
            <a:endParaRPr lang="en-US" sz="950" dirty="0"/>
          </a:p>
          <a:p>
            <a:pPr algn="l" marL="152400" indent="-152400">
              <a:lnSpc>
                <a:spcPct val="105000"/>
              </a:lnSpc>
              <a:spcAft>
                <a:spcPts val="150"/>
              </a:spcAft>
              <a:buSzPct val="100000"/>
              <a:buChar char="•"/>
            </a:pPr>
            <a:r>
              <a:rPr lang="en-US" sz="950" dirty="0">
                <a:solidFill>
                  <a:srgbClr val="334155"/>
                </a:solidFill>
                <a:latin typeface="Segoe UI" pitchFamily="34" charset="0"/>
                <a:ea typeface="Segoe UI" pitchFamily="34" charset="-122"/>
                <a:cs typeface="Segoe UI" pitchFamily="34" charset="-120"/>
              </a:rPr>
              <a:t>Application for wagon handover  ·  1 step</a:t>
            </a:r>
            <a:endParaRPr lang="en-US" sz="950" dirty="0"/>
          </a:p>
        </p:txBody>
      </p:sp>
      <p:sp>
        <p:nvSpPr>
          <p:cNvPr id="13" name="Text 11"/>
          <p:cNvSpPr/>
          <p:nvPr/>
        </p:nvSpPr>
        <p:spPr>
          <a:xfrm>
            <a:off x="8092440" y="2240280"/>
            <a:ext cx="3520440" cy="4069080"/>
          </a:xfrm>
          <a:prstGeom prst="roundRect">
            <a:avLst>
              <a:gd name="adj" fmla="val 2078"/>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4" name="Text 12"/>
          <p:cNvSpPr/>
          <p:nvPr/>
        </p:nvSpPr>
        <p:spPr>
          <a:xfrm>
            <a:off x="8257032" y="2350008"/>
            <a:ext cx="319125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WAITS FOR ITS STEP · 19</a:t>
            </a:r>
            <a:endParaRPr lang="en-US" sz="950" dirty="0"/>
          </a:p>
        </p:txBody>
      </p:sp>
      <p:sp>
        <p:nvSpPr>
          <p:cNvPr id="15" name="Text 13"/>
          <p:cNvSpPr/>
          <p:nvPr/>
        </p:nvSpPr>
        <p:spPr>
          <a:xfrm>
            <a:off x="8275320" y="2606040"/>
            <a:ext cx="3200400" cy="3657600"/>
          </a:xfrm>
          <a:prstGeom prst="rect">
            <a:avLst/>
          </a:prstGeom>
          <a:noFill/>
          <a:ln/>
        </p:spPr>
        <p:txBody>
          <a:bodyPr wrap="square" lIns="0" tIns="0" rIns="0" bIns="0" rtlCol="0" anchor="t"/>
          <a:lstStyle/>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Payment sum, cost on contract</a:t>
            </a:r>
            <a:endParaRPr lang="en-US" sz="1000" dirty="0"/>
          </a:p>
          <a:p>
            <a:pPr algn="l" indent="0" marL="0">
              <a:lnSpc>
                <a:spcPct val="105000"/>
              </a:lnSpc>
              <a:spcAft>
                <a:spcPts val="300"/>
              </a:spcAft>
              <a:buNone/>
            </a:pPr>
            <a:r>
              <a:rPr lang="en-US" sz="950" dirty="0">
                <a:solidFill>
                  <a:srgbClr val="64748B"/>
                </a:solidFill>
                <a:latin typeface="Segoe UI" pitchFamily="34" charset="0"/>
                <a:ea typeface="Segoe UI" pitchFamily="34" charset="-122"/>
                <a:cs typeface="Segoe UI" pitchFamily="34" charset="-120"/>
              </a:rPr>
              <a:t>comes from the agency's offer</a:t>
            </a:r>
            <a:endParaRPr lang="en-US" sz="1000" dirty="0"/>
          </a:p>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Agreement with Technological Center</a:t>
            </a:r>
            <a:endParaRPr lang="en-US" sz="1000" dirty="0"/>
          </a:p>
          <a:p>
            <a:pPr algn="l" indent="0" marL="0">
              <a:lnSpc>
                <a:spcPct val="105000"/>
              </a:lnSpc>
              <a:spcAft>
                <a:spcPts val="300"/>
              </a:spcAft>
              <a:buNone/>
            </a:pPr>
            <a:r>
              <a:rPr lang="en-US" sz="950" dirty="0">
                <a:solidFill>
                  <a:srgbClr val="64748B"/>
                </a:solidFill>
                <a:latin typeface="Segoe UI" pitchFamily="34" charset="0"/>
                <a:ea typeface="Segoe UI" pitchFamily="34" charset="-122"/>
                <a:cs typeface="Segoe UI" pitchFamily="34" charset="-120"/>
              </a:rPr>
              <a:t>concluded during the procedure</a:t>
            </a:r>
            <a:endParaRPr lang="en-US" sz="1000" dirty="0"/>
          </a:p>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Agreement on railway services</a:t>
            </a:r>
            <a:endParaRPr lang="en-US" sz="1000" dirty="0"/>
          </a:p>
          <a:p>
            <a:pPr algn="l" indent="0" marL="0">
              <a:lnSpc>
                <a:spcPct val="105000"/>
              </a:lnSpc>
              <a:spcAft>
                <a:spcPts val="300"/>
              </a:spcAft>
              <a:buNone/>
            </a:pPr>
            <a:r>
              <a:rPr lang="en-US" sz="950" dirty="0">
                <a:solidFill>
                  <a:srgbClr val="64748B"/>
                </a:solidFill>
                <a:latin typeface="Segoe UI" pitchFamily="34" charset="0"/>
                <a:ea typeface="Segoe UI" pitchFamily="34" charset="-122"/>
                <a:cs typeface="Segoe UI" pitchFamily="34" charset="-120"/>
              </a:rPr>
              <a:t>signed with the forwarder earlier</a:t>
            </a:r>
            <a:endParaRPr lang="en-US" sz="1000" dirty="0"/>
          </a:p>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Online applications (phyto, CoO)</a:t>
            </a:r>
            <a:endParaRPr lang="en-US" sz="1000" dirty="0"/>
          </a:p>
          <a:p>
            <a:pPr algn="l" indent="0" marL="0">
              <a:lnSpc>
                <a:spcPct val="105000"/>
              </a:lnSpc>
              <a:spcAft>
                <a:spcPts val="300"/>
              </a:spcAft>
              <a:buNone/>
            </a:pPr>
            <a:r>
              <a:rPr lang="en-US" sz="950" dirty="0">
                <a:solidFill>
                  <a:srgbClr val="64748B"/>
                </a:solidFill>
                <a:latin typeface="Segoe UI" pitchFamily="34" charset="0"/>
                <a:ea typeface="Segoe UI" pitchFamily="34" charset="-122"/>
                <a:cs typeface="Segoe UI" pitchFamily="34" charset="-120"/>
              </a:rPr>
              <a:t>filled in on the portal at the step</a:t>
            </a:r>
            <a:endParaRPr lang="en-US" sz="1000" dirty="0"/>
          </a:p>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Invoice for prepayment</a:t>
            </a:r>
            <a:endParaRPr lang="en-US" sz="1000" dirty="0"/>
          </a:p>
          <a:p>
            <a:pPr algn="l" indent="0" marL="0">
              <a:lnSpc>
                <a:spcPct val="105000"/>
              </a:lnSpc>
              <a:spcAft>
                <a:spcPts val="300"/>
              </a:spcAft>
              <a:buNone/>
            </a:pPr>
            <a:r>
              <a:rPr lang="en-US" sz="950" dirty="0">
                <a:solidFill>
                  <a:srgbClr val="64748B"/>
                </a:solidFill>
                <a:latin typeface="Segoe UI" pitchFamily="34" charset="0"/>
                <a:ea typeface="Segoe UI" pitchFamily="34" charset="-122"/>
                <a:cs typeface="Segoe UI" pitchFamily="34" charset="-120"/>
              </a:rPr>
              <a:t>issued after contracting the provider</a:t>
            </a:r>
            <a:endParaRPr lang="en-US" sz="1000" dirty="0"/>
          </a:p>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Iran approval letter</a:t>
            </a:r>
            <a:endParaRPr lang="en-US" sz="1000" dirty="0"/>
          </a:p>
          <a:p>
            <a:pPr algn="l" indent="0" marL="0">
              <a:lnSpc>
                <a:spcPct val="105000"/>
              </a:lnSpc>
              <a:spcAft>
                <a:spcPts val="300"/>
              </a:spcAft>
              <a:buNone/>
            </a:pPr>
            <a:r>
              <a:rPr lang="en-US" sz="950" dirty="0">
                <a:solidFill>
                  <a:srgbClr val="64748B"/>
                </a:solidFill>
                <a:latin typeface="Segoe UI" pitchFamily="34" charset="0"/>
                <a:ea typeface="Segoe UI" pitchFamily="34" charset="-122"/>
                <a:cs typeface="Segoe UI" pitchFamily="34" charset="-120"/>
              </a:rPr>
              <a:t>only for routes through Iran</a:t>
            </a:r>
            <a:endParaRPr lang="en-US" sz="1000" dirty="0"/>
          </a:p>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Receipts ×7, SMGS, certificates</a:t>
            </a:r>
            <a:endParaRPr lang="en-US" sz="1000" dirty="0"/>
          </a:p>
          <a:p>
            <a:pPr algn="l" indent="0" marL="0">
              <a:lnSpc>
                <a:spcPct val="105000"/>
              </a:lnSpc>
              <a:spcAft>
                <a:spcPts val="300"/>
              </a:spcAft>
              <a:buNone/>
            </a:pPr>
            <a:r>
              <a:rPr lang="en-US" sz="950" dirty="0">
                <a:solidFill>
                  <a:srgbClr val="64748B"/>
                </a:solidFill>
                <a:latin typeface="Segoe UI" pitchFamily="34" charset="0"/>
                <a:ea typeface="Segoe UI" pitchFamily="34" charset="-122"/>
                <a:cs typeface="Segoe UI" pitchFamily="34" charset="-120"/>
              </a:rPr>
              <a:t>outputs produced at their step</a:t>
            </a:r>
            <a:endParaRPr lang="en-US" sz="1000" dirty="0"/>
          </a:p>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Package of documents</a:t>
            </a:r>
            <a:endParaRPr lang="en-US" sz="1000" dirty="0"/>
          </a:p>
          <a:p>
            <a:pPr algn="l" indent="0" marL="0">
              <a:lnSpc>
                <a:spcPct val="105000"/>
              </a:lnSpc>
              <a:spcAft>
                <a:spcPts val="300"/>
              </a:spcAft>
              <a:buNone/>
            </a:pPr>
            <a:r>
              <a:rPr lang="en-US" sz="950" dirty="0">
                <a:solidFill>
                  <a:srgbClr val="64748B"/>
                </a:solidFill>
                <a:latin typeface="Segoe UI" pitchFamily="34" charset="0"/>
                <a:ea typeface="Segoe UI" pitchFamily="34" charset="-122"/>
                <a:cs typeface="Segoe UI" pitchFamily="34" charset="-120"/>
              </a:rPr>
              <a:t>assembled from produced documents</a:t>
            </a:r>
            <a:endParaRPr lang="en-US" sz="10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04 · WORKFLOW ORCHESTRATOR</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One node per step; a step moves only when its needs are met</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LangGraph orchestrator over persisted workflow nodes, work items, agent runs and an audit trail</a:t>
            </a:r>
            <a:endParaRPr lang="en-US" sz="1200" dirty="0"/>
          </a:p>
        </p:txBody>
      </p:sp>
      <p:sp>
        <p:nvSpPr>
          <p:cNvPr id="6" name="Text 4"/>
          <p:cNvSpPr/>
          <p:nvPr/>
        </p:nvSpPr>
        <p:spPr>
          <a:xfrm>
            <a:off x="731520" y="1554480"/>
            <a:ext cx="6309360" cy="4754880"/>
          </a:xfrm>
          <a:prstGeom prst="roundRect">
            <a:avLst>
              <a:gd name="adj" fmla="val 1538"/>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7" name="Text 5"/>
          <p:cNvSpPr/>
          <p:nvPr/>
        </p:nvSpPr>
        <p:spPr>
          <a:xfrm>
            <a:off x="896112" y="1664208"/>
            <a:ext cx="598017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NODE LIFECYCLE</a:t>
            </a:r>
            <a:endParaRPr lang="en-US" sz="950" dirty="0"/>
          </a:p>
        </p:txBody>
      </p:sp>
      <p:sp>
        <p:nvSpPr>
          <p:cNvPr id="8" name="Text 6"/>
          <p:cNvSpPr/>
          <p:nvPr/>
        </p:nvSpPr>
        <p:spPr>
          <a:xfrm>
            <a:off x="914400" y="2148840"/>
            <a:ext cx="1325880" cy="502920"/>
          </a:xfrm>
          <a:prstGeom prst="roundRect">
            <a:avLst>
              <a:gd name="adj" fmla="val 10909"/>
            </a:avLst>
          </a:prstGeom>
          <a:solidFill>
            <a:srgbClr val="F1F5F9"/>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475569"/>
                </a:solidFill>
                <a:latin typeface="Segoe UI" pitchFamily="34" charset="0"/>
                <a:ea typeface="Segoe UI" pitchFamily="34" charset="-122"/>
                <a:cs typeface="Segoe UI" pitchFamily="34" charset="-120"/>
              </a:rPr>
              <a:t>Waiting</a:t>
            </a:r>
            <a:endParaRPr lang="en-US" sz="1100" dirty="0"/>
          </a:p>
        </p:txBody>
      </p:sp>
      <p:sp>
        <p:nvSpPr>
          <p:cNvPr id="9" name="Text 7"/>
          <p:cNvSpPr/>
          <p:nvPr/>
        </p:nvSpPr>
        <p:spPr>
          <a:xfrm>
            <a:off x="2651760" y="2148840"/>
            <a:ext cx="1325880" cy="502920"/>
          </a:xfrm>
          <a:prstGeom prst="roundRect">
            <a:avLst>
              <a:gd name="adj" fmla="val 10909"/>
            </a:avLst>
          </a:prstGeom>
          <a:solidFill>
            <a:srgbClr val="EAF1FF"/>
          </a:solidFill>
          <a:ln w="12700">
            <a:solidFill>
              <a:srgbClr val="2563EB"/>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Ready</a:t>
            </a:r>
            <a:endParaRPr lang="en-US" sz="1100" dirty="0"/>
          </a:p>
        </p:txBody>
      </p:sp>
      <p:sp>
        <p:nvSpPr>
          <p:cNvPr id="10" name="Text 8"/>
          <p:cNvSpPr/>
          <p:nvPr/>
        </p:nvSpPr>
        <p:spPr>
          <a:xfrm>
            <a:off x="4937760" y="2148840"/>
            <a:ext cx="1325880" cy="502920"/>
          </a:xfrm>
          <a:prstGeom prst="roundRect">
            <a:avLst>
              <a:gd name="adj" fmla="val 10909"/>
            </a:avLst>
          </a:prstGeom>
          <a:solidFill>
            <a:srgbClr val="EAF1FF"/>
          </a:solidFill>
          <a:ln w="12700">
            <a:solidFill>
              <a:srgbClr val="2563EB"/>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Running</a:t>
            </a:r>
            <a:endParaRPr lang="en-US" sz="1100" dirty="0"/>
          </a:p>
        </p:txBody>
      </p:sp>
      <p:sp>
        <p:nvSpPr>
          <p:cNvPr id="11" name="Shape 9"/>
          <p:cNvSpPr/>
          <p:nvPr/>
        </p:nvSpPr>
        <p:spPr>
          <a:xfrm>
            <a:off x="2240280" y="2395728"/>
            <a:ext cx="411480" cy="914"/>
          </a:xfrm>
          <a:prstGeom prst="line">
            <a:avLst/>
          </a:prstGeom>
          <a:noFill/>
          <a:ln w="19050">
            <a:solidFill>
              <a:srgbClr val="2563EB"/>
            </a:solidFill>
            <a:prstDash val="solid"/>
            <a:tailEnd type="triangle"/>
          </a:ln>
        </p:spPr>
      </p:sp>
      <p:sp>
        <p:nvSpPr>
          <p:cNvPr id="12" name="Text 10"/>
          <p:cNvSpPr/>
          <p:nvPr/>
        </p:nvSpPr>
        <p:spPr>
          <a:xfrm>
            <a:off x="914400" y="1874520"/>
            <a:ext cx="1737360" cy="256032"/>
          </a:xfrm>
          <a:prstGeom prst="rect">
            <a:avLst/>
          </a:prstGeom>
          <a:noFill/>
          <a:ln/>
        </p:spPr>
        <p:txBody>
          <a:bodyPr wrap="square" lIns="0" tIns="0" rIns="0" bIns="0" rtlCol="0" anchor="t"/>
          <a:lstStyle/>
          <a:p>
            <a:pPr algn="l" indent="0" marL="0">
              <a:lnSpc>
                <a:spcPct val="105000"/>
              </a:lnSpc>
              <a:spcAft>
                <a:spcPts val="200"/>
              </a:spcAft>
              <a:buNone/>
            </a:pPr>
            <a:r>
              <a:rPr lang="en-US" sz="850" dirty="0">
                <a:solidFill>
                  <a:srgbClr val="64748B"/>
                </a:solidFill>
                <a:latin typeface="Segoe UI" pitchFamily="34" charset="0"/>
                <a:ea typeface="Segoe UI" pitchFamily="34" charset="-122"/>
                <a:cs typeface="Segoe UI" pitchFamily="34" charset="-120"/>
              </a:rPr>
              <a:t>dependencies done</a:t>
            </a:r>
            <a:endParaRPr lang="en-US" sz="850" dirty="0"/>
          </a:p>
        </p:txBody>
      </p:sp>
      <p:sp>
        <p:nvSpPr>
          <p:cNvPr id="13" name="Shape 11"/>
          <p:cNvSpPr/>
          <p:nvPr/>
        </p:nvSpPr>
        <p:spPr>
          <a:xfrm>
            <a:off x="3977640" y="2395728"/>
            <a:ext cx="960120" cy="914"/>
          </a:xfrm>
          <a:prstGeom prst="line">
            <a:avLst/>
          </a:prstGeom>
          <a:noFill/>
          <a:ln w="19050">
            <a:solidFill>
              <a:srgbClr val="2563EB"/>
            </a:solidFill>
            <a:prstDash val="solid"/>
            <a:tailEnd type="triangle"/>
          </a:ln>
        </p:spPr>
      </p:sp>
      <p:sp>
        <p:nvSpPr>
          <p:cNvPr id="14" name="Text 12"/>
          <p:cNvSpPr/>
          <p:nvPr/>
        </p:nvSpPr>
        <p:spPr>
          <a:xfrm>
            <a:off x="4023360" y="2130552"/>
            <a:ext cx="914400" cy="256032"/>
          </a:xfrm>
          <a:prstGeom prst="rect">
            <a:avLst/>
          </a:prstGeom>
          <a:noFill/>
          <a:ln/>
        </p:spPr>
        <p:txBody>
          <a:bodyPr wrap="square" lIns="0" tIns="0" rIns="0" bIns="0" rtlCol="0" anchor="t"/>
          <a:lstStyle/>
          <a:p>
            <a:pPr algn="l" indent="0" marL="0">
              <a:lnSpc>
                <a:spcPct val="105000"/>
              </a:lnSpc>
              <a:spcAft>
                <a:spcPts val="200"/>
              </a:spcAft>
              <a:buNone/>
            </a:pPr>
            <a:r>
              <a:rPr lang="en-US" sz="850" dirty="0">
                <a:solidFill>
                  <a:srgbClr val="2563EB"/>
                </a:solidFill>
                <a:latin typeface="Segoe UI" pitchFamily="34" charset="0"/>
                <a:ea typeface="Segoe UI" pitchFamily="34" charset="-122"/>
                <a:cs typeface="Segoe UI" pitchFamily="34" charset="-120"/>
              </a:rPr>
              <a:t>agent lane</a:t>
            </a:r>
            <a:endParaRPr lang="en-US" sz="850" dirty="0"/>
          </a:p>
        </p:txBody>
      </p:sp>
      <p:sp>
        <p:nvSpPr>
          <p:cNvPr id="15" name="Text 13"/>
          <p:cNvSpPr/>
          <p:nvPr/>
        </p:nvSpPr>
        <p:spPr>
          <a:xfrm>
            <a:off x="2651760" y="3657600"/>
            <a:ext cx="1325880" cy="685800"/>
          </a:xfrm>
          <a:prstGeom prst="roundRect">
            <a:avLst>
              <a:gd name="adj" fmla="val 8000"/>
            </a:avLst>
          </a:prstGeom>
          <a:solidFill>
            <a:srgbClr val="FEF3E2"/>
          </a:solidFill>
          <a:ln w="12700">
            <a:solidFill>
              <a:srgbClr val="B45309"/>
            </a:solidFill>
            <a:prstDash val="solid"/>
          </a:ln>
        </p:spPr>
        <p:txBody>
          <a:bodyPr wrap="square" lIns="76200" tIns="76200" rIns="76200" bIns="76200" rtlCol="0" anchor="ctr"/>
          <a:lstStyle/>
          <a:p>
            <a:pPr algn="ctr" indent="0" marL="0">
              <a:buNone/>
            </a:pPr>
            <a:r>
              <a:rPr lang="en-US" sz="1100" b="1" dirty="0">
                <a:solidFill>
                  <a:srgbClr val="B45309"/>
                </a:solidFill>
                <a:latin typeface="Segoe UI" pitchFamily="34" charset="0"/>
                <a:ea typeface="Segoe UI" pitchFamily="34" charset="-122"/>
                <a:cs typeface="Segoe UI" pitchFamily="34" charset="-120"/>
              </a:rPr>
              <a:t>Needs input</a:t>
            </a:r>
            <a:endParaRPr lang="en-US" sz="1100" dirty="0"/>
          </a:p>
          <a:p>
            <a:pPr algn="ctr" indent="0" marL="0">
              <a:buNone/>
            </a:pPr>
            <a:r>
              <a:rPr lang="en-US" sz="800" b="1" dirty="0">
                <a:solidFill>
                  <a:srgbClr val="B45309"/>
                </a:solidFill>
                <a:latin typeface="Segoe UI" pitchFamily="34" charset="0"/>
                <a:ea typeface="Segoe UI" pitchFamily="34" charset="-122"/>
                <a:cs typeface="Segoe UI" pitchFamily="34" charset="-120"/>
              </a:rPr>
              <a:t>agent resumes itself once provided</a:t>
            </a:r>
            <a:endParaRPr lang="en-US" sz="1100" dirty="0"/>
          </a:p>
        </p:txBody>
      </p:sp>
      <p:sp>
        <p:nvSpPr>
          <p:cNvPr id="16" name="Shape 14"/>
          <p:cNvSpPr/>
          <p:nvPr/>
        </p:nvSpPr>
        <p:spPr>
          <a:xfrm>
            <a:off x="3310128" y="2651760"/>
            <a:ext cx="914" cy="1005840"/>
          </a:xfrm>
          <a:prstGeom prst="line">
            <a:avLst/>
          </a:prstGeom>
          <a:noFill/>
          <a:ln w="19050">
            <a:solidFill>
              <a:srgbClr val="7C3AED"/>
            </a:solidFill>
            <a:prstDash val="solid"/>
            <a:tailEnd type="triangle"/>
          </a:ln>
        </p:spPr>
      </p:sp>
      <p:sp>
        <p:nvSpPr>
          <p:cNvPr id="17" name="Text 15"/>
          <p:cNvSpPr/>
          <p:nvPr/>
        </p:nvSpPr>
        <p:spPr>
          <a:xfrm>
            <a:off x="914400" y="2926080"/>
            <a:ext cx="2286000" cy="548640"/>
          </a:xfrm>
          <a:prstGeom prst="rect">
            <a:avLst/>
          </a:prstGeom>
          <a:noFill/>
          <a:ln/>
        </p:spPr>
        <p:txBody>
          <a:bodyPr wrap="square" lIns="0" tIns="0" rIns="0" bIns="0" rtlCol="0" anchor="t"/>
          <a:lstStyle/>
          <a:p>
            <a:pPr algn="r" indent="0" marL="0">
              <a:lnSpc>
                <a:spcPct val="105000"/>
              </a:lnSpc>
              <a:spcAft>
                <a:spcPts val="200"/>
              </a:spcAft>
              <a:buNone/>
            </a:pPr>
            <a:r>
              <a:rPr lang="en-US" sz="850" dirty="0">
                <a:solidFill>
                  <a:srgbClr val="7C3AED"/>
                </a:solidFill>
                <a:latin typeface="Segoe UI" pitchFamily="34" charset="0"/>
                <a:ea typeface="Segoe UI" pitchFamily="34" charset="-122"/>
                <a:cs typeface="Segoe UI" pitchFamily="34" charset="-120"/>
              </a:rPr>
              <a:t>trader / goods lane: a work item opens</a:t>
            </a:r>
            <a:endParaRPr lang="en-US" sz="850" dirty="0"/>
          </a:p>
        </p:txBody>
      </p:sp>
      <p:sp>
        <p:nvSpPr>
          <p:cNvPr id="18" name="Shape 16"/>
          <p:cNvSpPr/>
          <p:nvPr/>
        </p:nvSpPr>
        <p:spPr>
          <a:xfrm flipH="1">
            <a:off x="3977640" y="2651760"/>
            <a:ext cx="1097280" cy="1097280"/>
          </a:xfrm>
          <a:prstGeom prst="line">
            <a:avLst/>
          </a:prstGeom>
          <a:noFill/>
          <a:ln w="19050">
            <a:solidFill>
              <a:srgbClr val="B45309"/>
            </a:solidFill>
            <a:prstDash val="solid"/>
            <a:tailEnd type="triangle"/>
          </a:ln>
        </p:spPr>
      </p:sp>
      <p:sp>
        <p:nvSpPr>
          <p:cNvPr id="19" name="Text 17"/>
          <p:cNvSpPr/>
          <p:nvPr/>
        </p:nvSpPr>
        <p:spPr>
          <a:xfrm>
            <a:off x="5120640" y="2788920"/>
            <a:ext cx="914400" cy="731520"/>
          </a:xfrm>
          <a:prstGeom prst="rect">
            <a:avLst/>
          </a:prstGeom>
          <a:noFill/>
          <a:ln/>
        </p:spPr>
        <p:txBody>
          <a:bodyPr wrap="square" lIns="0" tIns="0" rIns="0" bIns="0" rtlCol="0" anchor="t"/>
          <a:lstStyle/>
          <a:p>
            <a:pPr algn="l" indent="0" marL="0">
              <a:lnSpc>
                <a:spcPct val="105000"/>
              </a:lnSpc>
              <a:spcAft>
                <a:spcPts val="200"/>
              </a:spcAft>
              <a:buNone/>
            </a:pPr>
            <a:r>
              <a:rPr lang="en-US" sz="850" dirty="0">
                <a:solidFill>
                  <a:srgbClr val="B45309"/>
                </a:solidFill>
                <a:latin typeface="Segoe UI" pitchFamily="34" charset="0"/>
                <a:ea typeface="Segoe UI" pitchFamily="34" charset="-122"/>
                <a:cs typeface="Segoe UI" pitchFamily="34" charset="-120"/>
              </a:rPr>
              <a:t>agent missing inputs: pauses</a:t>
            </a:r>
            <a:endParaRPr lang="en-US" sz="850" dirty="0"/>
          </a:p>
        </p:txBody>
      </p:sp>
      <p:sp>
        <p:nvSpPr>
          <p:cNvPr id="20" name="Text 18"/>
          <p:cNvSpPr/>
          <p:nvPr/>
        </p:nvSpPr>
        <p:spPr>
          <a:xfrm>
            <a:off x="914400" y="5257800"/>
            <a:ext cx="1325880" cy="502920"/>
          </a:xfrm>
          <a:prstGeom prst="roundRect">
            <a:avLst>
              <a:gd name="adj" fmla="val 10909"/>
            </a:avLst>
          </a:prstGeom>
          <a:solidFill>
            <a:srgbClr val="F1F5F9"/>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475569"/>
                </a:solidFill>
                <a:latin typeface="Segoe UI" pitchFamily="34" charset="0"/>
                <a:ea typeface="Segoe UI" pitchFamily="34" charset="-122"/>
                <a:cs typeface="Segoe UI" pitchFamily="34" charset="-120"/>
              </a:rPr>
              <a:t>Skipped</a:t>
            </a:r>
            <a:endParaRPr lang="en-US" sz="1100" dirty="0"/>
          </a:p>
        </p:txBody>
      </p:sp>
      <p:sp>
        <p:nvSpPr>
          <p:cNvPr id="21" name="Text 19"/>
          <p:cNvSpPr/>
          <p:nvPr/>
        </p:nvSpPr>
        <p:spPr>
          <a:xfrm>
            <a:off x="4937760" y="5257800"/>
            <a:ext cx="1325880" cy="502920"/>
          </a:xfrm>
          <a:prstGeom prst="roundRect">
            <a:avLst>
              <a:gd name="adj" fmla="val 10909"/>
            </a:avLst>
          </a:prstGeom>
          <a:solidFill>
            <a:srgbClr val="E7F6EF"/>
          </a:solidFill>
          <a:ln w="12700">
            <a:solidFill>
              <a:srgbClr val="047857"/>
            </a:solidFill>
            <a:prstDash val="solid"/>
          </a:ln>
        </p:spPr>
        <p:txBody>
          <a:bodyPr wrap="square" lIns="76200" tIns="76200" rIns="76200" bIns="76200" rtlCol="0" anchor="ctr"/>
          <a:lstStyle/>
          <a:p>
            <a:pPr algn="ctr" indent="0" marL="0">
              <a:buNone/>
            </a:pPr>
            <a:r>
              <a:rPr lang="en-US" sz="1100" b="1" dirty="0">
                <a:solidFill>
                  <a:srgbClr val="047857"/>
                </a:solidFill>
                <a:latin typeface="Segoe UI" pitchFamily="34" charset="0"/>
                <a:ea typeface="Segoe UI" pitchFamily="34" charset="-122"/>
                <a:cs typeface="Segoe UI" pitchFamily="34" charset="-120"/>
              </a:rPr>
              <a:t>Completed</a:t>
            </a:r>
            <a:endParaRPr lang="en-US" sz="1100" dirty="0"/>
          </a:p>
        </p:txBody>
      </p:sp>
      <p:sp>
        <p:nvSpPr>
          <p:cNvPr id="22" name="Shape 20"/>
          <p:cNvSpPr/>
          <p:nvPr/>
        </p:nvSpPr>
        <p:spPr>
          <a:xfrm>
            <a:off x="6126480" y="2651760"/>
            <a:ext cx="914" cy="2606040"/>
          </a:xfrm>
          <a:prstGeom prst="line">
            <a:avLst/>
          </a:prstGeom>
          <a:noFill/>
          <a:ln w="19050">
            <a:solidFill>
              <a:srgbClr val="047857"/>
            </a:solidFill>
            <a:prstDash val="solid"/>
            <a:tailEnd type="triangle"/>
          </a:ln>
        </p:spPr>
      </p:sp>
      <p:sp>
        <p:nvSpPr>
          <p:cNvPr id="23" name="Text 21"/>
          <p:cNvSpPr/>
          <p:nvPr/>
        </p:nvSpPr>
        <p:spPr>
          <a:xfrm>
            <a:off x="6199632" y="3657600"/>
            <a:ext cx="777240" cy="548640"/>
          </a:xfrm>
          <a:prstGeom prst="rect">
            <a:avLst/>
          </a:prstGeom>
          <a:noFill/>
          <a:ln/>
        </p:spPr>
        <p:txBody>
          <a:bodyPr wrap="square" lIns="0" tIns="0" rIns="0" bIns="0" rtlCol="0" anchor="t"/>
          <a:lstStyle/>
          <a:p>
            <a:pPr algn="l" indent="0" marL="0">
              <a:lnSpc>
                <a:spcPct val="105000"/>
              </a:lnSpc>
              <a:spcAft>
                <a:spcPts val="200"/>
              </a:spcAft>
              <a:buNone/>
            </a:pPr>
            <a:r>
              <a:rPr lang="en-US" sz="850" dirty="0">
                <a:solidFill>
                  <a:srgbClr val="047857"/>
                </a:solidFill>
                <a:latin typeface="Segoe UI" pitchFamily="34" charset="0"/>
                <a:ea typeface="Segoe UI" pitchFamily="34" charset="-122"/>
                <a:cs typeface="Segoe UI" pitchFamily="34" charset="-120"/>
              </a:rPr>
              <a:t>agent step done</a:t>
            </a:r>
            <a:endParaRPr lang="en-US" sz="850" dirty="0"/>
          </a:p>
        </p:txBody>
      </p:sp>
      <p:sp>
        <p:nvSpPr>
          <p:cNvPr id="24" name="Shape 22"/>
          <p:cNvSpPr/>
          <p:nvPr/>
        </p:nvSpPr>
        <p:spPr>
          <a:xfrm>
            <a:off x="3657600" y="4343400"/>
            <a:ext cx="1280160" cy="1161288"/>
          </a:xfrm>
          <a:prstGeom prst="line">
            <a:avLst/>
          </a:prstGeom>
          <a:noFill/>
          <a:ln w="19050">
            <a:solidFill>
              <a:srgbClr val="047857"/>
            </a:solidFill>
            <a:prstDash val="solid"/>
            <a:tailEnd type="triangle"/>
          </a:ln>
        </p:spPr>
      </p:sp>
      <p:sp>
        <p:nvSpPr>
          <p:cNvPr id="25" name="Text 23"/>
          <p:cNvSpPr/>
          <p:nvPr/>
        </p:nvSpPr>
        <p:spPr>
          <a:xfrm>
            <a:off x="1737360" y="4526280"/>
            <a:ext cx="2194560" cy="640080"/>
          </a:xfrm>
          <a:prstGeom prst="rect">
            <a:avLst/>
          </a:prstGeom>
          <a:noFill/>
          <a:ln/>
        </p:spPr>
        <p:txBody>
          <a:bodyPr wrap="square" lIns="0" tIns="0" rIns="0" bIns="0" rtlCol="0" anchor="t"/>
          <a:lstStyle/>
          <a:p>
            <a:pPr algn="r" indent="0" marL="0">
              <a:lnSpc>
                <a:spcPct val="105000"/>
              </a:lnSpc>
              <a:spcAft>
                <a:spcPts val="200"/>
              </a:spcAft>
              <a:buNone/>
            </a:pPr>
            <a:r>
              <a:rPr lang="en-US" sz="850" dirty="0">
                <a:solidFill>
                  <a:srgbClr val="047857"/>
                </a:solidFill>
                <a:latin typeface="Segoe UI" pitchFamily="34" charset="0"/>
                <a:ea typeface="Segoe UI" pitchFamily="34" charset="-122"/>
                <a:cs typeface="Segoe UI" pitchFamily="34" charset="-120"/>
              </a:rPr>
              <a:t>one click — gated: HTTP 422 with the list if anything is missing</a:t>
            </a:r>
            <a:endParaRPr lang="en-US" sz="850" dirty="0"/>
          </a:p>
        </p:txBody>
      </p:sp>
      <p:sp>
        <p:nvSpPr>
          <p:cNvPr id="26" name="Shape 24"/>
          <p:cNvSpPr/>
          <p:nvPr/>
        </p:nvSpPr>
        <p:spPr>
          <a:xfrm>
            <a:off x="1572768" y="2651760"/>
            <a:ext cx="914" cy="2606040"/>
          </a:xfrm>
          <a:prstGeom prst="line">
            <a:avLst/>
          </a:prstGeom>
          <a:noFill/>
          <a:ln w="12700">
            <a:solidFill>
              <a:srgbClr val="94A3B8"/>
            </a:solidFill>
            <a:prstDash val="dash"/>
            <a:tailEnd type="triangle"/>
          </a:ln>
        </p:spPr>
      </p:sp>
      <p:sp>
        <p:nvSpPr>
          <p:cNvPr id="27" name="Text 25"/>
          <p:cNvSpPr/>
          <p:nvPr/>
        </p:nvSpPr>
        <p:spPr>
          <a:xfrm>
            <a:off x="1645920" y="3703320"/>
            <a:ext cx="868680" cy="548640"/>
          </a:xfrm>
          <a:prstGeom prst="rect">
            <a:avLst/>
          </a:prstGeom>
          <a:noFill/>
          <a:ln/>
        </p:spPr>
        <p:txBody>
          <a:bodyPr wrap="square" lIns="0" tIns="0" rIns="0" bIns="0" rtlCol="0" anchor="t"/>
          <a:lstStyle/>
          <a:p>
            <a:pPr algn="l" indent="0" marL="0">
              <a:lnSpc>
                <a:spcPct val="105000"/>
              </a:lnSpc>
              <a:spcAft>
                <a:spcPts val="200"/>
              </a:spcAft>
              <a:buNone/>
            </a:pPr>
            <a:r>
              <a:rPr lang="en-US" sz="850" dirty="0">
                <a:solidFill>
                  <a:srgbClr val="64748B"/>
                </a:solidFill>
                <a:latin typeface="Segoe UI" pitchFamily="34" charset="0"/>
                <a:ea typeface="Segoe UI" pitchFamily="34" charset="-122"/>
                <a:cs typeface="Segoe UI" pitchFamily="34" charset="-120"/>
              </a:rPr>
              <a:t>optional route not taken</a:t>
            </a:r>
            <a:endParaRPr lang="en-US" sz="850" dirty="0"/>
          </a:p>
        </p:txBody>
      </p:sp>
      <p:sp>
        <p:nvSpPr>
          <p:cNvPr id="28" name="Text 26"/>
          <p:cNvSpPr/>
          <p:nvPr/>
        </p:nvSpPr>
        <p:spPr>
          <a:xfrm>
            <a:off x="7223760" y="1554480"/>
            <a:ext cx="4389120" cy="2331720"/>
          </a:xfrm>
          <a:prstGeom prst="roundRect">
            <a:avLst>
              <a:gd name="adj" fmla="val 3137"/>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29" name="Text 27"/>
          <p:cNvSpPr/>
          <p:nvPr/>
        </p:nvSpPr>
        <p:spPr>
          <a:xfrm>
            <a:off x="7388352" y="1664208"/>
            <a:ext cx="405993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DELEGATION — WHO EXECUTES A STEP</a:t>
            </a:r>
            <a:endParaRPr lang="en-US" sz="950" dirty="0"/>
          </a:p>
        </p:txBody>
      </p:sp>
      <p:sp>
        <p:nvSpPr>
          <p:cNvPr id="30" name="Text 28"/>
          <p:cNvSpPr/>
          <p:nvPr/>
        </p:nvSpPr>
        <p:spPr>
          <a:xfrm>
            <a:off x="7406640" y="1874520"/>
            <a:ext cx="4069080" cy="201168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00" dirty="0">
                <a:solidFill>
                  <a:srgbClr val="334155"/>
                </a:solidFill>
                <a:latin typeface="Segoe UI" pitchFamily="34" charset="0"/>
                <a:ea typeface="Segoe UI" pitchFamily="34" charset="-122"/>
                <a:cs typeface="Segoe UI" pitchFamily="34" charset="-120"/>
              </a:rPr>
              <a:t>Can the platform reach that portal? Single Window, railway portal, customs cabinet: yes · my.gov.uz, online banking: no</a:t>
            </a:r>
            <a:endParaRPr lang="en-US" sz="1000" dirty="0"/>
          </a:p>
          <a:p>
            <a:pPr marL="177800" indent="-177800">
              <a:lnSpc>
                <a:spcPct val="105000"/>
              </a:lnSpc>
              <a:spcAft>
                <a:spcPts val="400"/>
              </a:spcAft>
              <a:buSzPct val="100000"/>
              <a:buChar char="•"/>
            </a:pPr>
            <a:r>
              <a:rPr lang="en-US" sz="1000" dirty="0">
                <a:solidFill>
                  <a:srgbClr val="334155"/>
                </a:solidFill>
                <a:latin typeface="Segoe UI" pitchFamily="34" charset="0"/>
                <a:ea typeface="Segoe UI" pitchFamily="34" charset="-122"/>
                <a:cs typeface="Segoe UI" pitchFamily="34" charset="-120"/>
              </a:rPr>
              <a:t>Is it the trader's legal act? Contracts, signed declarations, payments stay with the trader</a:t>
            </a:r>
            <a:endParaRPr lang="en-US" sz="1000" dirty="0"/>
          </a:p>
          <a:p>
            <a:pPr marL="177800" indent="-177800">
              <a:lnSpc>
                <a:spcPct val="105000"/>
              </a:lnSpc>
              <a:spcAft>
                <a:spcPts val="400"/>
              </a:spcAft>
              <a:buSzPct val="100000"/>
              <a:buChar char="•"/>
            </a:pPr>
            <a:r>
              <a:rPr lang="en-US" sz="1000" dirty="0">
                <a:solidFill>
                  <a:srgbClr val="334155"/>
                </a:solidFill>
                <a:latin typeface="Segoe UI" pitchFamily="34" charset="0"/>
                <a:ea typeface="Segoe UI" pitchFamily="34" charset="-122"/>
                <a:cs typeface="Segoe UI" pitchFamily="34" charset="-120"/>
              </a:rPr>
              <a:t>Does it need the goods? Inspection, loading, dispatch are physical</a:t>
            </a:r>
            <a:endParaRPr lang="en-US" sz="1000" dirty="0"/>
          </a:p>
        </p:txBody>
      </p:sp>
      <p:sp>
        <p:nvSpPr>
          <p:cNvPr id="31" name="Text 29"/>
          <p:cNvSpPr/>
          <p:nvPr/>
        </p:nvSpPr>
        <p:spPr>
          <a:xfrm>
            <a:off x="7223760" y="4023360"/>
            <a:ext cx="4389120" cy="2286000"/>
          </a:xfrm>
          <a:prstGeom prst="roundRect">
            <a:avLst>
              <a:gd name="adj" fmla="val 3200"/>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32" name="Text 30"/>
          <p:cNvSpPr/>
          <p:nvPr/>
        </p:nvSpPr>
        <p:spPr>
          <a:xfrm>
            <a:off x="7388352" y="4133088"/>
            <a:ext cx="405993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FOR 868</a:t>
            </a:r>
            <a:endParaRPr lang="en-US" sz="950" dirty="0"/>
          </a:p>
        </p:txBody>
      </p:sp>
      <p:sp>
        <p:nvSpPr>
          <p:cNvPr id="33" name="Text 31"/>
          <p:cNvSpPr/>
          <p:nvPr/>
        </p:nvSpPr>
        <p:spPr>
          <a:xfrm>
            <a:off x="7406640" y="4343400"/>
            <a:ext cx="4069080" cy="1920240"/>
          </a:xfrm>
          <a:prstGeom prst="rect">
            <a:avLst/>
          </a:prstGeom>
          <a:noFill/>
          <a:ln/>
        </p:spPr>
        <p:txBody>
          <a:bodyPr wrap="square" lIns="0" tIns="0" rIns="0" bIns="0" rtlCol="0" anchor="t"/>
          <a:lstStyle/>
          <a:p>
            <a:pPr algn="l" indent="0" marL="0">
              <a:lnSpc>
                <a:spcPct val="105000"/>
              </a:lnSpc>
              <a:spcAft>
                <a:spcPts val="200"/>
              </a:spcAft>
              <a:buNone/>
            </a:pPr>
            <a:r>
              <a:rPr lang="en-US" sz="1100" b="1" dirty="0">
                <a:solidFill>
                  <a:srgbClr val="0B1F4D"/>
                </a:solidFill>
                <a:latin typeface="Segoe UI" pitchFamily="34" charset="0"/>
                <a:ea typeface="Segoe UI" pitchFamily="34" charset="-122"/>
                <a:cs typeface="Segoe UI" pitchFamily="34" charset="-120"/>
              </a:rPr>
              <a:t>31 you · 9 agent · 8 at the goods</a:t>
            </a:r>
            <a:endParaRPr lang="en-US" sz="1000" dirty="0"/>
          </a:p>
          <a:p>
            <a:pPr algn="l" indent="0" marL="0">
              <a:lnSpc>
                <a:spcPct val="105000"/>
              </a:lnSpc>
              <a:spcAft>
                <a:spcPts val="200"/>
              </a:spcAft>
              <a:buNone/>
            </a:pPr>
            <a:r>
              <a:rPr lang="en-US" sz="950" dirty="0">
                <a:solidFill>
                  <a:srgbClr val="64748B"/>
                </a:solidFill>
                <a:latin typeface="Segoe UI" pitchFamily="34" charset="0"/>
                <a:ea typeface="Segoe UI" pitchFamily="34" charset="-122"/>
                <a:cs typeface="Segoe UI" pitchFamily="34" charset="-120"/>
              </a:rPr>
              <a:t>Ready on case open:</a:t>
            </a:r>
            <a:endParaRPr lang="en-US" sz="1000" dirty="0"/>
          </a:p>
          <a:p>
            <a:pPr algn="l" indent="0" marL="0">
              <a:lnSpc>
                <a:spcPct val="105000"/>
              </a:lnSpc>
              <a:spcAft>
                <a:spcPts val="200"/>
              </a:spcAft>
              <a:buNone/>
            </a:pPr>
            <a:r>
              <a:rPr lang="en-US" sz="950" dirty="0">
                <a:solidFill>
                  <a:srgbClr val="334155"/>
                </a:solidFill>
                <a:latin typeface="Segoe UI" pitchFamily="34" charset="0"/>
                <a:ea typeface="Segoe UI" pitchFamily="34" charset="-122"/>
                <a:cs typeface="Segoe UI" pitchFamily="34" charset="-120"/>
              </a:rPr>
              <a:t>• 1 Register foreign trade contract in UEISFTO</a:t>
            </a:r>
            <a:endParaRPr lang="en-US" sz="1000" dirty="0"/>
          </a:p>
          <a:p>
            <a:pPr algn="l" indent="0" marL="0">
              <a:lnSpc>
                <a:spcPct val="105000"/>
              </a:lnSpc>
              <a:spcAft>
                <a:spcPts val="200"/>
              </a:spcAft>
              <a:buNone/>
            </a:pPr>
            <a:r>
              <a:rPr lang="en-US" sz="950" dirty="0">
                <a:solidFill>
                  <a:srgbClr val="334155"/>
                </a:solidFill>
                <a:latin typeface="Segoe UI" pitchFamily="34" charset="0"/>
                <a:ea typeface="Segoe UI" pitchFamily="34" charset="-122"/>
                <a:cs typeface="Segoe UI" pitchFamily="34" charset="-120"/>
              </a:rPr>
              <a:t>• 2 Conclude online agreement with Technological Center a…</a:t>
            </a:r>
            <a:endParaRPr lang="en-US" sz="1000" dirty="0"/>
          </a:p>
          <a:p>
            <a:pPr algn="l" indent="0" marL="0">
              <a:lnSpc>
                <a:spcPct val="105000"/>
              </a:lnSpc>
              <a:spcAft>
                <a:spcPts val="200"/>
              </a:spcAft>
              <a:buNone/>
            </a:pPr>
            <a:r>
              <a:rPr lang="en-US" sz="950" dirty="0">
                <a:solidFill>
                  <a:srgbClr val="334155"/>
                </a:solidFill>
                <a:latin typeface="Segoe UI" pitchFamily="34" charset="0"/>
                <a:ea typeface="Segoe UI" pitchFamily="34" charset="-122"/>
                <a:cs typeface="Segoe UI" pitchFamily="34" charset="-120"/>
              </a:rPr>
              <a:t>• 7 Request for freight transportation by railway</a:t>
            </a:r>
            <a:endParaRPr lang="en-US" sz="1000" dirty="0"/>
          </a:p>
          <a:p>
            <a:pPr algn="l" indent="0" marL="0">
              <a:lnSpc>
                <a:spcPct val="105000"/>
              </a:lnSpc>
              <a:spcAft>
                <a:spcPts val="200"/>
              </a:spcAft>
              <a:buNone/>
            </a:pPr>
            <a:r>
              <a:rPr lang="en-US" sz="950" dirty="0">
                <a:solidFill>
                  <a:srgbClr val="334155"/>
                </a:solidFill>
                <a:latin typeface="Segoe UI" pitchFamily="34" charset="0"/>
                <a:ea typeface="Segoe UI" pitchFamily="34" charset="-122"/>
                <a:cs typeface="Segoe UI" pitchFamily="34" charset="-120"/>
              </a:rPr>
              <a:t>• 11 Obtain offer agreement</a:t>
            </a:r>
            <a:endParaRPr lang="en-US" sz="1000" dirty="0"/>
          </a:p>
          <a:p>
            <a:pPr algn="l" indent="0" marL="0">
              <a:lnSpc>
                <a:spcPct val="105000"/>
              </a:lnSpc>
              <a:spcAft>
                <a:spcPts val="200"/>
              </a:spcAft>
              <a:buNone/>
            </a:pPr>
            <a:r>
              <a:rPr lang="en-US" sz="950" dirty="0">
                <a:solidFill>
                  <a:srgbClr val="334155"/>
                </a:solidFill>
                <a:latin typeface="Segoe UI" pitchFamily="34" charset="0"/>
                <a:ea typeface="Segoe UI" pitchFamily="34" charset="-122"/>
                <a:cs typeface="Segoe UI" pitchFamily="34" charset="-120"/>
              </a:rPr>
              <a:t>• 32 Conclude contract for services</a:t>
            </a:r>
            <a:endParaRPr lang="en-US" sz="1000" dirty="0"/>
          </a:p>
          <a:p>
            <a:pPr algn="l" indent="0" marL="0">
              <a:lnSpc>
                <a:spcPct val="105000"/>
              </a:lnSpc>
              <a:spcAft>
                <a:spcPts val="200"/>
              </a:spcAft>
              <a:buNone/>
            </a:pPr>
            <a:r>
              <a:rPr lang="en-US" sz="900" dirty="0">
                <a:solidFill>
                  <a:srgbClr val="64748B"/>
                </a:solidFill>
                <a:latin typeface="Segoe UI" pitchFamily="34" charset="0"/>
                <a:ea typeface="Segoe UI" pitchFamily="34" charset="-122"/>
                <a:cs typeface="Segoe UI" pitchFamily="34" charset="-120"/>
              </a:rPr>
              <a:t>KPIs: steps done · agent steps · ETA from the remaining critical path · time saved = 45 min × agent step + 1 min × auto-filled value</a:t>
            </a:r>
            <a:endParaRPr lang="en-US" sz="10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05 · DOCUMENT REQUIREMENTS</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How the system knows what each document must contain</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Nothing is hand-listed per case: needs are derived from the procedure text and document specimens</a:t>
            </a:r>
            <a:endParaRPr lang="en-US" sz="1200" dirty="0"/>
          </a:p>
        </p:txBody>
      </p:sp>
      <p:sp>
        <p:nvSpPr>
          <p:cNvPr id="6" name="Text 4"/>
          <p:cNvSpPr/>
          <p:nvPr/>
        </p:nvSpPr>
        <p:spPr>
          <a:xfrm>
            <a:off x="731520" y="1600200"/>
            <a:ext cx="2011680" cy="1097280"/>
          </a:xfrm>
          <a:prstGeom prst="roundRect">
            <a:avLst>
              <a:gd name="adj" fmla="val 5000"/>
            </a:avLst>
          </a:prstGeom>
          <a:solidFill>
            <a:srgbClr val="F8FAFC"/>
          </a:solidFill>
          <a:ln w="12700">
            <a:solidFill>
              <a:srgbClr val="D8DEE8"/>
            </a:solidFill>
            <a:prstDash val="solid"/>
          </a:ln>
        </p:spPr>
        <p:txBody>
          <a:bodyPr wrap="square" lIns="114300" tIns="114300" rIns="114300" bIns="114300" rtlCol="0" anchor="t"/>
          <a:lstStyle/>
          <a:p>
            <a:pPr algn="l" indent="0" marL="0">
              <a:buNone/>
            </a:pPr>
            <a:r>
              <a:rPr lang="en-US" sz="1250" b="1" dirty="0">
                <a:solidFill>
                  <a:srgbClr val="0B1F4D"/>
                </a:solidFill>
                <a:latin typeface="Segoe UI" pitchFamily="34" charset="0"/>
                <a:ea typeface="Segoe UI" pitchFamily="34" charset="-122"/>
                <a:cs typeface="Segoe UI" pitchFamily="34" charset="-120"/>
              </a:rPr>
              <a:t>Procedure document</a:t>
            </a:r>
            <a:endParaRPr lang="en-US" sz="1100" dirty="0"/>
          </a:p>
          <a:p>
            <a:pPr algn="l" indent="0" marL="0">
              <a:buNone/>
            </a:pPr>
            <a:r>
              <a:rPr lang="en-US" sz="1000" dirty="0">
                <a:solidFill>
                  <a:srgbClr val="334155"/>
                </a:solidFill>
                <a:latin typeface="Segoe UI" pitchFamily="34" charset="0"/>
                <a:ea typeface="Segoe UI" pitchFamily="34" charset="-122"/>
                <a:cs typeface="Segoe UI" pitchFamily="34" charset="-120"/>
              </a:rPr>
              <a:t>Section 5: inputs per step, e.g. step 41 lists 8 inputs</a:t>
            </a:r>
            <a:endParaRPr lang="en-US" sz="1100" dirty="0"/>
          </a:p>
        </p:txBody>
      </p:sp>
      <p:sp>
        <p:nvSpPr>
          <p:cNvPr id="7" name="Shape 5"/>
          <p:cNvSpPr/>
          <p:nvPr/>
        </p:nvSpPr>
        <p:spPr>
          <a:xfrm>
            <a:off x="2743200" y="2148840"/>
            <a:ext cx="205740" cy="914"/>
          </a:xfrm>
          <a:prstGeom prst="line">
            <a:avLst/>
          </a:prstGeom>
          <a:noFill/>
          <a:ln w="19050">
            <a:solidFill>
              <a:srgbClr val="2563EB"/>
            </a:solidFill>
            <a:prstDash val="solid"/>
            <a:tailEnd type="triangle"/>
          </a:ln>
        </p:spPr>
      </p:sp>
      <p:sp>
        <p:nvSpPr>
          <p:cNvPr id="8" name="Text 6"/>
          <p:cNvSpPr/>
          <p:nvPr/>
        </p:nvSpPr>
        <p:spPr>
          <a:xfrm>
            <a:off x="2948940" y="1600200"/>
            <a:ext cx="2011680" cy="1097280"/>
          </a:xfrm>
          <a:prstGeom prst="roundRect">
            <a:avLst>
              <a:gd name="adj" fmla="val 5000"/>
            </a:avLst>
          </a:prstGeom>
          <a:solidFill>
            <a:srgbClr val="F8FAFC"/>
          </a:solidFill>
          <a:ln w="12700">
            <a:solidFill>
              <a:srgbClr val="D8DEE8"/>
            </a:solidFill>
            <a:prstDash val="solid"/>
          </a:ln>
        </p:spPr>
        <p:txBody>
          <a:bodyPr wrap="square" lIns="114300" tIns="114300" rIns="114300" bIns="114300" rtlCol="0" anchor="t"/>
          <a:lstStyle/>
          <a:p>
            <a:pPr algn="l" indent="0" marL="0">
              <a:buNone/>
            </a:pPr>
            <a:r>
              <a:rPr lang="en-US" sz="1250" b="1" dirty="0">
                <a:solidFill>
                  <a:srgbClr val="0B1F4D"/>
                </a:solidFill>
                <a:latin typeface="Segoe UI" pitchFamily="34" charset="0"/>
                <a:ea typeface="Segoe UI" pitchFamily="34" charset="-122"/>
                <a:cs typeface="Segoe UI" pitchFamily="34" charset="-120"/>
              </a:rPr>
              <a:t>Input classifier</a:t>
            </a:r>
            <a:endParaRPr lang="en-US" sz="1100" dirty="0"/>
          </a:p>
          <a:p>
            <a:pPr algn="l" indent="0" marL="0">
              <a:buNone/>
            </a:pPr>
            <a:r>
              <a:rPr lang="en-US" sz="1000" dirty="0">
                <a:solidFill>
                  <a:srgbClr val="334155"/>
                </a:solidFill>
                <a:latin typeface="Segoe UI" pitchFamily="34" charset="0"/>
                <a:ea typeface="Segoe UI" pitchFamily="34" charset="-122"/>
                <a:cs typeface="Segoe UI" pitchFamily="34" charset="-120"/>
              </a:rPr>
              <a:t>profile · identity · case · produced · published · presence</a:t>
            </a:r>
            <a:endParaRPr lang="en-US" sz="1100" dirty="0"/>
          </a:p>
        </p:txBody>
      </p:sp>
      <p:sp>
        <p:nvSpPr>
          <p:cNvPr id="9" name="Shape 7"/>
          <p:cNvSpPr/>
          <p:nvPr/>
        </p:nvSpPr>
        <p:spPr>
          <a:xfrm>
            <a:off x="4960620" y="2148840"/>
            <a:ext cx="205740" cy="914"/>
          </a:xfrm>
          <a:prstGeom prst="line">
            <a:avLst/>
          </a:prstGeom>
          <a:noFill/>
          <a:ln w="19050">
            <a:solidFill>
              <a:srgbClr val="2563EB"/>
            </a:solidFill>
            <a:prstDash val="solid"/>
            <a:tailEnd type="triangle"/>
          </a:ln>
        </p:spPr>
      </p:sp>
      <p:sp>
        <p:nvSpPr>
          <p:cNvPr id="10" name="Text 8"/>
          <p:cNvSpPr/>
          <p:nvPr/>
        </p:nvSpPr>
        <p:spPr>
          <a:xfrm>
            <a:off x="5166360" y="1600200"/>
            <a:ext cx="2011680" cy="1097280"/>
          </a:xfrm>
          <a:prstGeom prst="roundRect">
            <a:avLst>
              <a:gd name="adj" fmla="val 5000"/>
            </a:avLst>
          </a:prstGeom>
          <a:solidFill>
            <a:srgbClr val="F8FAFC"/>
          </a:solidFill>
          <a:ln w="12700">
            <a:solidFill>
              <a:srgbClr val="D8DEE8"/>
            </a:solidFill>
            <a:prstDash val="solid"/>
          </a:ln>
        </p:spPr>
        <p:txBody>
          <a:bodyPr wrap="square" lIns="114300" tIns="114300" rIns="114300" bIns="114300" rtlCol="0" anchor="t"/>
          <a:lstStyle/>
          <a:p>
            <a:pPr algn="l" indent="0" marL="0">
              <a:buNone/>
            </a:pPr>
            <a:r>
              <a:rPr lang="en-US" sz="1250" b="1" dirty="0">
                <a:solidFill>
                  <a:srgbClr val="0B1F4D"/>
                </a:solidFill>
                <a:latin typeface="Segoe UI" pitchFamily="34" charset="0"/>
                <a:ea typeface="Segoe UI" pitchFamily="34" charset="-122"/>
                <a:cs typeface="Segoe UI" pitchFamily="34" charset="-120"/>
              </a:rPr>
              <a:t>Document type</a:t>
            </a:r>
            <a:endParaRPr lang="en-US" sz="1100" dirty="0"/>
          </a:p>
          <a:p>
            <a:pPr algn="l" indent="0" marL="0">
              <a:buNone/>
            </a:pPr>
            <a:r>
              <a:rPr lang="en-US" sz="1000" dirty="0">
                <a:solidFill>
                  <a:srgbClr val="334155"/>
                </a:solidFill>
                <a:latin typeface="Segoe UI" pitchFamily="34" charset="0"/>
                <a:ea typeface="Segoe UI" pitchFamily="34" charset="-122"/>
                <a:cs typeface="Segoe UI" pitchFamily="34" charset="-120"/>
              </a:rPr>
              <a:t>Label → one of 18 document specs (e.g. “Commercial invoice”)</a:t>
            </a:r>
            <a:endParaRPr lang="en-US" sz="1100" dirty="0"/>
          </a:p>
        </p:txBody>
      </p:sp>
      <p:sp>
        <p:nvSpPr>
          <p:cNvPr id="11" name="Shape 9"/>
          <p:cNvSpPr/>
          <p:nvPr/>
        </p:nvSpPr>
        <p:spPr>
          <a:xfrm>
            <a:off x="7178040" y="2148840"/>
            <a:ext cx="205740" cy="914"/>
          </a:xfrm>
          <a:prstGeom prst="line">
            <a:avLst/>
          </a:prstGeom>
          <a:noFill/>
          <a:ln w="19050">
            <a:solidFill>
              <a:srgbClr val="2563EB"/>
            </a:solidFill>
            <a:prstDash val="solid"/>
            <a:tailEnd type="triangle"/>
          </a:ln>
        </p:spPr>
      </p:sp>
      <p:sp>
        <p:nvSpPr>
          <p:cNvPr id="12" name="Text 10"/>
          <p:cNvSpPr/>
          <p:nvPr/>
        </p:nvSpPr>
        <p:spPr>
          <a:xfrm>
            <a:off x="7383780" y="1600200"/>
            <a:ext cx="2011680" cy="1097280"/>
          </a:xfrm>
          <a:prstGeom prst="roundRect">
            <a:avLst>
              <a:gd name="adj" fmla="val 5000"/>
            </a:avLst>
          </a:prstGeom>
          <a:solidFill>
            <a:srgbClr val="F8FAFC"/>
          </a:solidFill>
          <a:ln w="12700">
            <a:solidFill>
              <a:srgbClr val="D8DEE8"/>
            </a:solidFill>
            <a:prstDash val="solid"/>
          </a:ln>
        </p:spPr>
        <p:txBody>
          <a:bodyPr wrap="square" lIns="114300" tIns="114300" rIns="114300" bIns="114300" rtlCol="0" anchor="t"/>
          <a:lstStyle/>
          <a:p>
            <a:pPr algn="l" indent="0" marL="0">
              <a:buNone/>
            </a:pPr>
            <a:r>
              <a:rPr lang="en-US" sz="1250" b="1" dirty="0">
                <a:solidFill>
                  <a:srgbClr val="0B1F4D"/>
                </a:solidFill>
                <a:latin typeface="Segoe UI" pitchFamily="34" charset="0"/>
                <a:ea typeface="Segoe UI" pitchFamily="34" charset="-122"/>
                <a:cs typeface="Segoe UI" pitchFamily="34" charset="-120"/>
              </a:rPr>
              <a:t>Field spec (R&amp;D)</a:t>
            </a:r>
            <a:endParaRPr lang="en-US" sz="1100" dirty="0"/>
          </a:p>
          <a:p>
            <a:pPr algn="l" indent="0" marL="0">
              <a:buNone/>
            </a:pPr>
            <a:r>
              <a:rPr lang="en-US" sz="1000" dirty="0">
                <a:solidFill>
                  <a:srgbClr val="334155"/>
                </a:solidFill>
                <a:latin typeface="Segoe UI" pitchFamily="34" charset="0"/>
                <a:ea typeface="Segoe UI" pitchFamily="34" charset="-122"/>
                <a:cs typeface="Segoe UI" pitchFamily="34" charset="-120"/>
              </a:rPr>
              <a:t>Fields + required flag from real specimens; invoice: 14 fields, 8 required</a:t>
            </a:r>
            <a:endParaRPr lang="en-US" sz="1100" dirty="0"/>
          </a:p>
        </p:txBody>
      </p:sp>
      <p:sp>
        <p:nvSpPr>
          <p:cNvPr id="13" name="Shape 11"/>
          <p:cNvSpPr/>
          <p:nvPr/>
        </p:nvSpPr>
        <p:spPr>
          <a:xfrm>
            <a:off x="9395460" y="2148840"/>
            <a:ext cx="205740" cy="914"/>
          </a:xfrm>
          <a:prstGeom prst="line">
            <a:avLst/>
          </a:prstGeom>
          <a:noFill/>
          <a:ln w="19050">
            <a:solidFill>
              <a:srgbClr val="2563EB"/>
            </a:solidFill>
            <a:prstDash val="solid"/>
            <a:tailEnd type="triangle"/>
          </a:ln>
        </p:spPr>
      </p:sp>
      <p:sp>
        <p:nvSpPr>
          <p:cNvPr id="14" name="Text 12"/>
          <p:cNvSpPr/>
          <p:nvPr/>
        </p:nvSpPr>
        <p:spPr>
          <a:xfrm>
            <a:off x="9601200" y="1600200"/>
            <a:ext cx="2011680" cy="1097280"/>
          </a:xfrm>
          <a:prstGeom prst="roundRect">
            <a:avLst>
              <a:gd name="adj" fmla="val 5000"/>
            </a:avLst>
          </a:prstGeom>
          <a:solidFill>
            <a:srgbClr val="EAF1FF"/>
          </a:solidFill>
          <a:ln w="12700">
            <a:solidFill>
              <a:srgbClr val="2563EB"/>
            </a:solidFill>
            <a:prstDash val="solid"/>
          </a:ln>
        </p:spPr>
        <p:txBody>
          <a:bodyPr wrap="square" lIns="114300" tIns="114300" rIns="114300" bIns="114300" rtlCol="0" anchor="t"/>
          <a:lstStyle/>
          <a:p>
            <a:pPr algn="l" indent="0" marL="0">
              <a:buNone/>
            </a:pPr>
            <a:r>
              <a:rPr lang="en-US" sz="1250" b="1" dirty="0">
                <a:solidFill>
                  <a:srgbClr val="0B1F4D"/>
                </a:solidFill>
                <a:latin typeface="Segoe UI" pitchFamily="34" charset="0"/>
                <a:ea typeface="Segoe UI" pitchFamily="34" charset="-122"/>
                <a:cs typeface="Segoe UI" pitchFamily="34" charset="-120"/>
              </a:rPr>
              <a:t>Step need</a:t>
            </a:r>
            <a:endParaRPr lang="en-US" sz="1100" dirty="0"/>
          </a:p>
          <a:p>
            <a:pPr algn="l" indent="0" marL="0">
              <a:buNone/>
            </a:pPr>
            <a:r>
              <a:rPr lang="en-US" sz="1000" dirty="0">
                <a:solidFill>
                  <a:srgbClr val="334155"/>
                </a:solidFill>
                <a:latin typeface="Segoe UI" pitchFamily="34" charset="0"/>
                <a:ea typeface="Segoe UI" pitchFamily="34" charset="-122"/>
                <a:cs typeface="Segoe UI" pitchFamily="34" charset="-120"/>
              </a:rPr>
              <a:t>What to upload, fields to read, which step produces it, status</a:t>
            </a:r>
            <a:endParaRPr lang="en-US" sz="1100" dirty="0"/>
          </a:p>
        </p:txBody>
      </p:sp>
      <p:sp>
        <p:nvSpPr>
          <p:cNvPr id="15" name="Text 13"/>
          <p:cNvSpPr/>
          <p:nvPr/>
        </p:nvSpPr>
        <p:spPr>
          <a:xfrm>
            <a:off x="731520" y="3154680"/>
            <a:ext cx="10881360" cy="320040"/>
          </a:xfrm>
          <a:prstGeom prst="rect">
            <a:avLst/>
          </a:prstGeom>
          <a:noFill/>
          <a:ln/>
        </p:spPr>
        <p:txBody>
          <a:bodyPr wrap="square" lIns="0" tIns="0" rIns="0" bIns="0" rtlCol="0" anchor="t"/>
          <a:lstStyle/>
          <a:p>
            <a:pPr algn="l" indent="0" marL="0">
              <a:lnSpc>
                <a:spcPct val="105000"/>
              </a:lnSpc>
              <a:spcAft>
                <a:spcPts val="200"/>
              </a:spcAft>
              <a:buNone/>
            </a:pPr>
            <a:r>
              <a:rPr lang="en-US" sz="1400" dirty="0">
                <a:solidFill>
                  <a:srgbClr val="0B1F4D"/>
                </a:solidFill>
                <a:latin typeface="Segoe UI Semibold" pitchFamily="34" charset="0"/>
                <a:ea typeface="Segoe UI Semibold" pitchFamily="34" charset="-122"/>
                <a:cs typeface="Segoe UI Semibold" pitchFamily="34" charset="-120"/>
              </a:rPr>
              <a:t>Example — step 41 “Create export customs declaration” (agent files on the customs cabinet)</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3520440"/>
          <a:ext cx="10881360" cy="914400"/>
        </p:xfrm>
        <a:graphic>
          <a:graphicData uri="http://schemas.openxmlformats.org/drawingml/2006/table">
            <a:tbl>
              <a:tblPr/>
              <a:tblGrid>
                <a:gridCol w="2834640"/>
                <a:gridCol w="1920240"/>
                <a:gridCol w="1463040"/>
                <a:gridCol w="4663440"/>
              </a:tblGrid>
              <a:tr h="310896">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Input listed by the procedure</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How it is satisfied</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Source</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Fields the agent needs</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r>
              <a:tr h="310896">
                <a:tc>
                  <a:txBody>
                    <a:bodyPr/>
                    <a:lstStyle/>
                    <a:p>
                      <a:pPr algn="l" indent="0" marL="0">
                        <a:buNone/>
                      </a:pPr>
                      <a:r>
                        <a:rPr lang="en-US" sz="1000" b="1" dirty="0">
                          <a:solidFill>
                            <a:srgbClr val="0F1729"/>
                          </a:solidFill>
                          <a:latin typeface="Segoe UI" pitchFamily="34" charset="0"/>
                          <a:ea typeface="Segoe UI" pitchFamily="34" charset="-122"/>
                          <a:cs typeface="Segoe UI" pitchFamily="34" charset="-120"/>
                        </a:rPr>
                        <a:t>Electronic digital signature</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00" b="1" dirty="0">
                          <a:solidFill>
                            <a:srgbClr val="64748B"/>
                          </a:solidFill>
                          <a:latin typeface="Segoe UI" pitchFamily="34" charset="0"/>
                          <a:ea typeface="Segoe UI" pitchFamily="34" charset="-122"/>
                          <a:cs typeface="Segoe UI" pitchFamily="34" charset="-120"/>
                        </a:rPr>
                        <a:t>Covered by portal access</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310896">
                <a:tc>
                  <a:txBody>
                    <a:bodyPr/>
                    <a:lstStyle/>
                    <a:p>
                      <a:pPr algn="l" indent="0" marL="0">
                        <a:buNone/>
                      </a:pPr>
                      <a:r>
                        <a:rPr lang="en-US" sz="1000" b="1" dirty="0">
                          <a:solidFill>
                            <a:srgbClr val="0F1729"/>
                          </a:solidFill>
                          <a:latin typeface="Segoe UI" pitchFamily="34" charset="0"/>
                          <a:ea typeface="Segoe UI" pitchFamily="34" charset="-122"/>
                          <a:cs typeface="Segoe UI" pitchFamily="34" charset="-120"/>
                        </a:rPr>
                        <a:t>Identification number of foreign trade contract</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563EB"/>
                          </a:solidFill>
                          <a:latin typeface="Segoe UI" pitchFamily="34" charset="0"/>
                          <a:ea typeface="Segoe UI" pitchFamily="34" charset="-122"/>
                          <a:cs typeface="Segoe UI" pitchFamily="34" charset="-120"/>
                        </a:rPr>
                        <a:t>From an earlier step</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Step 1</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0F1729"/>
                          </a:solidFill>
                          <a:latin typeface="Segoe UI" pitchFamily="34" charset="0"/>
                          <a:ea typeface="Segoe UI" pitchFamily="34" charset="-122"/>
                          <a:cs typeface="Segoe UI" pitchFamily="34" charset="-120"/>
                        </a:rPr>
                        <a:t>Commercial invoice</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00" b="1" dirty="0">
                          <a:solidFill>
                            <a:srgbClr val="7C3AED"/>
                          </a:solidFill>
                          <a:latin typeface="Segoe UI" pitchFamily="34" charset="0"/>
                          <a:ea typeface="Segoe UI" pitchFamily="34" charset="-122"/>
                          <a:cs typeface="Segoe UI" pitchFamily="34" charset="-120"/>
                        </a:rPr>
                        <a:t>Upload &amp; read</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Given up front</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Invoice number, Invoice date, Sent by (seller), Sent to (buyer), Description of goods, Quantity / total net weight, Total value, Currency of invoice</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310896">
                <a:tc>
                  <a:txBody>
                    <a:bodyPr/>
                    <a:lstStyle/>
                    <a:p>
                      <a:pPr algn="l" indent="0" marL="0">
                        <a:buNone/>
                      </a:pPr>
                      <a:r>
                        <a:rPr lang="en-US" sz="1000" b="1" dirty="0">
                          <a:solidFill>
                            <a:srgbClr val="0F1729"/>
                          </a:solidFill>
                          <a:latin typeface="Segoe UI" pitchFamily="34" charset="0"/>
                          <a:ea typeface="Segoe UI" pitchFamily="34" charset="-122"/>
                          <a:cs typeface="Segoe UI" pitchFamily="34" charset="-120"/>
                        </a:rPr>
                        <a:t>Export railway bill (SMGS)</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563EB"/>
                          </a:solidFill>
                          <a:latin typeface="Segoe UI" pitchFamily="34" charset="0"/>
                          <a:ea typeface="Segoe UI" pitchFamily="34" charset="-122"/>
                          <a:cs typeface="Segoe UI" pitchFamily="34" charset="-120"/>
                        </a:rPr>
                        <a:t>From an earlier step</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Step 26</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Read as railway bill</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0F1729"/>
                          </a:solidFill>
                          <a:latin typeface="Segoe UI" pitchFamily="34" charset="0"/>
                          <a:ea typeface="Segoe UI" pitchFamily="34" charset="-122"/>
                          <a:cs typeface="Segoe UI" pitchFamily="34" charset="-120"/>
                        </a:rPr>
                        <a:t>Phytosanitary certificate</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00" b="1" dirty="0">
                          <a:solidFill>
                            <a:srgbClr val="2563EB"/>
                          </a:solidFill>
                          <a:latin typeface="Segoe UI" pitchFamily="34" charset="0"/>
                          <a:ea typeface="Segoe UI" pitchFamily="34" charset="-122"/>
                          <a:cs typeface="Segoe UI" pitchFamily="34" charset="-120"/>
                        </a:rPr>
                        <a:t>From an earlier step</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Step 31</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Read as phytosanitary certificate</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310896">
                <a:tc>
                  <a:txBody>
                    <a:bodyPr/>
                    <a:lstStyle/>
                    <a:p>
                      <a:pPr algn="l" indent="0" marL="0">
                        <a:buNone/>
                      </a:pPr>
                      <a:r>
                        <a:rPr lang="en-US" sz="1000" b="1" dirty="0">
                          <a:solidFill>
                            <a:srgbClr val="0F1729"/>
                          </a:solidFill>
                          <a:latin typeface="Segoe UI" pitchFamily="34" charset="0"/>
                          <a:ea typeface="Segoe UI" pitchFamily="34" charset="-122"/>
                          <a:cs typeface="Segoe UI" pitchFamily="34" charset="-120"/>
                        </a:rPr>
                        <a:t>Certificate of origin</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563EB"/>
                          </a:solidFill>
                          <a:latin typeface="Segoe UI" pitchFamily="34" charset="0"/>
                          <a:ea typeface="Segoe UI" pitchFamily="34" charset="-122"/>
                          <a:cs typeface="Segoe UI" pitchFamily="34" charset="-120"/>
                        </a:rPr>
                        <a:t>From an earlier step</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Step 39</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Read as certificate of origin</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bl>
          </a:graphicData>
        </a:graphic>
      </p:graphicFrame>
      <p:sp>
        <p:nvSpPr>
          <p:cNvPr id="17" name="Text 14"/>
          <p:cNvSpPr/>
          <p:nvPr/>
        </p:nvSpPr>
        <p:spPr>
          <a:xfrm>
            <a:off x="731520" y="6053328"/>
            <a:ext cx="10881360" cy="320040"/>
          </a:xfrm>
          <a:prstGeom prst="rect">
            <a:avLst/>
          </a:prstGeom>
          <a:noFill/>
          <a:ln/>
        </p:spPr>
        <p:txBody>
          <a:bodyPr wrap="square" lIns="0" tIns="0" rIns="0" bIns="0" rtlCol="0" anchor="t"/>
          <a:lstStyle/>
          <a:p>
            <a:pPr algn="l" indent="0" marL="0">
              <a:lnSpc>
                <a:spcPct val="105000"/>
              </a:lnSpc>
              <a:spcAft>
                <a:spcPts val="200"/>
              </a:spcAft>
              <a:buNone/>
            </a:pPr>
            <a:r>
              <a:rPr lang="en-US" sz="1000" dirty="0">
                <a:solidFill>
                  <a:srgbClr val="64748B"/>
                </a:solidFill>
                <a:latin typeface="Segoe UI" pitchFamily="34" charset="0"/>
                <a:ea typeface="Segoe UI" pitchFamily="34" charset="-122"/>
                <a:cs typeface="Segoe UI" pitchFamily="34" charset="-120"/>
              </a:rPr>
              <a:t>Checks on the declaration spec: HS code consistent with invoice and certificate of origin · contract ID matches the UEISFTO registration · every cited certificate is in the case ledger</a:t>
            </a:r>
            <a:endParaRPr lang="en-US" sz="10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05 · KEY STEPS</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Six steps that show the whole pattern</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Who executes, why, what it needs and what it hands on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508760"/>
          <a:ext cx="10881360" cy="914400"/>
        </p:xfrm>
        <a:graphic>
          <a:graphicData uri="http://schemas.openxmlformats.org/drawingml/2006/table">
            <a:tbl>
              <a:tblPr/>
              <a:tblGrid>
                <a:gridCol w="411480"/>
                <a:gridCol w="2514600"/>
                <a:gridCol w="822960"/>
                <a:gridCol w="2286000"/>
                <a:gridCol w="3200400"/>
                <a:gridCol w="1645920"/>
              </a:tblGrid>
              <a:tr h="329184">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Step</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ctr" indent="0" marL="0">
                        <a:buNone/>
                      </a:pPr>
                      <a:r>
                        <a:rPr lang="en-US" sz="1000" b="1" dirty="0">
                          <a:solidFill>
                            <a:srgbClr val="FFFFFF"/>
                          </a:solidFill>
                          <a:latin typeface="Segoe UI" pitchFamily="34" charset="0"/>
                          <a:ea typeface="Segoe UI" pitchFamily="34" charset="-122"/>
                          <a:cs typeface="Segoe UI" pitchFamily="34" charset="-120"/>
                        </a:rPr>
                        <a:t>Who</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Why this lane</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Needs</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Produces</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r>
              <a:tr h="658368">
                <a:tc>
                  <a:txBody>
                    <a:bodyPr/>
                    <a:lstStyle/>
                    <a:p>
                      <a:pPr algn="ctr" indent="0" marL="0">
                        <a:buNone/>
                      </a:pPr>
                      <a:r>
                        <a:rPr lang="en-US" sz="1200" b="1" dirty="0">
                          <a:solidFill>
                            <a:srgbClr val="0B1F4D"/>
                          </a:solidFill>
                          <a:latin typeface="Segoe UI" pitchFamily="34" charset="0"/>
                          <a:ea typeface="Segoe UI" pitchFamily="34" charset="-122"/>
                          <a:cs typeface="Segoe UI" pitchFamily="34" charset="-120"/>
                        </a:rPr>
                        <a:t>1</a:t>
                      </a:r>
                      <a:endParaRPr lang="en-US" sz="12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b="1" dirty="0">
                          <a:solidFill>
                            <a:srgbClr val="0F1729"/>
                          </a:solidFill>
                          <a:latin typeface="Segoe UI" pitchFamily="34" charset="0"/>
                          <a:ea typeface="Segoe UI" pitchFamily="34" charset="-122"/>
                          <a:cs typeface="Segoe UI" pitchFamily="34" charset="-120"/>
                        </a:rPr>
                        <a:t>Register foreign trade contract in UEISFTO</a:t>
                      </a:r>
                      <a:endParaRPr lang="en-US" sz="900" dirty="0">
                        <a:latin typeface="Segoe UI" charset="0"/>
                        <a:ea typeface="Segoe UI" charset="0"/>
                        <a:cs typeface="Segoe UI" charset="0"/>
                      </a:endParaRPr>
                    </a:p>
                    <a:p>
                      <a:pPr algn="l" indent="0" marL="0">
                        <a:buNone/>
                      </a:pPr>
                      <a:r>
                        <a:rPr lang="en-US" sz="850" dirty="0">
                          <a:solidFill>
                            <a:srgbClr val="64748B"/>
                          </a:solidFill>
                          <a:latin typeface="Segoe UI" pitchFamily="34" charset="0"/>
                          <a:ea typeface="Segoe UI" pitchFamily="34" charset="-122"/>
                          <a:cs typeface="Segoe UI" pitchFamily="34" charset="-120"/>
                        </a:rPr>
                        <a:t>Single portal of interactive state services · Online: apply</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00" b="1" dirty="0">
                          <a:solidFill>
                            <a:srgbClr val="7C3AED"/>
                          </a:solidFill>
                          <a:latin typeface="Segoe UI" pitchFamily="34" charset="0"/>
                          <a:ea typeface="Segoe UI" pitchFamily="34" charset="-122"/>
                          <a:cs typeface="Segoe UI" pitchFamily="34" charset="-120"/>
                        </a:rPr>
                        <a:t>You</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EE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my.gov.uz needs your e-signature; the agent has no delegated identity there.</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E-signature · Contract copy</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Identification number of foreign trade contract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658368">
                <a:tc>
                  <a:txBody>
                    <a:bodyPr/>
                    <a:lstStyle/>
                    <a:p>
                      <a:pPr algn="ctr" indent="0" marL="0">
                        <a:buNone/>
                      </a:pPr>
                      <a:r>
                        <a:rPr lang="en-US" sz="1200" b="1" dirty="0">
                          <a:solidFill>
                            <a:srgbClr val="0B1F4D"/>
                          </a:solidFill>
                          <a:latin typeface="Segoe UI" pitchFamily="34" charset="0"/>
                          <a:ea typeface="Segoe UI" pitchFamily="34" charset="-122"/>
                          <a:cs typeface="Segoe UI" pitchFamily="34" charset="-120"/>
                        </a:rPr>
                        <a:t>4</a:t>
                      </a:r>
                      <a:endParaRPr lang="en-US" sz="12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0F1729"/>
                          </a:solidFill>
                          <a:latin typeface="Segoe UI" pitchFamily="34" charset="0"/>
                          <a:ea typeface="Segoe UI" pitchFamily="34" charset="-122"/>
                          <a:cs typeface="Segoe UI" pitchFamily="34" charset="-120"/>
                        </a:rPr>
                        <a:t>Prepay for railway services (General)</a:t>
                      </a:r>
                      <a:endParaRPr lang="en-US" sz="900" dirty="0">
                        <a:latin typeface="Segoe UI" charset="0"/>
                        <a:ea typeface="Segoe UI" charset="0"/>
                        <a:cs typeface="Segoe UI" charset="0"/>
                      </a:endParaRPr>
                    </a:p>
                    <a:p>
                      <a:pPr algn="l" indent="0" marL="0">
                        <a:buNone/>
                      </a:pPr>
                      <a:r>
                        <a:rPr lang="en-US" sz="850" dirty="0">
                          <a:solidFill>
                            <a:srgbClr val="64748B"/>
                          </a:solidFill>
                          <a:latin typeface="Segoe UI" pitchFamily="34" charset="0"/>
                          <a:ea typeface="Segoe UI" pitchFamily="34" charset="-122"/>
                          <a:cs typeface="Segoe UI" pitchFamily="34" charset="-120"/>
                        </a:rPr>
                        <a:t>Bank · Online: pay</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7C3AED"/>
                          </a:solidFill>
                          <a:latin typeface="Segoe UI" pitchFamily="34" charset="0"/>
                          <a:ea typeface="Segoe UI" pitchFamily="34" charset="-122"/>
                          <a:cs typeface="Segoe UI" pitchFamily="34" charset="-120"/>
                        </a:rPr>
                        <a:t>You</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EE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Payment must be authorized by the account holder.</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Railway invoice (step 3) · Agreement with Technological center · Receipt of payment · choose: Physical payment or Online payment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Receipt of payment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658368">
                <a:tc>
                  <a:txBody>
                    <a:bodyPr/>
                    <a:lstStyle/>
                    <a:p>
                      <a:pPr algn="ctr" indent="0" marL="0">
                        <a:buNone/>
                      </a:pPr>
                      <a:r>
                        <a:rPr lang="en-US" sz="1200" b="1" dirty="0">
                          <a:solidFill>
                            <a:srgbClr val="0B1F4D"/>
                          </a:solidFill>
                          <a:latin typeface="Segoe UI" pitchFamily="34" charset="0"/>
                          <a:ea typeface="Segoe UI" pitchFamily="34" charset="-122"/>
                          <a:cs typeface="Segoe UI" pitchFamily="34" charset="-120"/>
                        </a:rPr>
                        <a:t>26</a:t>
                      </a:r>
                      <a:endParaRPr lang="en-US" sz="12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b="1" dirty="0">
                          <a:solidFill>
                            <a:srgbClr val="0F1729"/>
                          </a:solidFill>
                          <a:latin typeface="Segoe UI" pitchFamily="34" charset="0"/>
                          <a:ea typeface="Segoe UI" pitchFamily="34" charset="-122"/>
                          <a:cs typeface="Segoe UI" pitchFamily="34" charset="-120"/>
                        </a:rPr>
                        <a:t>Obtain railway bill of lading</a:t>
                      </a:r>
                      <a:endParaRPr lang="en-US" sz="900" dirty="0">
                        <a:latin typeface="Segoe UI" charset="0"/>
                        <a:ea typeface="Segoe UI" charset="0"/>
                        <a:cs typeface="Segoe UI" charset="0"/>
                      </a:endParaRPr>
                    </a:p>
                    <a:p>
                      <a:pPr algn="l" indent="0" marL="0">
                        <a:buNone/>
                      </a:pPr>
                      <a:r>
                        <a:rPr lang="en-US" sz="850" dirty="0">
                          <a:solidFill>
                            <a:srgbClr val="64748B"/>
                          </a:solidFill>
                          <a:latin typeface="Segoe UI" pitchFamily="34" charset="0"/>
                          <a:ea typeface="Segoe UI" pitchFamily="34" charset="-122"/>
                          <a:cs typeface="Segoe UI" pitchFamily="34" charset="-120"/>
                        </a:rPr>
                        <a:t>Railway station · In person</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00" b="1" dirty="0">
                          <a:solidFill>
                            <a:srgbClr val="7C3AED"/>
                          </a:solidFill>
                          <a:latin typeface="Segoe UI" pitchFamily="34" charset="0"/>
                          <a:ea typeface="Segoe UI" pitchFamily="34" charset="-122"/>
                          <a:cs typeface="Segoe UI" pitchFamily="34" charset="-120"/>
                        </a:rPr>
                        <a:t>You</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EE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Requires your signature, identity, or attendance at the counter.</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Commercial invoice · Export railway bill (SMGS)</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Export railway bill (SMGS)</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658368">
                <a:tc>
                  <a:txBody>
                    <a:bodyPr/>
                    <a:lstStyle/>
                    <a:p>
                      <a:pPr algn="ctr" indent="0" marL="0">
                        <a:buNone/>
                      </a:pPr>
                      <a:r>
                        <a:rPr lang="en-US" sz="1200" b="1" dirty="0">
                          <a:solidFill>
                            <a:srgbClr val="0B1F4D"/>
                          </a:solidFill>
                          <a:latin typeface="Segoe UI" pitchFamily="34" charset="0"/>
                          <a:ea typeface="Segoe UI" pitchFamily="34" charset="-122"/>
                          <a:cs typeface="Segoe UI" pitchFamily="34" charset="-120"/>
                        </a:rPr>
                        <a:t>36</a:t>
                      </a:r>
                      <a:endParaRPr lang="en-US" sz="12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0F1729"/>
                          </a:solidFill>
                          <a:latin typeface="Segoe UI" pitchFamily="34" charset="0"/>
                          <a:ea typeface="Segoe UI" pitchFamily="34" charset="-122"/>
                          <a:cs typeface="Segoe UI" pitchFamily="34" charset="-120"/>
                        </a:rPr>
                        <a:t>Apply for certificate of origin via Single Window</a:t>
                      </a:r>
                      <a:endParaRPr lang="en-US" sz="900" dirty="0">
                        <a:latin typeface="Segoe UI" charset="0"/>
                        <a:ea typeface="Segoe UI" charset="0"/>
                        <a:cs typeface="Segoe UI" charset="0"/>
                      </a:endParaRPr>
                    </a:p>
                    <a:p>
                      <a:pPr algn="l" indent="0" marL="0">
                        <a:buNone/>
                      </a:pPr>
                      <a:r>
                        <a:rPr lang="en-US" sz="850" dirty="0">
                          <a:solidFill>
                            <a:srgbClr val="64748B"/>
                          </a:solidFill>
                          <a:latin typeface="Segoe UI" pitchFamily="34" charset="0"/>
                          <a:ea typeface="Segoe UI" pitchFamily="34" charset="-122"/>
                          <a:cs typeface="Segoe UI" pitchFamily="34" charset="-120"/>
                        </a:rPr>
                        <a:t>One-stop service system Single window · Online: apply</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563EB"/>
                          </a:solidFill>
                          <a:latin typeface="Segoe UI" pitchFamily="34" charset="0"/>
                          <a:ea typeface="Segoe UI" pitchFamily="34" charset="-122"/>
                          <a:cs typeface="Segoe UI" pitchFamily="34" charset="-120"/>
                        </a:rPr>
                        <a:t>Agent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EAF1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The platform files directly on One-stop service system Single window.</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Online CoO application · Commercial invoice · Land-plot right proof · Purchase proof</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Appointment with an expert on certification</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658368">
                <a:tc>
                  <a:txBody>
                    <a:bodyPr/>
                    <a:lstStyle/>
                    <a:p>
                      <a:pPr algn="ctr" indent="0" marL="0">
                        <a:buNone/>
                      </a:pPr>
                      <a:r>
                        <a:rPr lang="en-US" sz="1200" b="1" dirty="0">
                          <a:solidFill>
                            <a:srgbClr val="0B1F4D"/>
                          </a:solidFill>
                          <a:latin typeface="Segoe UI" pitchFamily="34" charset="0"/>
                          <a:ea typeface="Segoe UI" pitchFamily="34" charset="-122"/>
                          <a:cs typeface="Segoe UI" pitchFamily="34" charset="-120"/>
                        </a:rPr>
                        <a:t>41</a:t>
                      </a:r>
                      <a:endParaRPr lang="en-US" sz="12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b="1" dirty="0">
                          <a:solidFill>
                            <a:srgbClr val="0F1729"/>
                          </a:solidFill>
                          <a:latin typeface="Segoe UI" pitchFamily="34" charset="0"/>
                          <a:ea typeface="Segoe UI" pitchFamily="34" charset="-122"/>
                          <a:cs typeface="Segoe UI" pitchFamily="34" charset="-120"/>
                        </a:rPr>
                        <a:t>Create export customs declaration</a:t>
                      </a:r>
                      <a:endParaRPr lang="en-US" sz="900" dirty="0">
                        <a:latin typeface="Segoe UI" charset="0"/>
                        <a:ea typeface="Segoe UI" charset="0"/>
                        <a:cs typeface="Segoe UI" charset="0"/>
                      </a:endParaRPr>
                    </a:p>
                    <a:p>
                      <a:pPr algn="l" indent="0" marL="0">
                        <a:buNone/>
                      </a:pPr>
                      <a:r>
                        <a:rPr lang="en-US" sz="850" dirty="0">
                          <a:solidFill>
                            <a:srgbClr val="64748B"/>
                          </a:solidFill>
                          <a:latin typeface="Segoe UI" pitchFamily="34" charset="0"/>
                          <a:ea typeface="Segoe UI" pitchFamily="34" charset="-122"/>
                          <a:cs typeface="Segoe UI" pitchFamily="34" charset="-120"/>
                        </a:rPr>
                        <a:t>Personal cabinet of participant of foreign economic activity · Online: apply</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00" b="1" dirty="0">
                          <a:solidFill>
                            <a:srgbClr val="2563EB"/>
                          </a:solidFill>
                          <a:latin typeface="Segoe UI" pitchFamily="34" charset="0"/>
                          <a:ea typeface="Segoe UI" pitchFamily="34" charset="-122"/>
                          <a:cs typeface="Segoe UI" pitchFamily="34" charset="-120"/>
                        </a:rPr>
                        <a:t>Agent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EAF1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The platform files directly on Personal cabinet of participant of foreign economic activity.</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Contract ID (step 1) · Commercial invoice · Export railway bill (SMGS) (step 26) · Phytosanitary certificate (step 31)</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Electronic form of customs declaration</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658368">
                <a:tc>
                  <a:txBody>
                    <a:bodyPr/>
                    <a:lstStyle/>
                    <a:p>
                      <a:pPr algn="ctr" indent="0" marL="0">
                        <a:buNone/>
                      </a:pPr>
                      <a:r>
                        <a:rPr lang="en-US" sz="1200" b="1" dirty="0">
                          <a:solidFill>
                            <a:srgbClr val="0B1F4D"/>
                          </a:solidFill>
                          <a:latin typeface="Segoe UI" pitchFamily="34" charset="0"/>
                          <a:ea typeface="Segoe UI" pitchFamily="34" charset="-122"/>
                          <a:cs typeface="Segoe UI" pitchFamily="34" charset="-120"/>
                        </a:rPr>
                        <a:t>42</a:t>
                      </a:r>
                      <a:endParaRPr lang="en-US" sz="12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0F1729"/>
                          </a:solidFill>
                          <a:latin typeface="Segoe UI" pitchFamily="34" charset="0"/>
                          <a:ea typeface="Segoe UI" pitchFamily="34" charset="-122"/>
                          <a:cs typeface="Segoe UI" pitchFamily="34" charset="-120"/>
                        </a:rPr>
                        <a:t>Pay for customs fee</a:t>
                      </a:r>
                      <a:endParaRPr lang="en-US" sz="900" dirty="0">
                        <a:latin typeface="Segoe UI" charset="0"/>
                        <a:ea typeface="Segoe UI" charset="0"/>
                        <a:cs typeface="Segoe UI" charset="0"/>
                      </a:endParaRPr>
                    </a:p>
                    <a:p>
                      <a:pPr algn="l" indent="0" marL="0">
                        <a:buNone/>
                      </a:pPr>
                      <a:r>
                        <a:rPr lang="en-US" sz="850" dirty="0">
                          <a:solidFill>
                            <a:srgbClr val="64748B"/>
                          </a:solidFill>
                          <a:latin typeface="Segoe UI" pitchFamily="34" charset="0"/>
                          <a:ea typeface="Segoe UI" pitchFamily="34" charset="-122"/>
                          <a:cs typeface="Segoe UI" pitchFamily="34" charset="-120"/>
                        </a:rPr>
                        <a:t>Bank · Online: pay</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7C3AED"/>
                          </a:solidFill>
                          <a:latin typeface="Segoe UI" pitchFamily="34" charset="0"/>
                          <a:ea typeface="Segoe UI" pitchFamily="34" charset="-122"/>
                          <a:cs typeface="Segoe UI" pitchFamily="34" charset="-120"/>
                        </a:rPr>
                        <a:t>You</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EE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Payment must be authorized by the account holder.</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Receipt of payment · choose: Physical payment or Online payment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Receipt of payment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bl>
          </a:graphicData>
        </a:graphic>
      </p:graphicFrame>
      <p:sp>
        <p:nvSpPr>
          <p:cNvPr id="7" name="Text 4"/>
          <p:cNvSpPr/>
          <p:nvPr/>
        </p:nvSpPr>
        <p:spPr>
          <a:xfrm>
            <a:off x="731520" y="6053328"/>
            <a:ext cx="10881360" cy="320040"/>
          </a:xfrm>
          <a:prstGeom prst="rect">
            <a:avLst/>
          </a:prstGeom>
          <a:noFill/>
          <a:ln/>
        </p:spPr>
        <p:txBody>
          <a:bodyPr wrap="square" lIns="0" tIns="0" rIns="0" bIns="0" rtlCol="0" anchor="t"/>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Pattern: the agent files where it has portal access (36, 41); the trader signs, pays and attends (1, 4, 26, 42); outputs such as the SMGS railway bill feed later steps automatically.</a:t>
            </a:r>
            <a:endParaRPr lang="en-US" sz="105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06 · DOCUMENT INTELLIGENCE AGENT</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Reads uploads into fields, scores them, and checks them against the case</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Role: extraction, completeness and consistency — it never auto-accepts a value it isn't confident about</a:t>
            </a:r>
            <a:endParaRPr lang="en-US" sz="1200" dirty="0"/>
          </a:p>
        </p:txBody>
      </p:sp>
      <p:sp>
        <p:nvSpPr>
          <p:cNvPr id="6" name="Text 4"/>
          <p:cNvSpPr/>
          <p:nvPr/>
        </p:nvSpPr>
        <p:spPr>
          <a:xfrm>
            <a:off x="731520" y="1600200"/>
            <a:ext cx="1463040" cy="1097280"/>
          </a:xfrm>
          <a:prstGeom prst="roundRect">
            <a:avLst>
              <a:gd name="adj" fmla="val 5000"/>
            </a:avLst>
          </a:prstGeom>
          <a:solidFill>
            <a:srgbClr val="F8FAFC"/>
          </a:solidFill>
          <a:ln w="12700">
            <a:solidFill>
              <a:srgbClr val="D8DEE8"/>
            </a:solidFill>
            <a:prstDash val="solid"/>
          </a:ln>
        </p:spPr>
        <p:txBody>
          <a:bodyPr wrap="square" lIns="88900" tIns="88900" rIns="88900" bIns="88900" rtlCol="0" anchor="t"/>
          <a:lstStyle/>
          <a:p>
            <a:pPr algn="l" indent="0" marL="0">
              <a:buNone/>
            </a:pPr>
            <a:r>
              <a:rPr lang="en-US" sz="1100" b="1" dirty="0">
                <a:solidFill>
                  <a:srgbClr val="0B1F4D"/>
                </a:solidFill>
                <a:latin typeface="Segoe UI" pitchFamily="34" charset="0"/>
                <a:ea typeface="Segoe UI" pitchFamily="34" charset="-122"/>
                <a:cs typeface="Segoe UI" pitchFamily="34" charset="-120"/>
              </a:rPr>
              <a:t>Upload</a:t>
            </a:r>
            <a:endParaRPr lang="en-US" sz="1100" dirty="0"/>
          </a:p>
          <a:p>
            <a:pPr algn="l" indent="0" marL="0">
              <a:buNone/>
            </a:pPr>
            <a:r>
              <a:rPr lang="en-US" sz="900" dirty="0">
                <a:solidFill>
                  <a:srgbClr val="334155"/>
                </a:solidFill>
                <a:latin typeface="Segoe UI" pitchFamily="34" charset="0"/>
                <a:ea typeface="Segoe UI" pitchFamily="34" charset="-122"/>
                <a:cs typeface="Segoe UI" pitchFamily="34" charset="-120"/>
              </a:rPr>
              <a:t>Image / PDF; original kept in object storage</a:t>
            </a:r>
            <a:endParaRPr lang="en-US" sz="1100" dirty="0"/>
          </a:p>
        </p:txBody>
      </p:sp>
      <p:sp>
        <p:nvSpPr>
          <p:cNvPr id="7" name="Shape 5"/>
          <p:cNvSpPr/>
          <p:nvPr/>
        </p:nvSpPr>
        <p:spPr>
          <a:xfrm>
            <a:off x="2194560" y="2148840"/>
            <a:ext cx="106985" cy="914"/>
          </a:xfrm>
          <a:prstGeom prst="line">
            <a:avLst/>
          </a:prstGeom>
          <a:noFill/>
          <a:ln w="15875">
            <a:solidFill>
              <a:srgbClr val="2563EB"/>
            </a:solidFill>
            <a:prstDash val="solid"/>
            <a:tailEnd type="triangle"/>
          </a:ln>
        </p:spPr>
      </p:sp>
      <p:sp>
        <p:nvSpPr>
          <p:cNvPr id="8" name="Text 6"/>
          <p:cNvSpPr/>
          <p:nvPr/>
        </p:nvSpPr>
        <p:spPr>
          <a:xfrm>
            <a:off x="2301545" y="1600200"/>
            <a:ext cx="1463040" cy="1097280"/>
          </a:xfrm>
          <a:prstGeom prst="roundRect">
            <a:avLst>
              <a:gd name="adj" fmla="val 5000"/>
            </a:avLst>
          </a:prstGeom>
          <a:solidFill>
            <a:srgbClr val="F8FAFC"/>
          </a:solidFill>
          <a:ln w="12700">
            <a:solidFill>
              <a:srgbClr val="D8DEE8"/>
            </a:solidFill>
            <a:prstDash val="solid"/>
          </a:ln>
        </p:spPr>
        <p:txBody>
          <a:bodyPr wrap="square" lIns="88900" tIns="88900" rIns="88900" bIns="88900" rtlCol="0" anchor="t"/>
          <a:lstStyle/>
          <a:p>
            <a:pPr algn="l" indent="0" marL="0">
              <a:buNone/>
            </a:pPr>
            <a:r>
              <a:rPr lang="en-US" sz="1100" b="1" dirty="0">
                <a:solidFill>
                  <a:srgbClr val="0B1F4D"/>
                </a:solidFill>
                <a:latin typeface="Segoe UI" pitchFamily="34" charset="0"/>
                <a:ea typeface="Segoe UI" pitchFamily="34" charset="-122"/>
                <a:cs typeface="Segoe UI" pitchFamily="34" charset="-120"/>
              </a:rPr>
              <a:t>OCR</a:t>
            </a:r>
            <a:endParaRPr lang="en-US" sz="1100" dirty="0"/>
          </a:p>
          <a:p>
            <a:pPr algn="l" indent="0" marL="0">
              <a:buNone/>
            </a:pPr>
            <a:r>
              <a:rPr lang="en-US" sz="900" dirty="0">
                <a:solidFill>
                  <a:srgbClr val="334155"/>
                </a:solidFill>
                <a:latin typeface="Segoe UI" pitchFamily="34" charset="0"/>
                <a:ea typeface="Segoe UI" pitchFamily="34" charset="-122"/>
                <a:cs typeface="Segoe UI" pitchFamily="34" charset="-120"/>
              </a:rPr>
              <a:t>EasyOCR ru+en; pages capped at 1280 px</a:t>
            </a:r>
            <a:endParaRPr lang="en-US" sz="1100" dirty="0"/>
          </a:p>
        </p:txBody>
      </p:sp>
      <p:sp>
        <p:nvSpPr>
          <p:cNvPr id="9" name="Shape 7"/>
          <p:cNvSpPr/>
          <p:nvPr/>
        </p:nvSpPr>
        <p:spPr>
          <a:xfrm>
            <a:off x="3764585" y="2148840"/>
            <a:ext cx="106985" cy="914"/>
          </a:xfrm>
          <a:prstGeom prst="line">
            <a:avLst/>
          </a:prstGeom>
          <a:noFill/>
          <a:ln w="15875">
            <a:solidFill>
              <a:srgbClr val="2563EB"/>
            </a:solidFill>
            <a:prstDash val="solid"/>
            <a:tailEnd type="triangle"/>
          </a:ln>
        </p:spPr>
      </p:sp>
      <p:sp>
        <p:nvSpPr>
          <p:cNvPr id="10" name="Text 8"/>
          <p:cNvSpPr/>
          <p:nvPr/>
        </p:nvSpPr>
        <p:spPr>
          <a:xfrm>
            <a:off x="3871570" y="1600200"/>
            <a:ext cx="1463040" cy="1097280"/>
          </a:xfrm>
          <a:prstGeom prst="roundRect">
            <a:avLst>
              <a:gd name="adj" fmla="val 5000"/>
            </a:avLst>
          </a:prstGeom>
          <a:solidFill>
            <a:srgbClr val="F8FAFC"/>
          </a:solidFill>
          <a:ln w="12700">
            <a:solidFill>
              <a:srgbClr val="D8DEE8"/>
            </a:solidFill>
            <a:prstDash val="solid"/>
          </a:ln>
        </p:spPr>
        <p:txBody>
          <a:bodyPr wrap="square" lIns="88900" tIns="88900" rIns="88900" bIns="88900" rtlCol="0" anchor="t"/>
          <a:lstStyle/>
          <a:p>
            <a:pPr algn="l" indent="0" marL="0">
              <a:buNone/>
            </a:pPr>
            <a:r>
              <a:rPr lang="en-US" sz="1100" b="1" dirty="0">
                <a:solidFill>
                  <a:srgbClr val="0B1F4D"/>
                </a:solidFill>
                <a:latin typeface="Segoe UI" pitchFamily="34" charset="0"/>
                <a:ea typeface="Segoe UI" pitchFamily="34" charset="-122"/>
                <a:cs typeface="Segoe UI" pitchFamily="34" charset="-120"/>
              </a:rPr>
              <a:t>Readability guard</a:t>
            </a:r>
            <a:endParaRPr lang="en-US" sz="1100" dirty="0"/>
          </a:p>
          <a:p>
            <a:pPr algn="l" indent="0" marL="0">
              <a:buNone/>
            </a:pPr>
            <a:r>
              <a:rPr lang="en-US" sz="900" dirty="0">
                <a:solidFill>
                  <a:srgbClr val="334155"/>
                </a:solidFill>
                <a:latin typeface="Segoe UI" pitchFamily="34" charset="0"/>
                <a:ea typeface="Segoe UI" pitchFamily="34" charset="-122"/>
                <a:cs typeface="Segoe UI" pitchFamily="34" charset="-120"/>
              </a:rPr>
              <a:t>Text &lt; 11 px and conf. &lt; 0.35 → ask for a clearer scan</a:t>
            </a:r>
            <a:endParaRPr lang="en-US" sz="1100" dirty="0"/>
          </a:p>
        </p:txBody>
      </p:sp>
      <p:sp>
        <p:nvSpPr>
          <p:cNvPr id="11" name="Shape 9"/>
          <p:cNvSpPr/>
          <p:nvPr/>
        </p:nvSpPr>
        <p:spPr>
          <a:xfrm>
            <a:off x="5334610" y="2148840"/>
            <a:ext cx="106985" cy="914"/>
          </a:xfrm>
          <a:prstGeom prst="line">
            <a:avLst/>
          </a:prstGeom>
          <a:noFill/>
          <a:ln w="15875">
            <a:solidFill>
              <a:srgbClr val="2563EB"/>
            </a:solidFill>
            <a:prstDash val="solid"/>
            <a:tailEnd type="triangle"/>
          </a:ln>
        </p:spPr>
      </p:sp>
      <p:sp>
        <p:nvSpPr>
          <p:cNvPr id="12" name="Text 10"/>
          <p:cNvSpPr/>
          <p:nvPr/>
        </p:nvSpPr>
        <p:spPr>
          <a:xfrm>
            <a:off x="5441594" y="1600200"/>
            <a:ext cx="1463040" cy="1097280"/>
          </a:xfrm>
          <a:prstGeom prst="roundRect">
            <a:avLst>
              <a:gd name="adj" fmla="val 5000"/>
            </a:avLst>
          </a:prstGeom>
          <a:solidFill>
            <a:srgbClr val="F8FAFC"/>
          </a:solidFill>
          <a:ln w="12700">
            <a:solidFill>
              <a:srgbClr val="D8DEE8"/>
            </a:solidFill>
            <a:prstDash val="solid"/>
          </a:ln>
        </p:spPr>
        <p:txBody>
          <a:bodyPr wrap="square" lIns="88900" tIns="88900" rIns="88900" bIns="88900" rtlCol="0" anchor="t"/>
          <a:lstStyle/>
          <a:p>
            <a:pPr algn="l" indent="0" marL="0">
              <a:buNone/>
            </a:pPr>
            <a:r>
              <a:rPr lang="en-US" sz="1100" b="1" dirty="0">
                <a:solidFill>
                  <a:srgbClr val="0B1F4D"/>
                </a:solidFill>
                <a:latin typeface="Segoe UI" pitchFamily="34" charset="0"/>
                <a:ea typeface="Segoe UI" pitchFamily="34" charset="-122"/>
                <a:cs typeface="Segoe UI" pitchFamily="34" charset="-120"/>
              </a:rPr>
              <a:t>Layout QA + anchors</a:t>
            </a:r>
            <a:endParaRPr lang="en-US" sz="1100" dirty="0"/>
          </a:p>
          <a:p>
            <a:pPr algn="l" indent="0" marL="0">
              <a:buNone/>
            </a:pPr>
            <a:r>
              <a:rPr lang="en-US" sz="900" dirty="0">
                <a:solidFill>
                  <a:srgbClr val="334155"/>
                </a:solidFill>
                <a:latin typeface="Segoe UI" pitchFamily="34" charset="0"/>
                <a:ea typeface="Segoe UI" pitchFamily="34" charset="-122"/>
                <a:cs typeface="Segoe UI" pitchFamily="34" charset="-120"/>
              </a:rPr>
              <a:t>LayoutLM question per field + bilingual labels</a:t>
            </a:r>
            <a:endParaRPr lang="en-US" sz="1100" dirty="0"/>
          </a:p>
        </p:txBody>
      </p:sp>
      <p:sp>
        <p:nvSpPr>
          <p:cNvPr id="13" name="Shape 11"/>
          <p:cNvSpPr/>
          <p:nvPr/>
        </p:nvSpPr>
        <p:spPr>
          <a:xfrm>
            <a:off x="6904634" y="2148840"/>
            <a:ext cx="106985" cy="914"/>
          </a:xfrm>
          <a:prstGeom prst="line">
            <a:avLst/>
          </a:prstGeom>
          <a:noFill/>
          <a:ln w="15875">
            <a:solidFill>
              <a:srgbClr val="2563EB"/>
            </a:solidFill>
            <a:prstDash val="solid"/>
            <a:tailEnd type="triangle"/>
          </a:ln>
        </p:spPr>
      </p:sp>
      <p:sp>
        <p:nvSpPr>
          <p:cNvPr id="14" name="Text 12"/>
          <p:cNvSpPr/>
          <p:nvPr/>
        </p:nvSpPr>
        <p:spPr>
          <a:xfrm>
            <a:off x="7011619" y="1600200"/>
            <a:ext cx="1463040" cy="1097280"/>
          </a:xfrm>
          <a:prstGeom prst="roundRect">
            <a:avLst>
              <a:gd name="adj" fmla="val 5000"/>
            </a:avLst>
          </a:prstGeom>
          <a:solidFill>
            <a:srgbClr val="F8FAFC"/>
          </a:solidFill>
          <a:ln w="12700">
            <a:solidFill>
              <a:srgbClr val="D8DEE8"/>
            </a:solidFill>
            <a:prstDash val="solid"/>
          </a:ln>
        </p:spPr>
        <p:txBody>
          <a:bodyPr wrap="square" lIns="88900" tIns="88900" rIns="88900" bIns="88900" rtlCol="0" anchor="t"/>
          <a:lstStyle/>
          <a:p>
            <a:pPr algn="l" indent="0" marL="0">
              <a:buNone/>
            </a:pPr>
            <a:r>
              <a:rPr lang="en-US" sz="1100" b="1" dirty="0">
                <a:solidFill>
                  <a:srgbClr val="0B1F4D"/>
                </a:solidFill>
                <a:latin typeface="Segoe UI" pitchFamily="34" charset="0"/>
                <a:ea typeface="Segoe UI" pitchFamily="34" charset="-122"/>
                <a:cs typeface="Segoe UI" pitchFamily="34" charset="-120"/>
              </a:rPr>
              <a:t>Validate</a:t>
            </a:r>
            <a:endParaRPr lang="en-US" sz="1100" dirty="0"/>
          </a:p>
          <a:p>
            <a:pPr algn="l" indent="0" marL="0">
              <a:buNone/>
            </a:pPr>
            <a:r>
              <a:rPr lang="en-US" sz="900" dirty="0">
                <a:solidFill>
                  <a:srgbClr val="334155"/>
                </a:solidFill>
                <a:latin typeface="Segoe UI" pitchFamily="34" charset="0"/>
                <a:ea typeface="Segoe UI" pitchFamily="34" charset="-122"/>
                <a:cs typeface="Segoe UI" pitchFamily="34" charset="-120"/>
              </a:rPr>
              <a:t>Dates, amounts, INN, HS; “О” → 0 in numbers</a:t>
            </a:r>
            <a:endParaRPr lang="en-US" sz="1100" dirty="0"/>
          </a:p>
        </p:txBody>
      </p:sp>
      <p:sp>
        <p:nvSpPr>
          <p:cNvPr id="15" name="Shape 13"/>
          <p:cNvSpPr/>
          <p:nvPr/>
        </p:nvSpPr>
        <p:spPr>
          <a:xfrm>
            <a:off x="8474659" y="2148840"/>
            <a:ext cx="106985" cy="914"/>
          </a:xfrm>
          <a:prstGeom prst="line">
            <a:avLst/>
          </a:prstGeom>
          <a:noFill/>
          <a:ln w="15875">
            <a:solidFill>
              <a:srgbClr val="2563EB"/>
            </a:solidFill>
            <a:prstDash val="solid"/>
            <a:tailEnd type="triangle"/>
          </a:ln>
        </p:spPr>
      </p:sp>
      <p:sp>
        <p:nvSpPr>
          <p:cNvPr id="16" name="Text 14"/>
          <p:cNvSpPr/>
          <p:nvPr/>
        </p:nvSpPr>
        <p:spPr>
          <a:xfrm>
            <a:off x="8581644" y="1600200"/>
            <a:ext cx="1463040" cy="1097280"/>
          </a:xfrm>
          <a:prstGeom prst="roundRect">
            <a:avLst>
              <a:gd name="adj" fmla="val 5000"/>
            </a:avLst>
          </a:prstGeom>
          <a:solidFill>
            <a:srgbClr val="F8FAFC"/>
          </a:solidFill>
          <a:ln w="12700">
            <a:solidFill>
              <a:srgbClr val="D8DEE8"/>
            </a:solidFill>
            <a:prstDash val="solid"/>
          </a:ln>
        </p:spPr>
        <p:txBody>
          <a:bodyPr wrap="square" lIns="88900" tIns="88900" rIns="88900" bIns="88900" rtlCol="0" anchor="t"/>
          <a:lstStyle/>
          <a:p>
            <a:pPr algn="l" indent="0" marL="0">
              <a:buNone/>
            </a:pPr>
            <a:r>
              <a:rPr lang="en-US" sz="1100" b="1" dirty="0">
                <a:solidFill>
                  <a:srgbClr val="0B1F4D"/>
                </a:solidFill>
                <a:latin typeface="Segoe UI" pitchFamily="34" charset="0"/>
                <a:ea typeface="Segoe UI" pitchFamily="34" charset="-122"/>
                <a:cs typeface="Segoe UI" pitchFamily="34" charset="-120"/>
              </a:rPr>
              <a:t>Confidence gate</a:t>
            </a:r>
            <a:endParaRPr lang="en-US" sz="1100" dirty="0"/>
          </a:p>
          <a:p>
            <a:pPr algn="l" indent="0" marL="0">
              <a:buNone/>
            </a:pPr>
            <a:r>
              <a:rPr lang="en-US" sz="900" dirty="0">
                <a:solidFill>
                  <a:srgbClr val="334155"/>
                </a:solidFill>
                <a:latin typeface="Segoe UI" pitchFamily="34" charset="0"/>
                <a:ea typeface="Segoe UI" pitchFamily="34" charset="-122"/>
                <a:cs typeface="Segoe UI" pitchFamily="34" charset="-120"/>
              </a:rPr>
              <a:t>≥ 0.80 accept · 0.50–0.80 review · &lt; 0.50 ask</a:t>
            </a:r>
            <a:endParaRPr lang="en-US" sz="1100" dirty="0"/>
          </a:p>
        </p:txBody>
      </p:sp>
      <p:sp>
        <p:nvSpPr>
          <p:cNvPr id="17" name="Shape 15"/>
          <p:cNvSpPr/>
          <p:nvPr/>
        </p:nvSpPr>
        <p:spPr>
          <a:xfrm>
            <a:off x="10044684" y="2148840"/>
            <a:ext cx="106985" cy="914"/>
          </a:xfrm>
          <a:prstGeom prst="line">
            <a:avLst/>
          </a:prstGeom>
          <a:noFill/>
          <a:ln w="15875">
            <a:solidFill>
              <a:srgbClr val="2563EB"/>
            </a:solidFill>
            <a:prstDash val="solid"/>
            <a:tailEnd type="triangle"/>
          </a:ln>
        </p:spPr>
      </p:sp>
      <p:sp>
        <p:nvSpPr>
          <p:cNvPr id="18" name="Text 16"/>
          <p:cNvSpPr/>
          <p:nvPr/>
        </p:nvSpPr>
        <p:spPr>
          <a:xfrm>
            <a:off x="10151669" y="1600200"/>
            <a:ext cx="1463040" cy="1097280"/>
          </a:xfrm>
          <a:prstGeom prst="roundRect">
            <a:avLst>
              <a:gd name="adj" fmla="val 5000"/>
            </a:avLst>
          </a:prstGeom>
          <a:solidFill>
            <a:srgbClr val="F8FAFC"/>
          </a:solidFill>
          <a:ln w="12700">
            <a:solidFill>
              <a:srgbClr val="D8DEE8"/>
            </a:solidFill>
            <a:prstDash val="solid"/>
          </a:ln>
        </p:spPr>
        <p:txBody>
          <a:bodyPr wrap="square" lIns="88900" tIns="88900" rIns="88900" bIns="88900" rtlCol="0" anchor="t"/>
          <a:lstStyle/>
          <a:p>
            <a:pPr algn="l" indent="0" marL="0">
              <a:buNone/>
            </a:pPr>
            <a:r>
              <a:rPr lang="en-US" sz="1100" b="1" dirty="0">
                <a:solidFill>
                  <a:srgbClr val="0B1F4D"/>
                </a:solidFill>
                <a:latin typeface="Segoe UI" pitchFamily="34" charset="0"/>
                <a:ea typeface="Segoe UI" pitchFamily="34" charset="-122"/>
                <a:cs typeface="Segoe UI" pitchFamily="34" charset="-120"/>
              </a:rPr>
              <a:t>Cross-check → ledger</a:t>
            </a:r>
            <a:endParaRPr lang="en-US" sz="1100" dirty="0"/>
          </a:p>
          <a:p>
            <a:pPr algn="l" indent="0" marL="0">
              <a:buNone/>
            </a:pPr>
            <a:r>
              <a:rPr lang="en-US" sz="900" dirty="0">
                <a:solidFill>
                  <a:srgbClr val="334155"/>
                </a:solidFill>
                <a:latin typeface="Segoe UI" pitchFamily="34" charset="0"/>
                <a:ea typeface="Segoe UI" pitchFamily="34" charset="-122"/>
                <a:cs typeface="Segoe UI" pitchFamily="34" charset="-120"/>
              </a:rPr>
              <a:t>Invoice vs contract &amp; intake; receipt vs bill</a:t>
            </a:r>
            <a:endParaRPr lang="en-US" sz="1100" dirty="0"/>
          </a:p>
        </p:txBody>
      </p:sp>
      <p:sp>
        <p:nvSpPr>
          <p:cNvPr id="19" name="Text 17"/>
          <p:cNvSpPr/>
          <p:nvPr/>
        </p:nvSpPr>
        <p:spPr>
          <a:xfrm>
            <a:off x="731520" y="3063240"/>
            <a:ext cx="5303520" cy="3246120"/>
          </a:xfrm>
          <a:prstGeom prst="roundRect">
            <a:avLst>
              <a:gd name="adj" fmla="val 2254"/>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20" name="Text 18"/>
          <p:cNvSpPr/>
          <p:nvPr/>
        </p:nvSpPr>
        <p:spPr>
          <a:xfrm>
            <a:off x="896112" y="3172968"/>
            <a:ext cx="497433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COMMERCIAL INVOICE — SPEC USED AT 7 STEPS</a:t>
            </a:r>
            <a:endParaRPr lang="en-US" sz="950" dirty="0"/>
          </a:p>
        </p:txBody>
      </p:sp>
      <p:sp>
        <p:nvSpPr>
          <p:cNvPr id="21" name="Text 19"/>
          <p:cNvSpPr/>
          <p:nvPr/>
        </p:nvSpPr>
        <p:spPr>
          <a:xfrm>
            <a:off x="914400" y="3383280"/>
            <a:ext cx="4983480" cy="2926080"/>
          </a:xfrm>
          <a:prstGeom prst="rect">
            <a:avLst/>
          </a:prstGeom>
          <a:noFill/>
          <a:ln/>
        </p:spPr>
        <p:txBody>
          <a:bodyPr wrap="square" lIns="0" tIns="0" rIns="0" bIns="0" rtlCol="0" anchor="t"/>
          <a:lstStyle/>
          <a:p>
            <a:pPr algn="l" indent="0" marL="0">
              <a:lnSpc>
                <a:spcPct val="105000"/>
              </a:lnSpc>
              <a:spcAft>
                <a:spcPts val="200"/>
              </a:spcAft>
              <a:buNone/>
            </a:pPr>
            <a:r>
              <a:rPr lang="en-US" sz="1050" b="1" dirty="0">
                <a:solidFill>
                  <a:srgbClr val="0B1F4D"/>
                </a:solidFill>
                <a:latin typeface="Segoe UI" pitchFamily="34" charset="0"/>
                <a:ea typeface="Segoe UI" pitchFamily="34" charset="-122"/>
                <a:cs typeface="Segoe UI" pitchFamily="34" charset="-120"/>
              </a:rPr>
              <a:t>Required fields</a:t>
            </a:r>
            <a:endParaRPr lang="en-US" sz="1050" dirty="0"/>
          </a:p>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Invoice number · Invoice date · Sent by (seller) · Sent to (buyer) · Description of goods · Quantity / total net weight · Total value · Currency of invoice</a:t>
            </a:r>
            <a:endParaRPr lang="en-US" sz="1050" dirty="0"/>
          </a:p>
          <a:p>
            <a:pPr algn="l" indent="0" marL="0">
              <a:lnSpc>
                <a:spcPct val="105000"/>
              </a:lnSpc>
              <a:spcAft>
                <a:spcPts val="200"/>
              </a:spcAft>
              <a:buNone/>
            </a:pPr>
            <a:r>
              <a:rPr lang="en-US" sz="500" dirty="0">
                <a:solidFill>
                  <a:srgbClr val="0F1729"/>
                </a:solidFill>
                <a:latin typeface="Segoe UI" pitchFamily="34" charset="0"/>
                <a:ea typeface="Segoe UI" pitchFamily="34" charset="-122"/>
                <a:cs typeface="Segoe UI" pitchFamily="34" charset="-120"/>
              </a:rPr>
              <a:t> </a:t>
            </a:r>
            <a:endParaRPr lang="en-US" sz="1050" dirty="0"/>
          </a:p>
          <a:p>
            <a:pPr algn="l" indent="0" marL="0">
              <a:lnSpc>
                <a:spcPct val="105000"/>
              </a:lnSpc>
              <a:spcAft>
                <a:spcPts val="200"/>
              </a:spcAft>
              <a:buNone/>
            </a:pPr>
            <a:r>
              <a:rPr lang="en-US" sz="1050" b="1" dirty="0">
                <a:solidFill>
                  <a:srgbClr val="0B1F4D"/>
                </a:solidFill>
                <a:latin typeface="Segoe UI" pitchFamily="34" charset="0"/>
                <a:ea typeface="Segoe UI" pitchFamily="34" charset="-122"/>
                <a:cs typeface="Segoe UI" pitchFamily="34" charset="-120"/>
              </a:rPr>
              <a:t>Cross-checks</a:t>
            </a:r>
            <a:endParaRPr lang="en-US" sz="1050" dirty="0"/>
          </a:p>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 Quantity and total value match the customs declaration</a:t>
            </a:r>
            <a:endParaRPr lang="en-US" sz="1050" dirty="0"/>
          </a:p>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 Quantity matches what intake recorded for the shipment</a:t>
            </a:r>
            <a:endParaRPr lang="en-US" sz="1050" dirty="0"/>
          </a:p>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 Buyer matches the counterparty in the registered foreign trade contract</a:t>
            </a:r>
            <a:endParaRPr lang="en-US" sz="1050" dirty="0"/>
          </a:p>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 Goods description and HS code match the certificate of origin and phytosanitary certificate</a:t>
            </a:r>
            <a:endParaRPr lang="en-US" sz="1050" dirty="0"/>
          </a:p>
        </p:txBody>
      </p:sp>
      <p:sp>
        <p:nvSpPr>
          <p:cNvPr id="22" name="Text 20"/>
          <p:cNvSpPr/>
          <p:nvPr/>
        </p:nvSpPr>
        <p:spPr>
          <a:xfrm>
            <a:off x="6217920" y="3063240"/>
            <a:ext cx="5394960" cy="3246120"/>
          </a:xfrm>
          <a:prstGeom prst="roundRect">
            <a:avLst>
              <a:gd name="adj" fmla="val 2254"/>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23" name="Text 21"/>
          <p:cNvSpPr/>
          <p:nvPr/>
        </p:nvSpPr>
        <p:spPr>
          <a:xfrm>
            <a:off x="6382512" y="3172968"/>
            <a:ext cx="506577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MEASURED (PROTOTYPE, CPU)</a:t>
            </a:r>
            <a:endParaRPr lang="en-US" sz="950" dirty="0"/>
          </a:p>
        </p:txBody>
      </p:sp>
      <p:sp>
        <p:nvSpPr>
          <p:cNvPr id="24" name="Text 22"/>
          <p:cNvSpPr/>
          <p:nvPr/>
        </p:nvSpPr>
        <p:spPr>
          <a:xfrm>
            <a:off x="6400800" y="3429000"/>
            <a:ext cx="2148840" cy="457200"/>
          </a:xfrm>
          <a:prstGeom prst="rect">
            <a:avLst/>
          </a:prstGeom>
          <a:noFill/>
          <a:ln/>
        </p:spPr>
        <p:txBody>
          <a:bodyPr wrap="square" lIns="0" tIns="0" rIns="0" bIns="0" rtlCol="0" anchor="ctr"/>
          <a:lstStyle/>
          <a:p>
            <a:pPr algn="l" indent="0" marL="0">
              <a:lnSpc>
                <a:spcPct val="105000"/>
              </a:lnSpc>
              <a:spcAft>
                <a:spcPts val="200"/>
              </a:spcAft>
              <a:buNone/>
            </a:pPr>
            <a:r>
              <a:rPr lang="en-US" sz="1000" dirty="0">
                <a:solidFill>
                  <a:srgbClr val="64748B"/>
                </a:solidFill>
                <a:latin typeface="Segoe UI" pitchFamily="34" charset="0"/>
                <a:ea typeface="Segoe UI" pitchFamily="34" charset="-122"/>
                <a:cs typeface="Segoe UI" pitchFamily="34" charset="-120"/>
              </a:rPr>
              <a:t>Synthetic A4 invoice</a:t>
            </a:r>
            <a:endParaRPr lang="en-US" sz="1000" dirty="0"/>
          </a:p>
        </p:txBody>
      </p:sp>
      <p:sp>
        <p:nvSpPr>
          <p:cNvPr id="25" name="Text 23"/>
          <p:cNvSpPr/>
          <p:nvPr/>
        </p:nvSpPr>
        <p:spPr>
          <a:xfrm>
            <a:off x="8549640" y="3429000"/>
            <a:ext cx="2971800" cy="457200"/>
          </a:xfrm>
          <a:prstGeom prst="rect">
            <a:avLst/>
          </a:prstGeom>
          <a:noFill/>
          <a:ln/>
        </p:spPr>
        <p:txBody>
          <a:bodyPr wrap="square" lIns="0" tIns="0" rIns="0" bIns="0" rtlCol="0" anchor="ctr"/>
          <a:lstStyle/>
          <a:p>
            <a:pPr algn="l" indent="0" marL="0">
              <a:lnSpc>
                <a:spcPct val="105000"/>
              </a:lnSpc>
              <a:spcAft>
                <a:spcPts val="200"/>
              </a:spcAft>
              <a:buNone/>
            </a:pPr>
            <a:r>
              <a:rPr lang="en-US" sz="1000" b="1" dirty="0">
                <a:solidFill>
                  <a:srgbClr val="047857"/>
                </a:solidFill>
                <a:latin typeface="Segoe UI" pitchFamily="34" charset="0"/>
                <a:ea typeface="Segoe UI" pitchFamily="34" charset="-122"/>
                <a:cs typeface="Segoe UI" pitchFamily="34" charset="-120"/>
              </a:rPr>
              <a:t>10 / 10 fields correct</a:t>
            </a:r>
            <a:endParaRPr lang="en-US" sz="1000" dirty="0"/>
          </a:p>
        </p:txBody>
      </p:sp>
      <p:sp>
        <p:nvSpPr>
          <p:cNvPr id="26" name="Text 24"/>
          <p:cNvSpPr/>
          <p:nvPr/>
        </p:nvSpPr>
        <p:spPr>
          <a:xfrm>
            <a:off x="6400800" y="3959352"/>
            <a:ext cx="2148840" cy="457200"/>
          </a:xfrm>
          <a:prstGeom prst="rect">
            <a:avLst/>
          </a:prstGeom>
          <a:noFill/>
          <a:ln/>
        </p:spPr>
        <p:txBody>
          <a:bodyPr wrap="square" lIns="0" tIns="0" rIns="0" bIns="0" rtlCol="0" anchor="ctr"/>
          <a:lstStyle/>
          <a:p>
            <a:pPr algn="l" indent="0" marL="0">
              <a:lnSpc>
                <a:spcPct val="105000"/>
              </a:lnSpc>
              <a:spcAft>
                <a:spcPts val="200"/>
              </a:spcAft>
              <a:buNone/>
            </a:pPr>
            <a:r>
              <a:rPr lang="en-US" sz="1000" dirty="0">
                <a:solidFill>
                  <a:srgbClr val="64748B"/>
                </a:solidFill>
                <a:latin typeface="Segoe UI" pitchFamily="34" charset="0"/>
                <a:ea typeface="Segoe UI" pitchFamily="34" charset="-122"/>
                <a:cs typeface="Segoe UI" pitchFamily="34" charset="-120"/>
              </a:rPr>
              <a:t>Published specimens (low-res)</a:t>
            </a:r>
            <a:endParaRPr lang="en-US" sz="1000" dirty="0"/>
          </a:p>
        </p:txBody>
      </p:sp>
      <p:sp>
        <p:nvSpPr>
          <p:cNvPr id="27" name="Text 25"/>
          <p:cNvSpPr/>
          <p:nvPr/>
        </p:nvSpPr>
        <p:spPr>
          <a:xfrm>
            <a:off x="8549640" y="3959352"/>
            <a:ext cx="2971800" cy="457200"/>
          </a:xfrm>
          <a:prstGeom prst="rect">
            <a:avLst/>
          </a:prstGeom>
          <a:noFill/>
          <a:ln/>
        </p:spPr>
        <p:txBody>
          <a:bodyPr wrap="square" lIns="0" tIns="0" rIns="0" bIns="0" rtlCol="0" anchor="ctr"/>
          <a:lstStyle/>
          <a:p>
            <a:pPr algn="l" indent="0" marL="0">
              <a:lnSpc>
                <a:spcPct val="105000"/>
              </a:lnSpc>
              <a:spcAft>
                <a:spcPts val="200"/>
              </a:spcAft>
              <a:buNone/>
            </a:pPr>
            <a:r>
              <a:rPr lang="en-US" sz="1000" b="1" dirty="0">
                <a:solidFill>
                  <a:srgbClr val="047857"/>
                </a:solidFill>
                <a:latin typeface="Segoe UI" pitchFamily="34" charset="0"/>
                <a:ea typeface="Segoe UI" pitchFamily="34" charset="-122"/>
                <a:cs typeface="Segoe UI" pitchFamily="34" charset="-120"/>
              </a:rPr>
              <a:t>0 wrong values auto-accepted · 11/37 read</a:t>
            </a:r>
            <a:endParaRPr lang="en-US" sz="1000" dirty="0"/>
          </a:p>
        </p:txBody>
      </p:sp>
      <p:sp>
        <p:nvSpPr>
          <p:cNvPr id="28" name="Text 26"/>
          <p:cNvSpPr/>
          <p:nvPr/>
        </p:nvSpPr>
        <p:spPr>
          <a:xfrm>
            <a:off x="6400800" y="4489704"/>
            <a:ext cx="2148840" cy="457200"/>
          </a:xfrm>
          <a:prstGeom prst="rect">
            <a:avLst/>
          </a:prstGeom>
          <a:noFill/>
          <a:ln/>
        </p:spPr>
        <p:txBody>
          <a:bodyPr wrap="square" lIns="0" tIns="0" rIns="0" bIns="0" rtlCol="0" anchor="ctr"/>
          <a:lstStyle/>
          <a:p>
            <a:pPr algn="l" indent="0" marL="0">
              <a:lnSpc>
                <a:spcPct val="105000"/>
              </a:lnSpc>
              <a:spcAft>
                <a:spcPts val="200"/>
              </a:spcAft>
              <a:buNone/>
            </a:pPr>
            <a:r>
              <a:rPr lang="en-US" sz="1000" dirty="0">
                <a:solidFill>
                  <a:srgbClr val="64748B"/>
                </a:solidFill>
                <a:latin typeface="Segoe UI" pitchFamily="34" charset="0"/>
                <a:ea typeface="Segoe UI" pitchFamily="34" charset="-122"/>
                <a:cs typeface="Segoe UI" pitchFamily="34" charset="-120"/>
              </a:rPr>
              <a:t>Demo pack 868 (38 pages)</a:t>
            </a:r>
            <a:endParaRPr lang="en-US" sz="1000" dirty="0"/>
          </a:p>
        </p:txBody>
      </p:sp>
      <p:sp>
        <p:nvSpPr>
          <p:cNvPr id="29" name="Text 27"/>
          <p:cNvSpPr/>
          <p:nvPr/>
        </p:nvSpPr>
        <p:spPr>
          <a:xfrm>
            <a:off x="8549640" y="4489704"/>
            <a:ext cx="2971800" cy="457200"/>
          </a:xfrm>
          <a:prstGeom prst="rect">
            <a:avLst/>
          </a:prstGeom>
          <a:noFill/>
          <a:ln/>
        </p:spPr>
        <p:txBody>
          <a:bodyPr wrap="square" lIns="0" tIns="0" rIns="0" bIns="0" rtlCol="0" anchor="ctr"/>
          <a:lstStyle/>
          <a:p>
            <a:pPr algn="l" indent="0" marL="0">
              <a:lnSpc>
                <a:spcPct val="105000"/>
              </a:lnSpc>
              <a:spcAft>
                <a:spcPts val="200"/>
              </a:spcAft>
              <a:buNone/>
            </a:pPr>
            <a:r>
              <a:rPr lang="en-US" sz="1000" b="1" dirty="0">
                <a:solidFill>
                  <a:srgbClr val="B91C1C"/>
                </a:solidFill>
                <a:latin typeface="Segoe UI" pitchFamily="34" charset="0"/>
                <a:ea typeface="Segoe UI" pitchFamily="34" charset="-122"/>
                <a:cs typeface="Segoe UI" pitchFamily="34" charset="-120"/>
              </a:rPr>
              <a:t>97/160 correct · 35 wrong auto-accepted</a:t>
            </a:r>
            <a:endParaRPr lang="en-US" sz="1000" dirty="0"/>
          </a:p>
        </p:txBody>
      </p:sp>
      <p:sp>
        <p:nvSpPr>
          <p:cNvPr id="30" name="Text 28"/>
          <p:cNvSpPr/>
          <p:nvPr/>
        </p:nvSpPr>
        <p:spPr>
          <a:xfrm>
            <a:off x="6400800" y="5020056"/>
            <a:ext cx="2148840" cy="457200"/>
          </a:xfrm>
          <a:prstGeom prst="rect">
            <a:avLst/>
          </a:prstGeom>
          <a:noFill/>
          <a:ln/>
        </p:spPr>
        <p:txBody>
          <a:bodyPr wrap="square" lIns="0" tIns="0" rIns="0" bIns="0" rtlCol="0" anchor="ctr"/>
          <a:lstStyle/>
          <a:p>
            <a:pPr algn="l" indent="0" marL="0">
              <a:lnSpc>
                <a:spcPct val="105000"/>
              </a:lnSpc>
              <a:spcAft>
                <a:spcPts val="200"/>
              </a:spcAft>
              <a:buNone/>
            </a:pPr>
            <a:r>
              <a:rPr lang="en-US" sz="1000" dirty="0">
                <a:solidFill>
                  <a:srgbClr val="64748B"/>
                </a:solidFill>
                <a:latin typeface="Segoe UI" pitchFamily="34" charset="0"/>
                <a:ea typeface="Segoe UI" pitchFamily="34" charset="-122"/>
                <a:cs typeface="Segoe UI" pitchFamily="34" charset="-120"/>
              </a:rPr>
              <a:t>OCR time</a:t>
            </a:r>
            <a:endParaRPr lang="en-US" sz="1000" dirty="0"/>
          </a:p>
        </p:txBody>
      </p:sp>
      <p:sp>
        <p:nvSpPr>
          <p:cNvPr id="31" name="Text 29"/>
          <p:cNvSpPr/>
          <p:nvPr/>
        </p:nvSpPr>
        <p:spPr>
          <a:xfrm>
            <a:off x="8549640" y="5020056"/>
            <a:ext cx="2971800" cy="457200"/>
          </a:xfrm>
          <a:prstGeom prst="rect">
            <a:avLst/>
          </a:prstGeom>
          <a:noFill/>
          <a:ln/>
        </p:spPr>
        <p:txBody>
          <a:bodyPr wrap="square" lIns="0" tIns="0" rIns="0" bIns="0" rtlCol="0" anchor="ctr"/>
          <a:lstStyle/>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15.9 s at 1240 px vs 44.7 s at 2480 px — same accuracy</a:t>
            </a:r>
            <a:endParaRPr lang="en-US" sz="1000" dirty="0"/>
          </a:p>
        </p:txBody>
      </p:sp>
      <p:sp>
        <p:nvSpPr>
          <p:cNvPr id="32" name="Text 30"/>
          <p:cNvSpPr/>
          <p:nvPr/>
        </p:nvSpPr>
        <p:spPr>
          <a:xfrm>
            <a:off x="6400800" y="5550408"/>
            <a:ext cx="2148840" cy="457200"/>
          </a:xfrm>
          <a:prstGeom prst="rect">
            <a:avLst/>
          </a:prstGeom>
          <a:noFill/>
          <a:ln/>
        </p:spPr>
        <p:txBody>
          <a:bodyPr wrap="square" lIns="0" tIns="0" rIns="0" bIns="0" rtlCol="0" anchor="ctr"/>
          <a:lstStyle/>
          <a:p>
            <a:pPr algn="l" indent="0" marL="0">
              <a:lnSpc>
                <a:spcPct val="105000"/>
              </a:lnSpc>
              <a:spcAft>
                <a:spcPts val="200"/>
              </a:spcAft>
              <a:buNone/>
            </a:pPr>
            <a:r>
              <a:rPr lang="en-US" sz="1000" dirty="0">
                <a:solidFill>
                  <a:srgbClr val="64748B"/>
                </a:solidFill>
                <a:latin typeface="Segoe UI" pitchFamily="34" charset="0"/>
                <a:ea typeface="Segoe UI" pitchFamily="34" charset="-122"/>
                <a:cs typeface="Segoe UI" pitchFamily="34" charset="-120"/>
              </a:rPr>
              <a:t>LayoutLM</a:t>
            </a:r>
            <a:endParaRPr lang="en-US" sz="1000" dirty="0"/>
          </a:p>
        </p:txBody>
      </p:sp>
      <p:sp>
        <p:nvSpPr>
          <p:cNvPr id="33" name="Text 31"/>
          <p:cNvSpPr/>
          <p:nvPr/>
        </p:nvSpPr>
        <p:spPr>
          <a:xfrm>
            <a:off x="8549640" y="5550408"/>
            <a:ext cx="2971800" cy="457200"/>
          </a:xfrm>
          <a:prstGeom prst="rect">
            <a:avLst/>
          </a:prstGeom>
          <a:noFill/>
          <a:ln/>
        </p:spPr>
        <p:txBody>
          <a:bodyPr wrap="square" lIns="0" tIns="0" rIns="0" bIns="0" rtlCol="0" anchor="ctr"/>
          <a:lstStyle/>
          <a:p>
            <a:pPr algn="l" indent="0" marL="0">
              <a:lnSpc>
                <a:spcPct val="105000"/>
              </a:lnSpc>
              <a:spcAft>
                <a:spcPts val="200"/>
              </a:spcAft>
              <a:buNone/>
            </a:pPr>
            <a:r>
              <a:rPr lang="en-US" sz="1000" dirty="0">
                <a:solidFill>
                  <a:srgbClr val="334155"/>
                </a:solidFill>
                <a:latin typeface="Segoe UI" pitchFamily="34" charset="0"/>
                <a:ea typeface="Segoe UI" pitchFamily="34" charset="-122"/>
                <a:cs typeface="Segoe UI" pitchFamily="34" charset="-120"/>
              </a:rPr>
              <a:t>≈1.9 s per field question on a readable page</a:t>
            </a:r>
            <a:endParaRPr lang="en-US" sz="10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06 · RISK &amp; COMPLIANCE AGENT</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Every row is a value with its reason — computed for this shipment</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Overall: Caution · 1 open · 4 pending — Tashkent → Moscow, 60 t tea by train</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481328"/>
          <a:ext cx="8321040" cy="914400"/>
        </p:xfrm>
        <a:graphic>
          <a:graphicData uri="http://schemas.openxmlformats.org/drawingml/2006/table">
            <a:tbl>
              <a:tblPr/>
              <a:tblGrid>
                <a:gridCol w="731520"/>
                <a:gridCol w="1828800"/>
                <a:gridCol w="2103120"/>
                <a:gridCol w="3657600"/>
              </a:tblGrid>
              <a:tr h="274320">
                <a:tc>
                  <a:txBody>
                    <a:bodyPr/>
                    <a:lstStyle/>
                    <a:p>
                      <a:pPr algn="l" indent="0" marL="0">
                        <a:buNone/>
                      </a:pPr>
                      <a:r>
                        <a:rPr lang="en-US" sz="900" b="1" dirty="0">
                          <a:solidFill>
                            <a:srgbClr val="FFFFFF"/>
                          </a:solidFill>
                          <a:latin typeface="Segoe UI" pitchFamily="34" charset="0"/>
                          <a:ea typeface="Segoe UI" pitchFamily="34" charset="-122"/>
                          <a:cs typeface="Segoe UI" pitchFamily="34" charset="-120"/>
                        </a:rPr>
                        <a:t>Status</a:t>
                      </a:r>
                      <a:endParaRPr lang="en-US" sz="90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00" b="1" dirty="0">
                          <a:solidFill>
                            <a:srgbClr val="FFFFFF"/>
                          </a:solidFill>
                          <a:latin typeface="Segoe UI" pitchFamily="34" charset="0"/>
                          <a:ea typeface="Segoe UI" pitchFamily="34" charset="-122"/>
                          <a:cs typeface="Segoe UI" pitchFamily="34" charset="-120"/>
                        </a:rPr>
                        <a:t>Check</a:t>
                      </a:r>
                      <a:endParaRPr lang="en-US" sz="90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00" b="1" dirty="0">
                          <a:solidFill>
                            <a:srgbClr val="FFFFFF"/>
                          </a:solidFill>
                          <a:latin typeface="Segoe UI" pitchFamily="34" charset="0"/>
                          <a:ea typeface="Segoe UI" pitchFamily="34" charset="-122"/>
                          <a:cs typeface="Segoe UI" pitchFamily="34" charset="-120"/>
                        </a:rPr>
                        <a:t>Value</a:t>
                      </a:r>
                      <a:endParaRPr lang="en-US" sz="90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00" b="1" dirty="0">
                          <a:solidFill>
                            <a:srgbClr val="FFFFFF"/>
                          </a:solidFill>
                          <a:latin typeface="Segoe UI" pitchFamily="34" charset="0"/>
                          <a:ea typeface="Segoe UI" pitchFamily="34" charset="-122"/>
                          <a:cs typeface="Segoe UI" pitchFamily="34" charset="-120"/>
                        </a:rPr>
                        <a:t>Reason</a:t>
                      </a:r>
                      <a:endParaRPr lang="en-US" sz="90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r>
              <a:tr h="274320">
                <a:tc>
                  <a:txBody>
                    <a:bodyPr/>
                    <a:lstStyle/>
                    <a:p>
                      <a:pPr algn="ctr" indent="0" marL="0">
                        <a:buNone/>
                      </a:pPr>
                      <a:r>
                        <a:rPr lang="en-US" sz="850" b="1" dirty="0">
                          <a:solidFill>
                            <a:srgbClr val="B45309"/>
                          </a:solidFill>
                          <a:latin typeface="Segoe UI" pitchFamily="34" charset="0"/>
                          <a:ea typeface="Segoe UI" pitchFamily="34" charset="-122"/>
                          <a:cs typeface="Segoe UI" pitchFamily="34" charset="-120"/>
                        </a:rPr>
                        <a:t>Caution</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EF3E2"/>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HS classification</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0902</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“tea” → 0902; 0902.10–0902.40 turns on green or black tea and packets of 3 kg or less — box 33 of the declaration needs 10 digits</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274320">
                <a:tc>
                  <a:txBody>
                    <a:bodyPr/>
                    <a:lstStyle/>
                    <a:p>
                      <a:pPr algn="ctr" indent="0" marL="0">
                        <a:buNone/>
                      </a:pPr>
                      <a:r>
                        <a:rPr lang="en-US" sz="850" b="1" dirty="0">
                          <a:solidFill>
                            <a:srgbClr val="047857"/>
                          </a:solidFill>
                          <a:latin typeface="Segoe UI" pitchFamily="34" charset="0"/>
                          <a:ea typeface="Segoe UI" pitchFamily="34" charset="-122"/>
                          <a:cs typeface="Segoe UI" pitchFamily="34" charset="-120"/>
                        </a:rPr>
                        <a:t>OK</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E7F6EF"/>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Procedure</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868 · export by train</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Tashkent (Uzbekistan) → Moscow (Russia)</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274320">
                <a:tc>
                  <a:txBody>
                    <a:bodyPr/>
                    <a:lstStyle/>
                    <a:p>
                      <a:pPr algn="ctr" indent="0" marL="0">
                        <a:buNone/>
                      </a:pPr>
                      <a:r>
                        <a:rPr lang="en-US" sz="850" b="1" dirty="0">
                          <a:solidFill>
                            <a:srgbClr val="047857"/>
                          </a:solidFill>
                          <a:latin typeface="Segoe UI" pitchFamily="34" charset="0"/>
                          <a:ea typeface="Segoe UI" pitchFamily="34" charset="-122"/>
                          <a:cs typeface="Segoe UI" pitchFamily="34" charset="-120"/>
                        </a:rPr>
                        <a:t>OK</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E7F6EF"/>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Route</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≈3,489 km · via Kazakhstan · 8.8–17 days</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Russia: Via Kazakhstan</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274320">
                <a:tc>
                  <a:txBody>
                    <a:bodyPr/>
                    <a:lstStyle/>
                    <a:p>
                      <a:pPr algn="ctr" indent="0" marL="0">
                        <a:buNone/>
                      </a:pPr>
                      <a:r>
                        <a:rPr lang="en-US" sz="850" b="1" dirty="0">
                          <a:solidFill>
                            <a:srgbClr val="047857"/>
                          </a:solidFill>
                          <a:latin typeface="Segoe UI" pitchFamily="34" charset="0"/>
                          <a:ea typeface="Segoe UI" pitchFamily="34" charset="-122"/>
                          <a:cs typeface="Segoe UI" pitchFamily="34" charset="-120"/>
                        </a:rPr>
                        <a:t>OK</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E7F6EF"/>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Origin proof</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Form CT-1</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Russia is an EAEU member — per the country list</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274320">
                <a:tc>
                  <a:txBody>
                    <a:bodyPr/>
                    <a:lstStyle/>
                    <a:p>
                      <a:pPr algn="ctr" indent="0" marL="0">
                        <a:buNone/>
                      </a:pPr>
                      <a:r>
                        <a:rPr lang="en-US" sz="850" b="1" dirty="0">
                          <a:solidFill>
                            <a:srgbClr val="047857"/>
                          </a:solidFill>
                          <a:latin typeface="Segoe UI" pitchFamily="34" charset="0"/>
                          <a:ea typeface="Segoe UI" pitchFamily="34" charset="-122"/>
                          <a:cs typeface="Segoe UI" pitchFamily="34" charset="-120"/>
                        </a:rPr>
                        <a:t>OK</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E7F6EF"/>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Russia requires</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Not applicable</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“Phytosanitary certificate for fresh produce” — the goods are tea</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274320">
                <a:tc>
                  <a:txBody>
                    <a:bodyPr/>
                    <a:lstStyle/>
                    <a:p>
                      <a:pPr algn="ctr" indent="0" marL="0">
                        <a:buNone/>
                      </a:pPr>
                      <a:r>
                        <a:rPr lang="en-US" sz="850" b="1" dirty="0">
                          <a:solidFill>
                            <a:srgbClr val="047857"/>
                          </a:solidFill>
                          <a:latin typeface="Segoe UI" pitchFamily="34" charset="0"/>
                          <a:ea typeface="Segoe UI" pitchFamily="34" charset="-122"/>
                          <a:cs typeface="Segoe UI" pitchFamily="34" charset="-120"/>
                        </a:rPr>
                        <a:t>OK</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E7F6EF"/>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Transport units</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60 t → 2 covered wagons</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30 t per covered wagon; offer agreements must state 2 transport units</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274320">
                <a:tc>
                  <a:txBody>
                    <a:bodyPr/>
                    <a:lstStyle/>
                    <a:p>
                      <a:pPr algn="ctr" indent="0" marL="0">
                        <a:buNone/>
                      </a:pPr>
                      <a:r>
                        <a:rPr lang="en-US" sz="850" b="1" dirty="0">
                          <a:solidFill>
                            <a:srgbClr val="2563EB"/>
                          </a:solidFill>
                          <a:latin typeface="Segoe UI" pitchFamily="34" charset="0"/>
                          <a:ea typeface="Segoe UI" pitchFamily="34" charset="-122"/>
                          <a:cs typeface="Segoe UI" pitchFamily="34" charset="-120"/>
                        </a:rPr>
                        <a:t>Pending</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EAF1FF"/>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Internal phytosanitary certificate</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Pending — step 18</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Required for tea × export</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274320">
                <a:tc>
                  <a:txBody>
                    <a:bodyPr/>
                    <a:lstStyle/>
                    <a:p>
                      <a:pPr algn="ctr" indent="0" marL="0">
                        <a:buNone/>
                      </a:pPr>
                      <a:r>
                        <a:rPr lang="en-US" sz="850" b="1" dirty="0">
                          <a:solidFill>
                            <a:srgbClr val="2563EB"/>
                          </a:solidFill>
                          <a:latin typeface="Segoe UI" pitchFamily="34" charset="0"/>
                          <a:ea typeface="Segoe UI" pitchFamily="34" charset="-122"/>
                          <a:cs typeface="Segoe UI" pitchFamily="34" charset="-120"/>
                        </a:rPr>
                        <a:t>Pending</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EAF1FF"/>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Phytosanitary certificate</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Pending — step 31</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Required for tea × export</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274320">
                <a:tc>
                  <a:txBody>
                    <a:bodyPr/>
                    <a:lstStyle/>
                    <a:p>
                      <a:pPr algn="ctr" indent="0" marL="0">
                        <a:buNone/>
                      </a:pPr>
                      <a:r>
                        <a:rPr lang="en-US" sz="850" b="1" dirty="0">
                          <a:solidFill>
                            <a:srgbClr val="2563EB"/>
                          </a:solidFill>
                          <a:latin typeface="Segoe UI" pitchFamily="34" charset="0"/>
                          <a:ea typeface="Segoe UI" pitchFamily="34" charset="-122"/>
                          <a:cs typeface="Segoe UI" pitchFamily="34" charset="-120"/>
                        </a:rPr>
                        <a:t>Pending</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EAF1FF"/>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Certificate of origin</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Pending — step 39</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Required for tea × export</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274320">
                <a:tc>
                  <a:txBody>
                    <a:bodyPr/>
                    <a:lstStyle/>
                    <a:p>
                      <a:pPr algn="ctr" indent="0" marL="0">
                        <a:buNone/>
                      </a:pPr>
                      <a:r>
                        <a:rPr lang="en-US" sz="850" b="1" dirty="0">
                          <a:solidFill>
                            <a:srgbClr val="2563EB"/>
                          </a:solidFill>
                          <a:latin typeface="Segoe UI" pitchFamily="34" charset="0"/>
                          <a:ea typeface="Segoe UI" pitchFamily="34" charset="-122"/>
                          <a:cs typeface="Segoe UI" pitchFamily="34" charset="-120"/>
                        </a:rPr>
                        <a:t>Pending</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EAF1FF"/>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Export customs declaration</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Pending — step 45</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Required for tea × export</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274320">
                <a:tc>
                  <a:txBody>
                    <a:bodyPr/>
                    <a:lstStyle/>
                    <a:p>
                      <a:pPr algn="ctr" indent="0" marL="0">
                        <a:buNone/>
                      </a:pPr>
                      <a:r>
                        <a:rPr lang="en-US" sz="850" b="1" dirty="0">
                          <a:solidFill>
                            <a:srgbClr val="475569"/>
                          </a:solidFill>
                          <a:latin typeface="Segoe UI" pitchFamily="34" charset="0"/>
                          <a:ea typeface="Segoe UI" pitchFamily="34" charset="-122"/>
                          <a:cs typeface="Segoe UI" pitchFamily="34" charset="-120"/>
                        </a:rPr>
                        <a:t>Unknown</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1F5F9"/>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Quantity check</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No weight read from a document yet</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Compared as soon as an invoice, packing list or railway bill is read</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274320">
                <a:tc>
                  <a:txBody>
                    <a:bodyPr/>
                    <a:lstStyle/>
                    <a:p>
                      <a:pPr algn="ctr" indent="0" marL="0">
                        <a:buNone/>
                      </a:pPr>
                      <a:r>
                        <a:rPr lang="en-US" sz="850" b="1" dirty="0">
                          <a:solidFill>
                            <a:srgbClr val="047857"/>
                          </a:solidFill>
                          <a:latin typeface="Segoe UI" pitchFamily="34" charset="0"/>
                          <a:ea typeface="Segoe UI" pitchFamily="34" charset="-122"/>
                          <a:cs typeface="Segoe UI" pitchFamily="34" charset="-120"/>
                        </a:rPr>
                        <a:t>OK</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E7F6EF"/>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Perishability</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Shelf-stable</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tea keeps for months; transit time isn't the limit</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274320">
                <a:tc>
                  <a:txBody>
                    <a:bodyPr/>
                    <a:lstStyle/>
                    <a:p>
                      <a:pPr algn="ctr" indent="0" marL="0">
                        <a:buNone/>
                      </a:pPr>
                      <a:r>
                        <a:rPr lang="en-US" sz="850" b="1" dirty="0">
                          <a:solidFill>
                            <a:srgbClr val="475569"/>
                          </a:solidFill>
                          <a:latin typeface="Segoe UI" pitchFamily="34" charset="0"/>
                          <a:ea typeface="Segoe UI" pitchFamily="34" charset="-122"/>
                          <a:cs typeface="Segoe UI" pitchFamily="34" charset="-120"/>
                        </a:rPr>
                        <a:t>Unknown</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1F5F9"/>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Customs inspection</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Not estimated</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Step 44 is risk-selected by customs; there is no inspection history to estimate a likelihood from</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274320">
                <a:tc>
                  <a:txBody>
                    <a:bodyPr/>
                    <a:lstStyle/>
                    <a:p>
                      <a:pPr algn="ctr" indent="0" marL="0">
                        <a:buNone/>
                      </a:pPr>
                      <a:r>
                        <a:rPr lang="en-US" sz="850" b="1" dirty="0">
                          <a:solidFill>
                            <a:srgbClr val="475569"/>
                          </a:solidFill>
                          <a:latin typeface="Segoe UI" pitchFamily="34" charset="0"/>
                          <a:ea typeface="Segoe UI" pitchFamily="34" charset="-122"/>
                          <a:cs typeface="Segoe UI" pitchFamily="34" charset="-120"/>
                        </a:rPr>
                        <a:t>Unknown</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1F5F9"/>
                    </a:solidFill>
                  </a:tcPr>
                </a:tc>
                <a:tc>
                  <a:txBody>
                    <a:bodyPr/>
                    <a:lstStyle/>
                    <a:p>
                      <a:pPr algn="l" indent="0" marL="0">
                        <a:buNone/>
                      </a:pPr>
                      <a:r>
                        <a:rPr lang="en-US" sz="850" b="1" dirty="0">
                          <a:solidFill>
                            <a:srgbClr val="0F1729"/>
                          </a:solidFill>
                          <a:latin typeface="Segoe UI" pitchFamily="34" charset="0"/>
                          <a:ea typeface="Segoe UI" pitchFamily="34" charset="-122"/>
                          <a:cs typeface="Segoe UI" pitchFamily="34" charset="-120"/>
                        </a:rPr>
                        <a:t>Export duty</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Not computed</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F1729"/>
                          </a:solidFill>
                          <a:latin typeface="Segoe UI" pitchFamily="34" charset="0"/>
                          <a:ea typeface="Segoe UI" pitchFamily="34" charset="-122"/>
                          <a:cs typeface="Segoe UI" pitchFamily="34" charset="-120"/>
                        </a:rPr>
                        <a:t>Uzbekistan's tariff schedule hasn't been sourced — no rate is invented</a:t>
                      </a:r>
                      <a:endParaRPr lang="en-US" sz="850" dirty="0">
                        <a:latin typeface="Segoe UI" charset="0"/>
                        <a:ea typeface="Segoe UI" charset="0"/>
                        <a:cs typeface="Segoe UI" charset="0"/>
                      </a:endParaRPr>
                    </a:p>
                  </a:txBody>
                  <a:tcPr marL="27432" marR="27432" marT="27432" marB="2743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bl>
          </a:graphicData>
        </a:graphic>
      </p:graphicFrame>
      <p:sp>
        <p:nvSpPr>
          <p:cNvPr id="7" name="Text 4"/>
          <p:cNvSpPr/>
          <p:nvPr/>
        </p:nvSpPr>
        <p:spPr>
          <a:xfrm>
            <a:off x="9235440" y="1481328"/>
            <a:ext cx="2377440" cy="4828032"/>
          </a:xfrm>
          <a:prstGeom prst="roundRect">
            <a:avLst>
              <a:gd name="adj" fmla="val 3077"/>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8" name="Text 5"/>
          <p:cNvSpPr/>
          <p:nvPr/>
        </p:nvSpPr>
        <p:spPr>
          <a:xfrm>
            <a:off x="9400032" y="1591056"/>
            <a:ext cx="204825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ROLE</a:t>
            </a:r>
            <a:endParaRPr lang="en-US" sz="950" dirty="0"/>
          </a:p>
        </p:txBody>
      </p:sp>
      <p:sp>
        <p:nvSpPr>
          <p:cNvPr id="9" name="Text 6"/>
          <p:cNvSpPr/>
          <p:nvPr/>
        </p:nvSpPr>
        <p:spPr>
          <a:xfrm>
            <a:off x="9400032" y="1810512"/>
            <a:ext cx="2103120" cy="443484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dirty="0">
                <a:solidFill>
                  <a:srgbClr val="334155"/>
                </a:solidFill>
                <a:latin typeface="Segoe UI" pitchFamily="34" charset="0"/>
                <a:ea typeface="Segoe UI" pitchFamily="34" charset="-122"/>
                <a:cs typeface="Segoe UI" pitchFamily="34" charset="-120"/>
              </a:rPr>
              <a:t>Rules engine keyed commodity × direction: which certificates, in what order</a:t>
            </a:r>
            <a:endParaRPr lang="en-US" sz="1000" dirty="0"/>
          </a:p>
          <a:p>
            <a:pPr marL="177800" indent="-177800">
              <a:lnSpc>
                <a:spcPct val="105000"/>
              </a:lnSpc>
              <a:spcAft>
                <a:spcPts val="600"/>
              </a:spcAft>
              <a:buSzPct val="100000"/>
              <a:buChar char="•"/>
            </a:pPr>
            <a:r>
              <a:rPr lang="en-US" sz="1000" dirty="0">
                <a:solidFill>
                  <a:srgbClr val="334155"/>
                </a:solidFill>
                <a:latin typeface="Segoe UI" pitchFamily="34" charset="0"/>
                <a:ea typeface="Segoe UI" pitchFamily="34" charset="-122"/>
                <a:cs typeface="Segoe UI" pitchFamily="34" charset="-120"/>
              </a:rPr>
              <a:t>Country list: origin proof (CT-1), crossings, destination requirements</a:t>
            </a:r>
            <a:endParaRPr lang="en-US" sz="1000" dirty="0"/>
          </a:p>
          <a:p>
            <a:pPr marL="177800" indent="-177800">
              <a:lnSpc>
                <a:spcPct val="105000"/>
              </a:lnSpc>
              <a:spcAft>
                <a:spcPts val="600"/>
              </a:spcAft>
              <a:buSzPct val="100000"/>
              <a:buChar char="•"/>
            </a:pPr>
            <a:r>
              <a:rPr lang="en-US" sz="1000" dirty="0">
                <a:solidFill>
                  <a:srgbClr val="334155"/>
                </a:solidFill>
                <a:latin typeface="Segoe UI" pitchFamily="34" charset="0"/>
                <a:ea typeface="Segoe UI" pitchFamily="34" charset="-122"/>
                <a:cs typeface="Segoe UI" pitchFamily="34" charset="-120"/>
              </a:rPr>
              <a:t>Workflow state: pending rows point to the step that clears them</a:t>
            </a:r>
            <a:endParaRPr lang="en-US" sz="1000" dirty="0"/>
          </a:p>
          <a:p>
            <a:pPr marL="177800" indent="-177800">
              <a:lnSpc>
                <a:spcPct val="105000"/>
              </a:lnSpc>
              <a:spcAft>
                <a:spcPts val="600"/>
              </a:spcAft>
              <a:buSzPct val="100000"/>
              <a:buChar char="•"/>
            </a:pPr>
            <a:r>
              <a:rPr lang="en-US" sz="1000" dirty="0">
                <a:solidFill>
                  <a:srgbClr val="334155"/>
                </a:solidFill>
                <a:latin typeface="Segoe UI" pitchFamily="34" charset="0"/>
                <a:ea typeface="Segoe UI" pitchFamily="34" charset="-122"/>
                <a:cs typeface="Segoe UI" pitchFamily="34" charset="-120"/>
              </a:rPr>
              <a:t>Documents: quantity and consignee compared as soon as they're read</a:t>
            </a:r>
            <a:endParaRPr lang="en-US" sz="1000" dirty="0"/>
          </a:p>
          <a:p>
            <a:pPr marL="177800" indent="-177800">
              <a:lnSpc>
                <a:spcPct val="105000"/>
              </a:lnSpc>
              <a:spcAft>
                <a:spcPts val="600"/>
              </a:spcAft>
              <a:buSzPct val="100000"/>
              <a:buChar char="•"/>
            </a:pPr>
            <a:r>
              <a:rPr lang="en-US" sz="1000" dirty="0">
                <a:solidFill>
                  <a:srgbClr val="334155"/>
                </a:solidFill>
                <a:latin typeface="Segoe UI" pitchFamily="34" charset="0"/>
                <a:ea typeface="Segoe UI" pitchFamily="34" charset="-122"/>
                <a:cs typeface="Segoe UI" pitchFamily="34" charset="-120"/>
              </a:rPr>
              <a:t>Refuses to invent: no duty rate without a sourced tariff; no inspection likelihood without history</a:t>
            </a:r>
            <a:endParaRPr lang="en-US" sz="10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07 · CURRENT ARCHITECTURE</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Prototype: one worker, one database, a local document AI service</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What runs today on a developer machine</a:t>
            </a:r>
            <a:endParaRPr lang="en-US" sz="1200" dirty="0"/>
          </a:p>
        </p:txBody>
      </p:sp>
      <p:sp>
        <p:nvSpPr>
          <p:cNvPr id="6" name="Text 4"/>
          <p:cNvSpPr/>
          <p:nvPr/>
        </p:nvSpPr>
        <p:spPr>
          <a:xfrm>
            <a:off x="731520" y="1600200"/>
            <a:ext cx="7863840" cy="594360"/>
          </a:xfrm>
          <a:prstGeom prst="roundRect">
            <a:avLst>
              <a:gd name="adj" fmla="val 9231"/>
            </a:avLst>
          </a:prstGeom>
          <a:solidFill>
            <a:srgbClr val="F8FAFC"/>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Browser — React UI</a:t>
            </a:r>
            <a:endParaRPr lang="en-US" sz="1100" dirty="0"/>
          </a:p>
          <a:p>
            <a:pPr algn="ctr" indent="0" marL="0">
              <a:buNone/>
            </a:pPr>
            <a:r>
              <a:rPr lang="en-US" sz="950" dirty="0">
                <a:solidFill>
                  <a:srgbClr val="64748B"/>
                </a:solidFill>
                <a:latin typeface="Segoe UI" pitchFamily="34" charset="0"/>
                <a:ea typeface="Segoe UI" pitchFamily="34" charset="-122"/>
                <a:cs typeface="Segoe UI" pitchFamily="34" charset="-120"/>
              </a:rPr>
              <a:t>Dashboard chat + step assistant · Cases &amp; Shipments · Procedures · FAQ · Entities · Agent Center</a:t>
            </a:r>
            <a:endParaRPr lang="en-US" sz="1100" dirty="0"/>
          </a:p>
        </p:txBody>
      </p:sp>
      <p:sp>
        <p:nvSpPr>
          <p:cNvPr id="7" name="Shape 5"/>
          <p:cNvSpPr/>
          <p:nvPr/>
        </p:nvSpPr>
        <p:spPr>
          <a:xfrm>
            <a:off x="4663440" y="2194560"/>
            <a:ext cx="914" cy="274320"/>
          </a:xfrm>
          <a:prstGeom prst="line">
            <a:avLst/>
          </a:prstGeom>
          <a:noFill/>
          <a:ln w="19050">
            <a:solidFill>
              <a:srgbClr val="2563EB"/>
            </a:solidFill>
            <a:prstDash val="solid"/>
            <a:tailEnd type="triangle"/>
          </a:ln>
        </p:spPr>
      </p:sp>
      <p:sp>
        <p:nvSpPr>
          <p:cNvPr id="8" name="Text 6"/>
          <p:cNvSpPr/>
          <p:nvPr/>
        </p:nvSpPr>
        <p:spPr>
          <a:xfrm>
            <a:off x="731520" y="2468880"/>
            <a:ext cx="7863840" cy="2011680"/>
          </a:xfrm>
          <a:prstGeom prst="roundRect">
            <a:avLst>
              <a:gd name="adj" fmla="val 2727"/>
            </a:avLst>
          </a:prstGeom>
          <a:solidFill>
            <a:srgbClr val="EAF1FF"/>
          </a:solidFill>
          <a:ln w="12700">
            <a:solidFill>
              <a:srgbClr val="2563EB"/>
            </a:solidFill>
            <a:prstDash val="solid"/>
          </a:ln>
        </p:spPr>
        <p:txBody>
          <a:bodyPr wrap="square" lIns="76200" tIns="76200" rIns="76200" bIns="76200" rtlCol="0" anchor="ctr"/>
          <a:lstStyle/>
          <a:p>
            <a:pPr algn="ctr" indent="0" marL="0">
              <a:buNone/>
            </a:pPr>
            <a:endParaRPr lang="en-US" sz="1100" dirty="0"/>
          </a:p>
        </p:txBody>
      </p:sp>
      <p:sp>
        <p:nvSpPr>
          <p:cNvPr id="9" name="Text 7"/>
          <p:cNvSpPr/>
          <p:nvPr/>
        </p:nvSpPr>
        <p:spPr>
          <a:xfrm>
            <a:off x="914400" y="2560320"/>
            <a:ext cx="7498080" cy="274320"/>
          </a:xfrm>
          <a:prstGeom prst="rect">
            <a:avLst/>
          </a:prstGeom>
          <a:noFill/>
          <a:ln/>
        </p:spPr>
        <p:txBody>
          <a:bodyPr wrap="square" lIns="0" tIns="0" rIns="0" bIns="0" rtlCol="0" anchor="t"/>
          <a:lstStyle/>
          <a:p>
            <a:pPr algn="l" indent="0" marL="0">
              <a:lnSpc>
                <a:spcPct val="105000"/>
              </a:lnSpc>
              <a:spcAft>
                <a:spcPts val="200"/>
              </a:spcAft>
              <a:buNone/>
            </a:pPr>
            <a:r>
              <a:rPr lang="en-US" sz="1200" dirty="0">
                <a:solidFill>
                  <a:srgbClr val="0B1F4D"/>
                </a:solidFill>
                <a:latin typeface="Segoe UI Semibold" pitchFamily="34" charset="0"/>
                <a:ea typeface="Segoe UI Semibold" pitchFamily="34" charset="-122"/>
                <a:cs typeface="Segoe UI Semibold" pitchFamily="34" charset="-120"/>
              </a:rPr>
              <a:t>Cloudflare Worker (vinext on Vite) — routes, API and modules</a:t>
            </a:r>
            <a:endParaRPr lang="en-US" sz="1200" dirty="0"/>
          </a:p>
        </p:txBody>
      </p:sp>
      <p:sp>
        <p:nvSpPr>
          <p:cNvPr id="10" name="Text 8"/>
          <p:cNvSpPr/>
          <p:nvPr/>
        </p:nvSpPr>
        <p:spPr>
          <a:xfrm>
            <a:off x="914400" y="2926080"/>
            <a:ext cx="2377440" cy="640080"/>
          </a:xfrm>
          <a:prstGeom prst="roundRect">
            <a:avLst>
              <a:gd name="adj" fmla="val 8571"/>
            </a:avLst>
          </a:prstGeom>
          <a:solidFill>
            <a:srgbClr val="FFFFFF"/>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Intake</a:t>
            </a:r>
            <a:endParaRPr lang="en-US" sz="1100" dirty="0"/>
          </a:p>
          <a:p>
            <a:pPr algn="ctr" indent="0" marL="0">
              <a:buNone/>
            </a:pPr>
            <a:r>
              <a:rPr lang="en-US" sz="900" dirty="0">
                <a:solidFill>
                  <a:srgbClr val="64748B"/>
                </a:solidFill>
                <a:latin typeface="Segoe UI" pitchFamily="34" charset="0"/>
                <a:ea typeface="Segoe UI" pitchFamily="34" charset="-122"/>
                <a:cs typeface="Segoe UI" pitchFamily="34" charset="-120"/>
              </a:rPr>
              <a:t>conversation, taxonomy, lookup</a:t>
            </a:r>
            <a:endParaRPr lang="en-US" sz="1100" dirty="0"/>
          </a:p>
        </p:txBody>
      </p:sp>
      <p:sp>
        <p:nvSpPr>
          <p:cNvPr id="11" name="Text 9"/>
          <p:cNvSpPr/>
          <p:nvPr/>
        </p:nvSpPr>
        <p:spPr>
          <a:xfrm>
            <a:off x="3429000" y="2926080"/>
            <a:ext cx="2377440" cy="640080"/>
          </a:xfrm>
          <a:prstGeom prst="roundRect">
            <a:avLst>
              <a:gd name="adj" fmla="val 8571"/>
            </a:avLst>
          </a:prstGeom>
          <a:solidFill>
            <a:srgbClr val="FFFFFF"/>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Orchestrator</a:t>
            </a:r>
            <a:endParaRPr lang="en-US" sz="1100" dirty="0"/>
          </a:p>
          <a:p>
            <a:pPr algn="ctr" indent="0" marL="0">
              <a:buNone/>
            </a:pPr>
            <a:r>
              <a:rPr lang="en-US" sz="900" dirty="0">
                <a:solidFill>
                  <a:srgbClr val="64748B"/>
                </a:solidFill>
                <a:latin typeface="Segoe UI" pitchFamily="34" charset="0"/>
                <a:ea typeface="Segoe UI" pitchFamily="34" charset="-122"/>
                <a:cs typeface="Segoe UI" pitchFamily="34" charset="-120"/>
              </a:rPr>
              <a:t>LangGraph, delegation</a:t>
            </a:r>
            <a:endParaRPr lang="en-US" sz="1100" dirty="0"/>
          </a:p>
        </p:txBody>
      </p:sp>
      <p:sp>
        <p:nvSpPr>
          <p:cNvPr id="12" name="Text 10"/>
          <p:cNvSpPr/>
          <p:nvPr/>
        </p:nvSpPr>
        <p:spPr>
          <a:xfrm>
            <a:off x="5943600" y="2926080"/>
            <a:ext cx="2377440" cy="640080"/>
          </a:xfrm>
          <a:prstGeom prst="roundRect">
            <a:avLst>
              <a:gd name="adj" fmla="val 8571"/>
            </a:avLst>
          </a:prstGeom>
          <a:solidFill>
            <a:srgbClr val="FFFFFF"/>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Steps engine</a:t>
            </a:r>
            <a:endParaRPr lang="en-US" sz="1100" dirty="0"/>
          </a:p>
          <a:p>
            <a:pPr algn="ctr" indent="0" marL="0">
              <a:buNone/>
            </a:pPr>
            <a:r>
              <a:rPr lang="en-US" sz="900" dirty="0">
                <a:solidFill>
                  <a:srgbClr val="64748B"/>
                </a:solidFill>
                <a:latin typeface="Segoe UI" pitchFamily="34" charset="0"/>
                <a:ea typeface="Segoe UI" pitchFamily="34" charset="-122"/>
                <a:cs typeface="Segoe UI" pitchFamily="34" charset="-120"/>
              </a:rPr>
              <a:t>needs, upfront, KPIs, ledger</a:t>
            </a:r>
            <a:endParaRPr lang="en-US" sz="1100" dirty="0"/>
          </a:p>
        </p:txBody>
      </p:sp>
      <p:sp>
        <p:nvSpPr>
          <p:cNvPr id="13" name="Text 11"/>
          <p:cNvSpPr/>
          <p:nvPr/>
        </p:nvSpPr>
        <p:spPr>
          <a:xfrm>
            <a:off x="914400" y="3675888"/>
            <a:ext cx="2377440" cy="640080"/>
          </a:xfrm>
          <a:prstGeom prst="roundRect">
            <a:avLst>
              <a:gd name="adj" fmla="val 8571"/>
            </a:avLst>
          </a:prstGeom>
          <a:solidFill>
            <a:srgbClr val="FFFFFF"/>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Documents</a:t>
            </a:r>
            <a:endParaRPr lang="en-US" sz="1100" dirty="0"/>
          </a:p>
          <a:p>
            <a:pPr algn="ctr" indent="0" marL="0">
              <a:buNone/>
            </a:pPr>
            <a:r>
              <a:rPr lang="en-US" sz="900" dirty="0">
                <a:solidFill>
                  <a:srgbClr val="64748B"/>
                </a:solidFill>
                <a:latin typeface="Segoe UI" pitchFamily="34" charset="0"/>
                <a:ea typeface="Segoe UI" pitchFamily="34" charset="-122"/>
                <a:cs typeface="Segoe UI" pitchFamily="34" charset="-120"/>
              </a:rPr>
              <a:t>specs, validate, compose, cross-check</a:t>
            </a:r>
            <a:endParaRPr lang="en-US" sz="1100" dirty="0"/>
          </a:p>
        </p:txBody>
      </p:sp>
      <p:sp>
        <p:nvSpPr>
          <p:cNvPr id="14" name="Text 12"/>
          <p:cNvSpPr/>
          <p:nvPr/>
        </p:nvSpPr>
        <p:spPr>
          <a:xfrm>
            <a:off x="3429000" y="3675888"/>
            <a:ext cx="2377440" cy="640080"/>
          </a:xfrm>
          <a:prstGeom prst="roundRect">
            <a:avLst>
              <a:gd name="adj" fmla="val 8571"/>
            </a:avLst>
          </a:prstGeom>
          <a:solidFill>
            <a:srgbClr val="FFFFFF"/>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Risk &amp; Compliance</a:t>
            </a:r>
            <a:endParaRPr lang="en-US" sz="1100" dirty="0"/>
          </a:p>
          <a:p>
            <a:pPr algn="ctr" indent="0" marL="0">
              <a:buNone/>
            </a:pPr>
            <a:r>
              <a:rPr lang="en-US" sz="900" dirty="0">
                <a:solidFill>
                  <a:srgbClr val="64748B"/>
                </a:solidFill>
                <a:latin typeface="Segoe UI" pitchFamily="34" charset="0"/>
                <a:ea typeface="Segoe UI" pitchFamily="34" charset="-122"/>
                <a:cs typeface="Segoe UI" pitchFamily="34" charset="-120"/>
              </a:rPr>
              <a:t>rules, country list</a:t>
            </a:r>
            <a:endParaRPr lang="en-US" sz="1100" dirty="0"/>
          </a:p>
        </p:txBody>
      </p:sp>
      <p:sp>
        <p:nvSpPr>
          <p:cNvPr id="15" name="Text 13"/>
          <p:cNvSpPr/>
          <p:nvPr/>
        </p:nvSpPr>
        <p:spPr>
          <a:xfrm>
            <a:off x="5943600" y="3675888"/>
            <a:ext cx="2377440" cy="640080"/>
          </a:xfrm>
          <a:prstGeom prst="roundRect">
            <a:avLst>
              <a:gd name="adj" fmla="val 8571"/>
            </a:avLst>
          </a:prstGeom>
          <a:solidFill>
            <a:srgbClr val="FFFFFF"/>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Catalog</a:t>
            </a:r>
            <a:endParaRPr lang="en-US" sz="1100" dirty="0"/>
          </a:p>
          <a:p>
            <a:pPr algn="ctr" indent="0" marL="0">
              <a:buNone/>
            </a:pPr>
            <a:r>
              <a:rPr lang="en-US" sz="900" dirty="0">
                <a:solidFill>
                  <a:srgbClr val="64748B"/>
                </a:solidFill>
                <a:latin typeface="Segoe UI" pitchFamily="34" charset="0"/>
                <a:ea typeface="Segoe UI" pitchFamily="34" charset="-122"/>
                <a:cs typeface="Segoe UI" pitchFamily="34" charset="-120"/>
              </a:rPr>
              <a:t>users, entities, versions</a:t>
            </a:r>
            <a:endParaRPr lang="en-US" sz="1100" dirty="0"/>
          </a:p>
        </p:txBody>
      </p:sp>
      <p:sp>
        <p:nvSpPr>
          <p:cNvPr id="16" name="Shape 14"/>
          <p:cNvSpPr/>
          <p:nvPr/>
        </p:nvSpPr>
        <p:spPr>
          <a:xfrm>
            <a:off x="2743200" y="4480560"/>
            <a:ext cx="914" cy="274320"/>
          </a:xfrm>
          <a:prstGeom prst="line">
            <a:avLst/>
          </a:prstGeom>
          <a:noFill/>
          <a:ln w="19050">
            <a:solidFill>
              <a:srgbClr val="2563EB"/>
            </a:solidFill>
            <a:prstDash val="solid"/>
            <a:tailEnd type="triangle"/>
          </a:ln>
        </p:spPr>
      </p:sp>
      <p:sp>
        <p:nvSpPr>
          <p:cNvPr id="17" name="Shape 15"/>
          <p:cNvSpPr/>
          <p:nvPr/>
        </p:nvSpPr>
        <p:spPr>
          <a:xfrm>
            <a:off x="6583680" y="4480560"/>
            <a:ext cx="914" cy="274320"/>
          </a:xfrm>
          <a:prstGeom prst="line">
            <a:avLst/>
          </a:prstGeom>
          <a:noFill/>
          <a:ln w="19050">
            <a:solidFill>
              <a:srgbClr val="2563EB"/>
            </a:solidFill>
            <a:prstDash val="solid"/>
            <a:tailEnd type="triangle"/>
          </a:ln>
        </p:spPr>
      </p:sp>
      <p:sp>
        <p:nvSpPr>
          <p:cNvPr id="18" name="Text 16"/>
          <p:cNvSpPr/>
          <p:nvPr/>
        </p:nvSpPr>
        <p:spPr>
          <a:xfrm>
            <a:off x="731520" y="4754880"/>
            <a:ext cx="3840480" cy="1005840"/>
          </a:xfrm>
          <a:prstGeom prst="roundRect">
            <a:avLst>
              <a:gd name="adj" fmla="val 5455"/>
            </a:avLst>
          </a:prstGeom>
          <a:solidFill>
            <a:srgbClr val="FFFFFF"/>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Cloudflare D1 (SQLite)</a:t>
            </a:r>
            <a:endParaRPr lang="en-US" sz="1100" dirty="0"/>
          </a:p>
          <a:p>
            <a:pPr algn="ctr" indent="0" marL="0">
              <a:buNone/>
            </a:pPr>
            <a:r>
              <a:rPr lang="en-US" sz="900" dirty="0">
                <a:solidFill>
                  <a:srgbClr val="64748B"/>
                </a:solidFill>
                <a:latin typeface="Segoe UI" pitchFamily="34" charset="0"/>
                <a:ea typeface="Segoe UI" pitchFamily="34" charset="-122"/>
                <a:cs typeface="Segoe UI" pitchFamily="34" charset="-120"/>
              </a:rPr>
              <a:t>cases · workflow runs, nodes, edges · work items · agent runs · artifacts (ledger) · audit events</a:t>
            </a:r>
            <a:endParaRPr lang="en-US" sz="1100" dirty="0"/>
          </a:p>
        </p:txBody>
      </p:sp>
      <p:sp>
        <p:nvSpPr>
          <p:cNvPr id="19" name="Text 17"/>
          <p:cNvSpPr/>
          <p:nvPr/>
        </p:nvSpPr>
        <p:spPr>
          <a:xfrm>
            <a:off x="4754880" y="4754880"/>
            <a:ext cx="1828800" cy="1005840"/>
          </a:xfrm>
          <a:prstGeom prst="roundRect">
            <a:avLst>
              <a:gd name="adj" fmla="val 5455"/>
            </a:avLst>
          </a:prstGeom>
          <a:solidFill>
            <a:srgbClr val="FFFFFF"/>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R2</a:t>
            </a:r>
            <a:endParaRPr lang="en-US" sz="1100" dirty="0"/>
          </a:p>
          <a:p>
            <a:pPr algn="ctr" indent="0" marL="0">
              <a:buNone/>
            </a:pPr>
            <a:r>
              <a:rPr lang="en-US" sz="900" dirty="0">
                <a:solidFill>
                  <a:srgbClr val="64748B"/>
                </a:solidFill>
                <a:latin typeface="Segoe UI" pitchFamily="34" charset="0"/>
                <a:ea typeface="Segoe UI" pitchFamily="34" charset="-122"/>
                <a:cs typeface="Segoe UI" pitchFamily="34" charset="-120"/>
              </a:rPr>
              <a:t>original uploads</a:t>
            </a:r>
            <a:endParaRPr lang="en-US" sz="1100" dirty="0"/>
          </a:p>
        </p:txBody>
      </p:sp>
      <p:sp>
        <p:nvSpPr>
          <p:cNvPr id="20" name="Text 18"/>
          <p:cNvSpPr/>
          <p:nvPr/>
        </p:nvSpPr>
        <p:spPr>
          <a:xfrm>
            <a:off x="6766560" y="4754880"/>
            <a:ext cx="1828800" cy="1005840"/>
          </a:xfrm>
          <a:prstGeom prst="roundRect">
            <a:avLst>
              <a:gd name="adj" fmla="val 5455"/>
            </a:avLst>
          </a:prstGeom>
          <a:solidFill>
            <a:srgbClr val="FFFFFF"/>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Static data</a:t>
            </a:r>
            <a:endParaRPr lang="en-US" sz="1100" dirty="0"/>
          </a:p>
          <a:p>
            <a:pPr algn="ctr" indent="0" marL="0">
              <a:buNone/>
            </a:pPr>
            <a:r>
              <a:rPr lang="en-US" sz="900" dirty="0">
                <a:solidFill>
                  <a:srgbClr val="64748B"/>
                </a:solidFill>
                <a:latin typeface="Segoe UI" pitchFamily="34" charset="0"/>
                <a:ea typeface="Segoe UI" pitchFamily="34" charset="-122"/>
                <a:cs typeface="Segoe UI" pitchFamily="34" charset="-120"/>
              </a:rPr>
              <a:t>procedures from .docx, 18 doc specs, country list</a:t>
            </a:r>
            <a:endParaRPr lang="en-US" sz="1100" dirty="0"/>
          </a:p>
        </p:txBody>
      </p:sp>
      <p:sp>
        <p:nvSpPr>
          <p:cNvPr id="21" name="Text 19"/>
          <p:cNvSpPr/>
          <p:nvPr/>
        </p:nvSpPr>
        <p:spPr>
          <a:xfrm>
            <a:off x="8869680" y="2468880"/>
            <a:ext cx="2743200" cy="1234440"/>
          </a:xfrm>
          <a:prstGeom prst="roundRect">
            <a:avLst>
              <a:gd name="adj" fmla="val 4444"/>
            </a:avLst>
          </a:prstGeom>
          <a:solidFill>
            <a:srgbClr val="E6F6F4"/>
          </a:solidFill>
          <a:ln w="12700">
            <a:solidFill>
              <a:srgbClr val="0D948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Document AI (FastAPI :8765)</a:t>
            </a:r>
            <a:endParaRPr lang="en-US" sz="1100" dirty="0"/>
          </a:p>
          <a:p>
            <a:pPr algn="ctr" indent="0" marL="0">
              <a:buNone/>
            </a:pPr>
            <a:r>
              <a:rPr lang="en-US" sz="950" dirty="0">
                <a:solidFill>
                  <a:srgbClr val="64748B"/>
                </a:solidFill>
                <a:latin typeface="Segoe UI" pitchFamily="34" charset="0"/>
                <a:ea typeface="Segoe UI" pitchFamily="34" charset="-122"/>
                <a:cs typeface="Segoe UI" pitchFamily="34" charset="-120"/>
              </a:rPr>
              <a:t>EasyOCR ru+en + LayoutLM QA on CPU · documents stay local</a:t>
            </a:r>
            <a:endParaRPr lang="en-US" sz="1100" dirty="0"/>
          </a:p>
        </p:txBody>
      </p:sp>
      <p:sp>
        <p:nvSpPr>
          <p:cNvPr id="22" name="Shape 20"/>
          <p:cNvSpPr/>
          <p:nvPr/>
        </p:nvSpPr>
        <p:spPr>
          <a:xfrm>
            <a:off x="8595360" y="3081528"/>
            <a:ext cx="274320" cy="914"/>
          </a:xfrm>
          <a:prstGeom prst="line">
            <a:avLst/>
          </a:prstGeom>
          <a:noFill/>
          <a:ln w="19050">
            <a:solidFill>
              <a:srgbClr val="0D9488"/>
            </a:solidFill>
            <a:prstDash val="solid"/>
            <a:tailEnd type="triangle"/>
          </a:ln>
        </p:spPr>
      </p:sp>
      <p:sp>
        <p:nvSpPr>
          <p:cNvPr id="23" name="Text 21"/>
          <p:cNvSpPr/>
          <p:nvPr/>
        </p:nvSpPr>
        <p:spPr>
          <a:xfrm>
            <a:off x="8869680" y="3886200"/>
            <a:ext cx="2743200" cy="822960"/>
          </a:xfrm>
          <a:prstGeom prst="roundRect">
            <a:avLst>
              <a:gd name="adj" fmla="val 6667"/>
            </a:avLst>
          </a:prstGeom>
          <a:solidFill>
            <a:srgbClr val="FFFFFF"/>
          </a:solidFill>
          <a:ln w="12700">
            <a:solidFill>
              <a:srgbClr val="D8DEE8"/>
            </a:solidFill>
            <a:prstDash val="dash"/>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Groq · gpt-oss-20b (optional)</a:t>
            </a:r>
            <a:endParaRPr lang="en-US" sz="1100" dirty="0"/>
          </a:p>
          <a:p>
            <a:pPr algn="ctr" indent="0" marL="0">
              <a:buNone/>
            </a:pPr>
            <a:r>
              <a:rPr lang="en-US" sz="900" dirty="0">
                <a:solidFill>
                  <a:srgbClr val="64748B"/>
                </a:solidFill>
                <a:latin typeface="Segoe UI" pitchFamily="34" charset="0"/>
                <a:ea typeface="Segoe UI" pitchFamily="34" charset="-122"/>
                <a:cs typeface="Segoe UI" pitchFamily="34" charset="-120"/>
              </a:rPr>
              <a:t>unusual wording only; never picks the procedure</a:t>
            </a:r>
            <a:endParaRPr lang="en-US" sz="1100" dirty="0"/>
          </a:p>
        </p:txBody>
      </p:sp>
      <p:sp>
        <p:nvSpPr>
          <p:cNvPr id="24" name="Shape 22"/>
          <p:cNvSpPr/>
          <p:nvPr/>
        </p:nvSpPr>
        <p:spPr>
          <a:xfrm>
            <a:off x="8595360" y="4297680"/>
            <a:ext cx="274320" cy="914"/>
          </a:xfrm>
          <a:prstGeom prst="line">
            <a:avLst/>
          </a:prstGeom>
          <a:noFill/>
          <a:ln w="15875">
            <a:solidFill>
              <a:srgbClr val="94A3B8"/>
            </a:solidFill>
            <a:prstDash val="dash"/>
            <a:tailEnd type="triangle"/>
          </a:ln>
        </p:spPr>
      </p:sp>
      <p:sp>
        <p:nvSpPr>
          <p:cNvPr id="25" name="Text 23"/>
          <p:cNvSpPr/>
          <p:nvPr/>
        </p:nvSpPr>
        <p:spPr>
          <a:xfrm>
            <a:off x="8869680" y="4846320"/>
            <a:ext cx="2743200" cy="1463040"/>
          </a:xfrm>
          <a:prstGeom prst="roundRect">
            <a:avLst>
              <a:gd name="adj" fmla="val 5000"/>
            </a:avLst>
          </a:prstGeom>
          <a:solidFill>
            <a:srgbClr val="FEF3E2"/>
          </a:solidFill>
          <a:ln w="12700">
            <a:solidFill>
              <a:srgbClr val="FEF3E2"/>
            </a:solidFill>
            <a:prstDash val="solid"/>
          </a:ln>
        </p:spPr>
        <p:txBody>
          <a:bodyPr wrap="square" lIns="76200" tIns="76200" rIns="76200" bIns="76200" rtlCol="0" anchor="ctr"/>
          <a:lstStyle/>
          <a:p>
            <a:pPr algn="ctr" indent="0" marL="0">
              <a:buNone/>
            </a:pPr>
            <a:endParaRPr lang="en-US" sz="1100" dirty="0"/>
          </a:p>
        </p:txBody>
      </p:sp>
      <p:sp>
        <p:nvSpPr>
          <p:cNvPr id="26" name="Text 24"/>
          <p:cNvSpPr/>
          <p:nvPr/>
        </p:nvSpPr>
        <p:spPr>
          <a:xfrm>
            <a:off x="9034272" y="4956048"/>
            <a:ext cx="2414016" cy="256032"/>
          </a:xfrm>
          <a:prstGeom prst="rect">
            <a:avLst/>
          </a:prstGeom>
          <a:noFill/>
          <a:ln/>
        </p:spPr>
        <p:txBody>
          <a:bodyPr wrap="square" lIns="0" tIns="0" rIns="0" bIns="0" rtlCol="0" anchor="ctr"/>
          <a:lstStyle/>
          <a:p>
            <a:pPr indent="0" marL="0">
              <a:buNone/>
            </a:pPr>
            <a:r>
              <a:rPr lang="en-US" sz="950" b="1" spc="100" kern="0" dirty="0">
                <a:solidFill>
                  <a:srgbClr val="B45309"/>
                </a:solidFill>
                <a:latin typeface="Segoe UI" pitchFamily="34" charset="0"/>
                <a:ea typeface="Segoe UI" pitchFamily="34" charset="-122"/>
                <a:cs typeface="Segoe UI" pitchFamily="34" charset="-120"/>
              </a:rPr>
              <a:t>LIMITS TODAY</a:t>
            </a:r>
            <a:endParaRPr lang="en-US" sz="950" dirty="0"/>
          </a:p>
        </p:txBody>
      </p:sp>
      <p:sp>
        <p:nvSpPr>
          <p:cNvPr id="27" name="Text 25"/>
          <p:cNvSpPr/>
          <p:nvPr/>
        </p:nvSpPr>
        <p:spPr>
          <a:xfrm>
            <a:off x="9052560" y="5138928"/>
            <a:ext cx="2468880" cy="1143000"/>
          </a:xfrm>
          <a:prstGeom prst="rect">
            <a:avLst/>
          </a:prstGeom>
          <a:noFill/>
          <a:ln/>
        </p:spPr>
        <p:txBody>
          <a:bodyPr wrap="square" lIns="0" tIns="0" rIns="0" bIns="0" rtlCol="0" anchor="t"/>
          <a:lstStyle/>
          <a:p>
            <a:pPr algn="l" indent="0" marL="0">
              <a:lnSpc>
                <a:spcPct val="105000"/>
              </a:lnSpc>
              <a:spcAft>
                <a:spcPts val="100"/>
              </a:spcAft>
              <a:buNone/>
            </a:pPr>
            <a:r>
              <a:rPr lang="en-US" sz="950" dirty="0">
                <a:solidFill>
                  <a:srgbClr val="334155"/>
                </a:solidFill>
                <a:latin typeface="Segoe UI" pitchFamily="34" charset="0"/>
                <a:ea typeface="Segoe UI" pitchFamily="34" charset="-122"/>
                <a:cs typeface="Segoe UI" pitchFamily="34" charset="-120"/>
              </a:rPr>
              <a:t>• Single user, no auth</a:t>
            </a:r>
            <a:endParaRPr lang="en-US" sz="950" dirty="0"/>
          </a:p>
          <a:p>
            <a:pPr algn="l" indent="0" marL="0">
              <a:lnSpc>
                <a:spcPct val="105000"/>
              </a:lnSpc>
              <a:spcAft>
                <a:spcPts val="100"/>
              </a:spcAft>
              <a:buNone/>
            </a:pPr>
            <a:r>
              <a:rPr lang="en-US" sz="950" dirty="0">
                <a:solidFill>
                  <a:srgbClr val="334155"/>
                </a:solidFill>
                <a:latin typeface="Segoe UI" pitchFamily="34" charset="0"/>
                <a:ea typeface="Segoe UI" pitchFamily="34" charset="-122"/>
                <a:cs typeface="Segoe UI" pitchFamily="34" charset="-120"/>
              </a:rPr>
              <a:t>• Entity integrations simulated</a:t>
            </a:r>
            <a:endParaRPr lang="en-US" sz="950" dirty="0"/>
          </a:p>
          <a:p>
            <a:pPr algn="l" indent="0" marL="0">
              <a:lnSpc>
                <a:spcPct val="105000"/>
              </a:lnSpc>
              <a:spcAft>
                <a:spcPts val="100"/>
              </a:spcAft>
              <a:buNone/>
            </a:pPr>
            <a:r>
              <a:rPr lang="en-US" sz="950" dirty="0">
                <a:solidFill>
                  <a:srgbClr val="334155"/>
                </a:solidFill>
                <a:latin typeface="Segoe UI" pitchFamily="34" charset="0"/>
                <a:ea typeface="Segoe UI" pitchFamily="34" charset="-122"/>
                <a:cs typeface="Segoe UI" pitchFamily="34" charset="-120"/>
              </a:rPr>
              <a:t>• CPU OCR ≈31 s per invoice page</a:t>
            </a:r>
            <a:endParaRPr lang="en-US" sz="950" dirty="0"/>
          </a:p>
          <a:p>
            <a:pPr algn="l" indent="0" marL="0">
              <a:lnSpc>
                <a:spcPct val="105000"/>
              </a:lnSpc>
              <a:spcAft>
                <a:spcPts val="100"/>
              </a:spcAft>
              <a:buNone/>
            </a:pPr>
            <a:r>
              <a:rPr lang="en-US" sz="950" dirty="0">
                <a:solidFill>
                  <a:srgbClr val="334155"/>
                </a:solidFill>
                <a:latin typeface="Segoe UI" pitchFamily="34" charset="0"/>
                <a:ea typeface="Segoe UI" pitchFamily="34" charset="-122"/>
                <a:cs typeface="Segoe UI" pitchFamily="34" charset="-120"/>
              </a:rPr>
              <a:t>• SQLite; no queue or retries</a:t>
            </a:r>
            <a:endParaRPr lang="en-US" sz="950" dirty="0"/>
          </a:p>
          <a:p>
            <a:pPr algn="l" indent="0" marL="0">
              <a:lnSpc>
                <a:spcPct val="105000"/>
              </a:lnSpc>
              <a:spcAft>
                <a:spcPts val="100"/>
              </a:spcAft>
              <a:buNone/>
            </a:pPr>
            <a:r>
              <a:rPr lang="en-US" sz="950" dirty="0">
                <a:solidFill>
                  <a:srgbClr val="334155"/>
                </a:solidFill>
                <a:latin typeface="Segoe UI" pitchFamily="34" charset="0"/>
                <a:ea typeface="Segoe UI" pitchFamily="34" charset="-122"/>
                <a:cs typeface="Segoe UI" pitchFamily="34" charset="-120"/>
              </a:rPr>
              <a:t>• Extraction gap on demo pack</a:t>
            </a:r>
            <a:endParaRPr lang="en-US" sz="950" dirty="0"/>
          </a:p>
        </p:txBody>
      </p:sp>
      <p:sp>
        <p:nvSpPr>
          <p:cNvPr id="28" name="Text 26"/>
          <p:cNvSpPr/>
          <p:nvPr/>
        </p:nvSpPr>
        <p:spPr>
          <a:xfrm>
            <a:off x="731520" y="5897880"/>
            <a:ext cx="7863840" cy="365760"/>
          </a:xfrm>
          <a:prstGeom prst="rect">
            <a:avLst/>
          </a:prstGeom>
          <a:noFill/>
          <a:ln/>
        </p:spPr>
        <p:txBody>
          <a:bodyPr wrap="square" lIns="0" tIns="0" rIns="0" bIns="0" rtlCol="0" anchor="t"/>
          <a:lstStyle/>
          <a:p>
            <a:pPr algn="l" indent="0" marL="0">
              <a:lnSpc>
                <a:spcPct val="105000"/>
              </a:lnSpc>
              <a:spcAft>
                <a:spcPts val="200"/>
              </a:spcAft>
              <a:buNone/>
            </a:pPr>
            <a:r>
              <a:rPr lang="en-US" sz="1000" dirty="0">
                <a:solidFill>
                  <a:srgbClr val="64748B"/>
                </a:solidFill>
                <a:latin typeface="Segoe UI" pitchFamily="34" charset="0"/>
                <a:ea typeface="Segoe UI" pitchFamily="34" charset="-122"/>
                <a:cs typeface="Segoe UI" pitchFamily="34" charset="-120"/>
              </a:rPr>
              <a:t>Tests: 90 unit + 11 end-to-end · feature-module layout (app / components / modules)</a:t>
            </a:r>
            <a:endParaRPr lang="en-US" sz="10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07 · PRODUCTION ARCHITECTURE</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Durable workflows, a model gateway, and documents that stay in our cloud</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Target design for multi-user operation with real integrations</a:t>
            </a:r>
            <a:endParaRPr lang="en-US" sz="1200" dirty="0"/>
          </a:p>
        </p:txBody>
      </p:sp>
      <p:sp>
        <p:nvSpPr>
          <p:cNvPr id="6" name="Text 4"/>
          <p:cNvSpPr/>
          <p:nvPr/>
        </p:nvSpPr>
        <p:spPr>
          <a:xfrm>
            <a:off x="731520" y="1554480"/>
            <a:ext cx="2377440" cy="685800"/>
          </a:xfrm>
          <a:prstGeom prst="roundRect">
            <a:avLst>
              <a:gd name="adj" fmla="val 8000"/>
            </a:avLst>
          </a:prstGeom>
          <a:solidFill>
            <a:srgbClr val="F8FAFC"/>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Web app</a:t>
            </a:r>
            <a:endParaRPr lang="en-US" sz="1100" dirty="0"/>
          </a:p>
          <a:p>
            <a:pPr algn="ctr" indent="0" marL="0">
              <a:buNone/>
            </a:pPr>
            <a:r>
              <a:rPr lang="en-US" sz="900" dirty="0">
                <a:solidFill>
                  <a:srgbClr val="64748B"/>
                </a:solidFill>
                <a:latin typeface="Segoe UI" pitchFamily="34" charset="0"/>
                <a:ea typeface="Segoe UI" pitchFamily="34" charset="-122"/>
                <a:cs typeface="Segoe UI" pitchFamily="34" charset="-120"/>
              </a:rPr>
              <a:t>chat, cases, reviews</a:t>
            </a:r>
            <a:endParaRPr lang="en-US" sz="1100" dirty="0"/>
          </a:p>
        </p:txBody>
      </p:sp>
      <p:sp>
        <p:nvSpPr>
          <p:cNvPr id="7" name="Shape 5"/>
          <p:cNvSpPr/>
          <p:nvPr/>
        </p:nvSpPr>
        <p:spPr>
          <a:xfrm>
            <a:off x="3108960" y="1892808"/>
            <a:ext cx="274320" cy="914"/>
          </a:xfrm>
          <a:prstGeom prst="line">
            <a:avLst/>
          </a:prstGeom>
          <a:noFill/>
          <a:ln w="19050">
            <a:solidFill>
              <a:srgbClr val="2563EB"/>
            </a:solidFill>
            <a:prstDash val="solid"/>
            <a:tailEnd type="triangle"/>
          </a:ln>
        </p:spPr>
      </p:sp>
      <p:sp>
        <p:nvSpPr>
          <p:cNvPr id="8" name="Text 6"/>
          <p:cNvSpPr/>
          <p:nvPr/>
        </p:nvSpPr>
        <p:spPr>
          <a:xfrm>
            <a:off x="3383280" y="1554480"/>
            <a:ext cx="8229600" cy="685800"/>
          </a:xfrm>
          <a:prstGeom prst="roundRect">
            <a:avLst>
              <a:gd name="adj" fmla="val 8000"/>
            </a:avLst>
          </a:prstGeom>
          <a:solidFill>
            <a:srgbClr val="F8FAFC"/>
          </a:solidFill>
          <a:ln w="12700">
            <a:solidFill>
              <a:srgbClr val="D8DEE8"/>
            </a:solidFill>
            <a:prstDash val="solid"/>
          </a:ln>
        </p:spPr>
        <p:txBody>
          <a:bodyPr wrap="square" lIns="76200" tIns="76200" rIns="76200" bIns="76200" rtlCol="0" anchor="ctr"/>
          <a:lstStyle/>
          <a:p>
            <a:pPr algn="ctr" indent="0" marL="0">
              <a:buNone/>
            </a:pPr>
            <a:r>
              <a:rPr lang="en-US" sz="1100" b="1" dirty="0">
                <a:solidFill>
                  <a:srgbClr val="0B1F4D"/>
                </a:solidFill>
                <a:latin typeface="Segoe UI" pitchFamily="34" charset="0"/>
                <a:ea typeface="Segoe UI" pitchFamily="34" charset="-122"/>
                <a:cs typeface="Segoe UI" pitchFamily="34" charset="-120"/>
              </a:rPr>
              <a:t>Edge &amp; identity</a:t>
            </a:r>
            <a:endParaRPr lang="en-US" sz="1100" dirty="0"/>
          </a:p>
          <a:p>
            <a:pPr algn="ctr" indent="0" marL="0">
              <a:buNone/>
            </a:pPr>
            <a:r>
              <a:rPr lang="en-US" sz="950" dirty="0">
                <a:solidFill>
                  <a:srgbClr val="64748B"/>
                </a:solidFill>
                <a:latin typeface="Segoe UI" pitchFamily="34" charset="0"/>
                <a:ea typeface="Segoe UI" pitchFamily="34" charset="-122"/>
                <a:cs typeface="Segoe UI" pitchFamily="34" charset="-120"/>
              </a:rPr>
              <a:t>CDN / WAF · API gateway · SSO (OIDC) · roles: trader, compliance, finance, operations · rate limits</a:t>
            </a:r>
            <a:endParaRPr lang="en-US" sz="1100" dirty="0"/>
          </a:p>
        </p:txBody>
      </p:sp>
      <p:sp>
        <p:nvSpPr>
          <p:cNvPr id="9" name="Text 7"/>
          <p:cNvSpPr/>
          <p:nvPr/>
        </p:nvSpPr>
        <p:spPr>
          <a:xfrm>
            <a:off x="731520" y="2468880"/>
            <a:ext cx="6766560" cy="1874520"/>
          </a:xfrm>
          <a:prstGeom prst="roundRect">
            <a:avLst>
              <a:gd name="adj" fmla="val 2927"/>
            </a:avLst>
          </a:prstGeom>
          <a:solidFill>
            <a:srgbClr val="EAF1FF"/>
          </a:solidFill>
          <a:ln w="12700">
            <a:solidFill>
              <a:srgbClr val="2563EB"/>
            </a:solidFill>
            <a:prstDash val="solid"/>
          </a:ln>
        </p:spPr>
        <p:txBody>
          <a:bodyPr wrap="square" lIns="76200" tIns="76200" rIns="76200" bIns="76200" rtlCol="0" anchor="ctr"/>
          <a:lstStyle/>
          <a:p>
            <a:pPr algn="ctr" indent="0" marL="0">
              <a:buNone/>
            </a:pPr>
            <a:endParaRPr lang="en-US" sz="1100" dirty="0"/>
          </a:p>
        </p:txBody>
      </p:sp>
      <p:sp>
        <p:nvSpPr>
          <p:cNvPr id="10" name="Text 8"/>
          <p:cNvSpPr/>
          <p:nvPr/>
        </p:nvSpPr>
        <p:spPr>
          <a:xfrm>
            <a:off x="914400" y="2542032"/>
            <a:ext cx="6400800" cy="274320"/>
          </a:xfrm>
          <a:prstGeom prst="rect">
            <a:avLst/>
          </a:prstGeom>
          <a:noFill/>
          <a:ln/>
        </p:spPr>
        <p:txBody>
          <a:bodyPr wrap="square" lIns="0" tIns="0" rIns="0" bIns="0" rtlCol="0" anchor="t"/>
          <a:lstStyle/>
          <a:p>
            <a:pPr algn="l" indent="0" marL="0">
              <a:lnSpc>
                <a:spcPct val="105000"/>
              </a:lnSpc>
              <a:spcAft>
                <a:spcPts val="200"/>
              </a:spcAft>
              <a:buNone/>
            </a:pPr>
            <a:r>
              <a:rPr lang="en-US" sz="1200" dirty="0">
                <a:solidFill>
                  <a:srgbClr val="0B1F4D"/>
                </a:solidFill>
                <a:latin typeface="Segoe UI Semibold" pitchFamily="34" charset="0"/>
                <a:ea typeface="Segoe UI Semibold" pitchFamily="34" charset="-122"/>
                <a:cs typeface="Segoe UI Semibold" pitchFamily="34" charset="-120"/>
              </a:rPr>
              <a:t>Application services</a:t>
            </a:r>
            <a:endParaRPr lang="en-US" sz="1200" dirty="0"/>
          </a:p>
        </p:txBody>
      </p:sp>
      <p:sp>
        <p:nvSpPr>
          <p:cNvPr id="11" name="Text 9"/>
          <p:cNvSpPr/>
          <p:nvPr/>
        </p:nvSpPr>
        <p:spPr>
          <a:xfrm>
            <a:off x="914400" y="2880360"/>
            <a:ext cx="2084832" cy="621792"/>
          </a:xfrm>
          <a:prstGeom prst="roundRect">
            <a:avLst>
              <a:gd name="adj" fmla="val 8824"/>
            </a:avLst>
          </a:prstGeom>
          <a:solidFill>
            <a:srgbClr val="FFFFFF"/>
          </a:solidFill>
          <a:ln w="12700">
            <a:solidFill>
              <a:srgbClr val="D8DEE8"/>
            </a:solidFill>
            <a:prstDash val="solid"/>
          </a:ln>
        </p:spPr>
        <p:txBody>
          <a:bodyPr wrap="square" lIns="63500" tIns="63500" rIns="63500" bIns="635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Intake service</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deterministic checks + Luna</a:t>
            </a:r>
            <a:endParaRPr lang="en-US" sz="1100" dirty="0"/>
          </a:p>
        </p:txBody>
      </p:sp>
      <p:sp>
        <p:nvSpPr>
          <p:cNvPr id="12" name="Text 10"/>
          <p:cNvSpPr/>
          <p:nvPr/>
        </p:nvSpPr>
        <p:spPr>
          <a:xfrm>
            <a:off x="3108960" y="2880360"/>
            <a:ext cx="2084832" cy="621792"/>
          </a:xfrm>
          <a:prstGeom prst="roundRect">
            <a:avLst>
              <a:gd name="adj" fmla="val 8824"/>
            </a:avLst>
          </a:prstGeom>
          <a:solidFill>
            <a:srgbClr val="FFFFFF"/>
          </a:solidFill>
          <a:ln w="12700">
            <a:solidFill>
              <a:srgbClr val="D8DEE8"/>
            </a:solidFill>
            <a:prstDash val="solid"/>
          </a:ln>
        </p:spPr>
        <p:txBody>
          <a:bodyPr wrap="square" lIns="63500" tIns="63500" rIns="63500" bIns="635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Orchestration</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durable workflow engine running the agent graph: queue, retries, timers</a:t>
            </a:r>
            <a:endParaRPr lang="en-US" sz="1100" dirty="0"/>
          </a:p>
        </p:txBody>
      </p:sp>
      <p:sp>
        <p:nvSpPr>
          <p:cNvPr id="13" name="Text 11"/>
          <p:cNvSpPr/>
          <p:nvPr/>
        </p:nvSpPr>
        <p:spPr>
          <a:xfrm>
            <a:off x="5303520" y="2880360"/>
            <a:ext cx="2084832" cy="621792"/>
          </a:xfrm>
          <a:prstGeom prst="roundRect">
            <a:avLst>
              <a:gd name="adj" fmla="val 8824"/>
            </a:avLst>
          </a:prstGeom>
          <a:solidFill>
            <a:srgbClr val="FFFFFF"/>
          </a:solidFill>
          <a:ln w="12700">
            <a:solidFill>
              <a:srgbClr val="D8DEE8"/>
            </a:solidFill>
            <a:prstDash val="solid"/>
          </a:ln>
        </p:spPr>
        <p:txBody>
          <a:bodyPr wrap="square" lIns="63500" tIns="63500" rIns="63500" bIns="635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Document service</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upload, parse jobs, review queue</a:t>
            </a:r>
            <a:endParaRPr lang="en-US" sz="1100" dirty="0"/>
          </a:p>
        </p:txBody>
      </p:sp>
      <p:sp>
        <p:nvSpPr>
          <p:cNvPr id="14" name="Text 12"/>
          <p:cNvSpPr/>
          <p:nvPr/>
        </p:nvSpPr>
        <p:spPr>
          <a:xfrm>
            <a:off x="914400" y="3593592"/>
            <a:ext cx="2084832" cy="621792"/>
          </a:xfrm>
          <a:prstGeom prst="roundRect">
            <a:avLst>
              <a:gd name="adj" fmla="val 8824"/>
            </a:avLst>
          </a:prstGeom>
          <a:solidFill>
            <a:srgbClr val="FFFFFF"/>
          </a:solidFill>
          <a:ln w="12700">
            <a:solidFill>
              <a:srgbClr val="D8DEE8"/>
            </a:solidFill>
            <a:prstDash val="solid"/>
          </a:ln>
        </p:spPr>
        <p:txBody>
          <a:bodyPr wrap="square" lIns="63500" tIns="63500" rIns="63500" bIns="635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Risk &amp; compliance</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rules engine + Terra</a:t>
            </a:r>
            <a:endParaRPr lang="en-US" sz="1100" dirty="0"/>
          </a:p>
        </p:txBody>
      </p:sp>
      <p:sp>
        <p:nvSpPr>
          <p:cNvPr id="15" name="Text 13"/>
          <p:cNvSpPr/>
          <p:nvPr/>
        </p:nvSpPr>
        <p:spPr>
          <a:xfrm>
            <a:off x="3108960" y="3593592"/>
            <a:ext cx="2084832" cy="621792"/>
          </a:xfrm>
          <a:prstGeom prst="roundRect">
            <a:avLst>
              <a:gd name="adj" fmla="val 8824"/>
            </a:avLst>
          </a:prstGeom>
          <a:solidFill>
            <a:srgbClr val="FFFFFF"/>
          </a:solidFill>
          <a:ln w="12700">
            <a:solidFill>
              <a:srgbClr val="D8DEE8"/>
            </a:solidFill>
            <a:prstDash val="solid"/>
          </a:ln>
        </p:spPr>
        <p:txBody>
          <a:bodyPr wrap="square" lIns="63500" tIns="63500" rIns="63500" bIns="635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Integrations</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Single Window, UZ Railways, Uzbekexpertiza, customs cabinet, bank receipts</a:t>
            </a:r>
            <a:endParaRPr lang="en-US" sz="1100" dirty="0"/>
          </a:p>
        </p:txBody>
      </p:sp>
      <p:sp>
        <p:nvSpPr>
          <p:cNvPr id="16" name="Text 14"/>
          <p:cNvSpPr/>
          <p:nvPr/>
        </p:nvSpPr>
        <p:spPr>
          <a:xfrm>
            <a:off x="5303520" y="3593592"/>
            <a:ext cx="2084832" cy="621792"/>
          </a:xfrm>
          <a:prstGeom prst="roundRect">
            <a:avLst>
              <a:gd name="adj" fmla="val 8824"/>
            </a:avLst>
          </a:prstGeom>
          <a:solidFill>
            <a:srgbClr val="FFFFFF"/>
          </a:solidFill>
          <a:ln w="12700">
            <a:solidFill>
              <a:srgbClr val="D8DEE8"/>
            </a:solidFill>
            <a:prstDash val="solid"/>
          </a:ln>
        </p:spPr>
        <p:txBody>
          <a:bodyPr wrap="square" lIns="63500" tIns="63500" rIns="63500" bIns="635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Notifications</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email / in-app when a step needs you</a:t>
            </a:r>
            <a:endParaRPr lang="en-US" sz="1100" dirty="0"/>
          </a:p>
        </p:txBody>
      </p:sp>
      <p:sp>
        <p:nvSpPr>
          <p:cNvPr id="17" name="Shape 15"/>
          <p:cNvSpPr/>
          <p:nvPr/>
        </p:nvSpPr>
        <p:spPr>
          <a:xfrm>
            <a:off x="4572000" y="2240280"/>
            <a:ext cx="914" cy="228600"/>
          </a:xfrm>
          <a:prstGeom prst="line">
            <a:avLst/>
          </a:prstGeom>
          <a:noFill/>
          <a:ln w="19050">
            <a:solidFill>
              <a:srgbClr val="2563EB"/>
            </a:solidFill>
            <a:prstDash val="solid"/>
            <a:tailEnd type="triangle"/>
          </a:ln>
        </p:spPr>
      </p:sp>
      <p:sp>
        <p:nvSpPr>
          <p:cNvPr id="18" name="Text 16"/>
          <p:cNvSpPr/>
          <p:nvPr/>
        </p:nvSpPr>
        <p:spPr>
          <a:xfrm>
            <a:off x="7680960" y="2468880"/>
            <a:ext cx="3931920" cy="1874520"/>
          </a:xfrm>
          <a:prstGeom prst="roundRect">
            <a:avLst>
              <a:gd name="adj" fmla="val 2927"/>
            </a:avLst>
          </a:prstGeom>
          <a:solidFill>
            <a:srgbClr val="F3EEFF"/>
          </a:solidFill>
          <a:ln w="12700">
            <a:solidFill>
              <a:srgbClr val="7C3AED"/>
            </a:solidFill>
            <a:prstDash val="solid"/>
          </a:ln>
        </p:spPr>
        <p:txBody>
          <a:bodyPr wrap="square" lIns="76200" tIns="76200" rIns="76200" bIns="76200" rtlCol="0" anchor="ctr"/>
          <a:lstStyle/>
          <a:p>
            <a:pPr algn="ctr" indent="0" marL="0">
              <a:buNone/>
            </a:pPr>
            <a:endParaRPr lang="en-US" sz="1100" dirty="0"/>
          </a:p>
        </p:txBody>
      </p:sp>
      <p:sp>
        <p:nvSpPr>
          <p:cNvPr id="19" name="Text 17"/>
          <p:cNvSpPr/>
          <p:nvPr/>
        </p:nvSpPr>
        <p:spPr>
          <a:xfrm>
            <a:off x="7863840" y="2542032"/>
            <a:ext cx="3657600" cy="274320"/>
          </a:xfrm>
          <a:prstGeom prst="rect">
            <a:avLst/>
          </a:prstGeom>
          <a:noFill/>
          <a:ln/>
        </p:spPr>
        <p:txBody>
          <a:bodyPr wrap="square" lIns="0" tIns="0" rIns="0" bIns="0" rtlCol="0" anchor="t"/>
          <a:lstStyle/>
          <a:p>
            <a:pPr algn="l" indent="0" marL="0">
              <a:lnSpc>
                <a:spcPct val="105000"/>
              </a:lnSpc>
              <a:spcAft>
                <a:spcPts val="200"/>
              </a:spcAft>
              <a:buNone/>
            </a:pPr>
            <a:r>
              <a:rPr lang="en-US" sz="1200" dirty="0">
                <a:solidFill>
                  <a:srgbClr val="0B1F4D"/>
                </a:solidFill>
                <a:latin typeface="Segoe UI Semibold" pitchFamily="34" charset="0"/>
                <a:ea typeface="Segoe UI Semibold" pitchFamily="34" charset="-122"/>
                <a:cs typeface="Segoe UI Semibold" pitchFamily="34" charset="-120"/>
              </a:rPr>
              <a:t>AI layer</a:t>
            </a:r>
            <a:endParaRPr lang="en-US" sz="1200" dirty="0"/>
          </a:p>
        </p:txBody>
      </p:sp>
      <p:sp>
        <p:nvSpPr>
          <p:cNvPr id="20" name="Text 18"/>
          <p:cNvSpPr/>
          <p:nvPr/>
        </p:nvSpPr>
        <p:spPr>
          <a:xfrm>
            <a:off x="7863840" y="2880360"/>
            <a:ext cx="3566160" cy="566928"/>
          </a:xfrm>
          <a:prstGeom prst="roundRect">
            <a:avLst>
              <a:gd name="adj" fmla="val 9677"/>
            </a:avLst>
          </a:prstGeom>
          <a:solidFill>
            <a:srgbClr val="FFFFFF"/>
          </a:solidFill>
          <a:ln w="12700">
            <a:solidFill>
              <a:srgbClr val="D8DEE8"/>
            </a:solidFill>
            <a:prstDash val="solid"/>
          </a:ln>
        </p:spPr>
        <p:txBody>
          <a:bodyPr wrap="square" lIns="76200" tIns="76200" rIns="76200" bIns="762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Model gateway</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routing · prompt cache · budgets · eval logging</a:t>
            </a:r>
            <a:endParaRPr lang="en-US" sz="1100" dirty="0"/>
          </a:p>
        </p:txBody>
      </p:sp>
      <p:sp>
        <p:nvSpPr>
          <p:cNvPr id="21" name="Text 19"/>
          <p:cNvSpPr/>
          <p:nvPr/>
        </p:nvSpPr>
        <p:spPr>
          <a:xfrm>
            <a:off x="7863840" y="3520440"/>
            <a:ext cx="1737360" cy="713232"/>
          </a:xfrm>
          <a:prstGeom prst="roundRect">
            <a:avLst>
              <a:gd name="adj" fmla="val 7692"/>
            </a:avLst>
          </a:prstGeom>
          <a:solidFill>
            <a:srgbClr val="FFFFFF"/>
          </a:solidFill>
          <a:ln w="12700">
            <a:solidFill>
              <a:srgbClr val="D8DEE8"/>
            </a:solidFill>
            <a:prstDash val="solid"/>
          </a:ln>
        </p:spPr>
        <p:txBody>
          <a:bodyPr wrap="square" lIns="76200" tIns="76200" rIns="76200" bIns="762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OpenAI</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GPT-5.6 Luna · Terra</a:t>
            </a:r>
            <a:endParaRPr lang="en-US" sz="1100" dirty="0"/>
          </a:p>
        </p:txBody>
      </p:sp>
      <p:sp>
        <p:nvSpPr>
          <p:cNvPr id="22" name="Text 20"/>
          <p:cNvSpPr/>
          <p:nvPr/>
        </p:nvSpPr>
        <p:spPr>
          <a:xfrm>
            <a:off x="9692640" y="3520440"/>
            <a:ext cx="1737360" cy="713232"/>
          </a:xfrm>
          <a:prstGeom prst="roundRect">
            <a:avLst>
              <a:gd name="adj" fmla="val 7692"/>
            </a:avLst>
          </a:prstGeom>
          <a:solidFill>
            <a:srgbClr val="FFFFFF"/>
          </a:solidFill>
          <a:ln w="12700">
            <a:solidFill>
              <a:srgbClr val="D8DEE8"/>
            </a:solidFill>
            <a:prstDash val="solid"/>
          </a:ln>
        </p:spPr>
        <p:txBody>
          <a:bodyPr wrap="square" lIns="76200" tIns="76200" rIns="76200" bIns="762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GPU workers</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EasyOCR + LayoutLM on NVIDIA L4</a:t>
            </a:r>
            <a:endParaRPr lang="en-US" sz="1100" dirty="0"/>
          </a:p>
        </p:txBody>
      </p:sp>
      <p:sp>
        <p:nvSpPr>
          <p:cNvPr id="23" name="Shape 21"/>
          <p:cNvSpPr/>
          <p:nvPr/>
        </p:nvSpPr>
        <p:spPr>
          <a:xfrm>
            <a:off x="7498080" y="3401568"/>
            <a:ext cx="182880" cy="914"/>
          </a:xfrm>
          <a:prstGeom prst="line">
            <a:avLst/>
          </a:prstGeom>
          <a:noFill/>
          <a:ln w="19050">
            <a:solidFill>
              <a:srgbClr val="7C3AED"/>
            </a:solidFill>
            <a:prstDash val="solid"/>
            <a:tailEnd type="triangle"/>
          </a:ln>
        </p:spPr>
      </p:sp>
      <p:sp>
        <p:nvSpPr>
          <p:cNvPr id="24" name="Text 22"/>
          <p:cNvSpPr/>
          <p:nvPr/>
        </p:nvSpPr>
        <p:spPr>
          <a:xfrm>
            <a:off x="731520" y="4572000"/>
            <a:ext cx="10881360" cy="1097280"/>
          </a:xfrm>
          <a:prstGeom prst="roundRect">
            <a:avLst>
              <a:gd name="adj" fmla="val 5000"/>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25" name="Text 23"/>
          <p:cNvSpPr/>
          <p:nvPr/>
        </p:nvSpPr>
        <p:spPr>
          <a:xfrm>
            <a:off x="914400" y="4636008"/>
            <a:ext cx="4572000" cy="274320"/>
          </a:xfrm>
          <a:prstGeom prst="rect">
            <a:avLst/>
          </a:prstGeom>
          <a:noFill/>
          <a:ln/>
        </p:spPr>
        <p:txBody>
          <a:bodyPr wrap="square" lIns="0" tIns="0" rIns="0" bIns="0" rtlCol="0" anchor="t"/>
          <a:lstStyle/>
          <a:p>
            <a:pPr algn="l" indent="0" marL="0">
              <a:lnSpc>
                <a:spcPct val="105000"/>
              </a:lnSpc>
              <a:spcAft>
                <a:spcPts val="200"/>
              </a:spcAft>
              <a:buNone/>
            </a:pPr>
            <a:r>
              <a:rPr lang="en-US" sz="1200" dirty="0">
                <a:solidFill>
                  <a:srgbClr val="0B1F4D"/>
                </a:solidFill>
                <a:latin typeface="Segoe UI Semibold" pitchFamily="34" charset="0"/>
                <a:ea typeface="Segoe UI Semibold" pitchFamily="34" charset="-122"/>
                <a:cs typeface="Segoe UI Semibold" pitchFamily="34" charset="-120"/>
              </a:rPr>
              <a:t>Data</a:t>
            </a:r>
            <a:endParaRPr lang="en-US" sz="1200" dirty="0"/>
          </a:p>
        </p:txBody>
      </p:sp>
      <p:sp>
        <p:nvSpPr>
          <p:cNvPr id="26" name="Text 24"/>
          <p:cNvSpPr/>
          <p:nvPr/>
        </p:nvSpPr>
        <p:spPr>
          <a:xfrm>
            <a:off x="914400" y="4937760"/>
            <a:ext cx="2011680" cy="640080"/>
          </a:xfrm>
          <a:prstGeom prst="roundRect">
            <a:avLst>
              <a:gd name="adj" fmla="val 8571"/>
            </a:avLst>
          </a:prstGeom>
          <a:solidFill>
            <a:srgbClr val="FFFFFF"/>
          </a:solidFill>
          <a:ln w="12700">
            <a:solidFill>
              <a:srgbClr val="D8DEE8"/>
            </a:solidFill>
            <a:prstDash val="solid"/>
          </a:ln>
        </p:spPr>
        <p:txBody>
          <a:bodyPr wrap="square" lIns="50800" tIns="50800" rIns="50800" bIns="508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PostgreSQL</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cases, workflow state, ledger, audit · row-level security · PITR</a:t>
            </a:r>
            <a:endParaRPr lang="en-US" sz="1100" dirty="0"/>
          </a:p>
        </p:txBody>
      </p:sp>
      <p:sp>
        <p:nvSpPr>
          <p:cNvPr id="27" name="Text 25"/>
          <p:cNvSpPr/>
          <p:nvPr/>
        </p:nvSpPr>
        <p:spPr>
          <a:xfrm>
            <a:off x="3044952" y="4937760"/>
            <a:ext cx="2011680" cy="640080"/>
          </a:xfrm>
          <a:prstGeom prst="roundRect">
            <a:avLst>
              <a:gd name="adj" fmla="val 8571"/>
            </a:avLst>
          </a:prstGeom>
          <a:solidFill>
            <a:srgbClr val="FFFFFF"/>
          </a:solidFill>
          <a:ln w="12700">
            <a:solidFill>
              <a:srgbClr val="D8DEE8"/>
            </a:solidFill>
            <a:prstDash val="solid"/>
          </a:ln>
        </p:spPr>
        <p:txBody>
          <a:bodyPr wrap="square" lIns="50800" tIns="50800" rIns="50800" bIns="508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Object storage</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encrypted originals · retention policy</a:t>
            </a:r>
            <a:endParaRPr lang="en-US" sz="1100" dirty="0"/>
          </a:p>
        </p:txBody>
      </p:sp>
      <p:sp>
        <p:nvSpPr>
          <p:cNvPr id="28" name="Text 26"/>
          <p:cNvSpPr/>
          <p:nvPr/>
        </p:nvSpPr>
        <p:spPr>
          <a:xfrm>
            <a:off x="5175504" y="4937760"/>
            <a:ext cx="2011680" cy="640080"/>
          </a:xfrm>
          <a:prstGeom prst="roundRect">
            <a:avLst>
              <a:gd name="adj" fmla="val 8571"/>
            </a:avLst>
          </a:prstGeom>
          <a:solidFill>
            <a:srgbClr val="FFFFFF"/>
          </a:solidFill>
          <a:ln w="12700">
            <a:solidFill>
              <a:srgbClr val="D8DEE8"/>
            </a:solidFill>
            <a:prstDash val="solid"/>
          </a:ln>
        </p:spPr>
        <p:txBody>
          <a:bodyPr wrap="square" lIns="50800" tIns="50800" rIns="50800" bIns="508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pgvector</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procedures, regulations, FAQ · text-embedding-3-small</a:t>
            </a:r>
            <a:endParaRPr lang="en-US" sz="1100" dirty="0"/>
          </a:p>
        </p:txBody>
      </p:sp>
      <p:sp>
        <p:nvSpPr>
          <p:cNvPr id="29" name="Text 27"/>
          <p:cNvSpPr/>
          <p:nvPr/>
        </p:nvSpPr>
        <p:spPr>
          <a:xfrm>
            <a:off x="7306056" y="4937760"/>
            <a:ext cx="2011680" cy="640080"/>
          </a:xfrm>
          <a:prstGeom prst="roundRect">
            <a:avLst>
              <a:gd name="adj" fmla="val 8571"/>
            </a:avLst>
          </a:prstGeom>
          <a:solidFill>
            <a:srgbClr val="FFFFFF"/>
          </a:solidFill>
          <a:ln w="12700">
            <a:solidFill>
              <a:srgbClr val="D8DEE8"/>
            </a:solidFill>
            <a:prstDash val="solid"/>
          </a:ln>
        </p:spPr>
        <p:txBody>
          <a:bodyPr wrap="square" lIns="50800" tIns="50800" rIns="50800" bIns="508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Redis</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cache, sessions, rate limits</a:t>
            </a:r>
            <a:endParaRPr lang="en-US" sz="1100" dirty="0"/>
          </a:p>
        </p:txBody>
      </p:sp>
      <p:sp>
        <p:nvSpPr>
          <p:cNvPr id="30" name="Text 28"/>
          <p:cNvSpPr/>
          <p:nvPr/>
        </p:nvSpPr>
        <p:spPr>
          <a:xfrm>
            <a:off x="9436608" y="4937760"/>
            <a:ext cx="2011680" cy="640080"/>
          </a:xfrm>
          <a:prstGeom prst="roundRect">
            <a:avLst>
              <a:gd name="adj" fmla="val 8571"/>
            </a:avLst>
          </a:prstGeom>
          <a:solidFill>
            <a:srgbClr val="FFFFFF"/>
          </a:solidFill>
          <a:ln w="12700">
            <a:solidFill>
              <a:srgbClr val="D8DEE8"/>
            </a:solidFill>
            <a:prstDash val="solid"/>
          </a:ln>
        </p:spPr>
        <p:txBody>
          <a:bodyPr wrap="square" lIns="50800" tIns="50800" rIns="50800" bIns="50800" rtlCol="0" anchor="ctr"/>
          <a:lstStyle/>
          <a:p>
            <a:pPr algn="ctr" indent="0" marL="0">
              <a:buNone/>
            </a:pPr>
            <a:r>
              <a:rPr lang="en-US" sz="1050" b="1" dirty="0">
                <a:solidFill>
                  <a:srgbClr val="0B1F4D"/>
                </a:solidFill>
                <a:latin typeface="Segoe UI" pitchFamily="34" charset="0"/>
                <a:ea typeface="Segoe UI" pitchFamily="34" charset="-122"/>
                <a:cs typeface="Segoe UI" pitchFamily="34" charset="-120"/>
              </a:rPr>
              <a:t>Analytics</a:t>
            </a:r>
            <a:endParaRPr lang="en-US" sz="1100" dirty="0"/>
          </a:p>
          <a:p>
            <a:pPr algn="ctr" indent="0" marL="0">
              <a:buNone/>
            </a:pPr>
            <a:r>
              <a:rPr lang="en-US" sz="850" dirty="0">
                <a:solidFill>
                  <a:srgbClr val="64748B"/>
                </a:solidFill>
                <a:latin typeface="Segoe UI" pitchFamily="34" charset="0"/>
                <a:ea typeface="Segoe UI" pitchFamily="34" charset="-122"/>
                <a:cs typeface="Segoe UI" pitchFamily="34" charset="-120"/>
              </a:rPr>
              <a:t>KPIs, time saved, model spend</a:t>
            </a:r>
            <a:endParaRPr lang="en-US" sz="1100" dirty="0"/>
          </a:p>
        </p:txBody>
      </p:sp>
      <p:sp>
        <p:nvSpPr>
          <p:cNvPr id="31" name="Shape 29"/>
          <p:cNvSpPr/>
          <p:nvPr/>
        </p:nvSpPr>
        <p:spPr>
          <a:xfrm>
            <a:off x="4114800" y="4343400"/>
            <a:ext cx="914" cy="228600"/>
          </a:xfrm>
          <a:prstGeom prst="line">
            <a:avLst/>
          </a:prstGeom>
          <a:noFill/>
          <a:ln w="19050">
            <a:solidFill>
              <a:srgbClr val="2563EB"/>
            </a:solidFill>
            <a:prstDash val="solid"/>
            <a:tailEnd type="triangle"/>
          </a:ln>
        </p:spPr>
      </p:sp>
      <p:sp>
        <p:nvSpPr>
          <p:cNvPr id="32" name="Text 30"/>
          <p:cNvSpPr/>
          <p:nvPr/>
        </p:nvSpPr>
        <p:spPr>
          <a:xfrm>
            <a:off x="731520" y="5806440"/>
            <a:ext cx="5669280" cy="548640"/>
          </a:xfrm>
          <a:prstGeom prst="roundRect">
            <a:avLst>
              <a:gd name="adj" fmla="val 10000"/>
            </a:avLst>
          </a:prstGeom>
          <a:solidFill>
            <a:srgbClr val="FFFFFF"/>
          </a:solidFill>
          <a:ln w="12700">
            <a:solidFill>
              <a:srgbClr val="D8DEE8"/>
            </a:solidFill>
            <a:prstDash val="solid"/>
          </a:ln>
        </p:spPr>
        <p:txBody>
          <a:bodyPr wrap="square" lIns="114300" tIns="114300" rIns="114300" bIns="114300" rtlCol="0" anchor="ctr"/>
          <a:lstStyle/>
          <a:p>
            <a:pPr algn="l" indent="0" marL="0">
              <a:buNone/>
            </a:pPr>
            <a:r>
              <a:rPr lang="en-US" sz="1000" b="1" dirty="0">
                <a:solidFill>
                  <a:srgbClr val="0B1F4D"/>
                </a:solidFill>
                <a:latin typeface="Segoe UI" pitchFamily="34" charset="0"/>
                <a:ea typeface="Segoe UI" pitchFamily="34" charset="-122"/>
                <a:cs typeface="Segoe UI" pitchFamily="34" charset="-120"/>
              </a:rPr>
              <a:t>Operations: </a:t>
            </a:r>
            <a:pPr algn="l" indent="0" marL="0">
              <a:buNone/>
            </a:pPr>
            <a:r>
              <a:rPr lang="en-US" sz="1000" dirty="0">
                <a:solidFill>
                  <a:srgbClr val="334155"/>
                </a:solidFill>
                <a:latin typeface="Segoe UI" pitchFamily="34" charset="0"/>
                <a:ea typeface="Segoe UI" pitchFamily="34" charset="-122"/>
                <a:cs typeface="Segoe UI" pitchFamily="34" charset="-120"/>
              </a:rPr>
              <a:t>tracing per agent run · golden-document evaluation · human review queue · secrets manager</a:t>
            </a:r>
            <a:endParaRPr lang="en-US" sz="1000" dirty="0"/>
          </a:p>
        </p:txBody>
      </p:sp>
      <p:sp>
        <p:nvSpPr>
          <p:cNvPr id="33" name="Text 31"/>
          <p:cNvSpPr/>
          <p:nvPr/>
        </p:nvSpPr>
        <p:spPr>
          <a:xfrm>
            <a:off x="6583680" y="5806440"/>
            <a:ext cx="5029200" cy="548640"/>
          </a:xfrm>
          <a:prstGeom prst="roundRect">
            <a:avLst>
              <a:gd name="adj" fmla="val 10000"/>
            </a:avLst>
          </a:prstGeom>
          <a:solidFill>
            <a:srgbClr val="FEF3E2"/>
          </a:solidFill>
          <a:ln w="12700">
            <a:solidFill>
              <a:srgbClr val="FEF3E2"/>
            </a:solidFill>
            <a:prstDash val="solid"/>
          </a:ln>
        </p:spPr>
        <p:txBody>
          <a:bodyPr wrap="square" lIns="114300" tIns="114300" rIns="114300" bIns="114300" rtlCol="0" anchor="ctr"/>
          <a:lstStyle/>
          <a:p>
            <a:pPr algn="l" indent="0" marL="0">
              <a:buNone/>
            </a:pPr>
            <a:r>
              <a:rPr lang="en-US" sz="1000" b="1" dirty="0">
                <a:solidFill>
                  <a:srgbClr val="B45309"/>
                </a:solidFill>
                <a:latin typeface="Segoe UI" pitchFamily="34" charset="0"/>
                <a:ea typeface="Segoe UI" pitchFamily="34" charset="-122"/>
                <a:cs typeface="Segoe UI" pitchFamily="34" charset="-120"/>
              </a:rPr>
              <a:t>Document policy: </a:t>
            </a:r>
            <a:pPr algn="l" indent="0" marL="0">
              <a:buNone/>
            </a:pPr>
            <a:r>
              <a:rPr lang="en-US" sz="1000" dirty="0">
                <a:solidFill>
                  <a:srgbClr val="334155"/>
                </a:solidFill>
                <a:latin typeface="Segoe UI" pitchFamily="34" charset="0"/>
                <a:ea typeface="Segoe UI" pitchFamily="34" charset="-122"/>
                <a:cs typeface="Segoe UI" pitchFamily="34" charset="-120"/>
              </a:rPr>
              <a:t>images stay on our GPU workers; only extracted text and fields reach the model gateway</a:t>
            </a:r>
            <a:endParaRPr lang="en-US" sz="10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08 · MODEL SELECTION</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LLM candidates: price, capability and measured latency</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In scope: GPT-5.6 Luna, GPT-5.6 Terra, GPT-5.5 — GPT-5.6 Sol and GPT-6 Astra excluded by scope</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881360" cy="914400"/>
        </p:xfrm>
        <a:graphic>
          <a:graphicData uri="http://schemas.openxmlformats.org/drawingml/2006/table">
            <a:tbl>
              <a:tblPr/>
              <a:tblGrid>
                <a:gridCol w="2148840"/>
                <a:gridCol w="2240280"/>
                <a:gridCol w="1234440"/>
                <a:gridCol w="1325880"/>
                <a:gridCol w="1280160"/>
                <a:gridCol w="1097280"/>
                <a:gridCol w="1554480"/>
              </a:tblGrid>
              <a:tr h="384048">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Model (reasoning effort)</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Input / cached / output per 1M</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Batch·Flex · Fast</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AA Intelligence Index</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Time to first token</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Output tok/s</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One 3k-in / 300-out call</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r>
              <a:tr h="384048">
                <a:tc>
                  <a:txBody>
                    <a:bodyPr/>
                    <a:lstStyle/>
                    <a:p>
                      <a:pPr algn="l" indent="0" marL="0">
                        <a:buNone/>
                      </a:pPr>
                      <a:r>
                        <a:rPr lang="en-US" sz="1050" b="1" dirty="0">
                          <a:solidFill>
                            <a:srgbClr val="0F1729"/>
                          </a:solidFill>
                          <a:latin typeface="Segoe UI" pitchFamily="34" charset="0"/>
                          <a:ea typeface="Segoe UI" pitchFamily="34" charset="-122"/>
                          <a:cs typeface="Segoe UI" pitchFamily="34" charset="-120"/>
                        </a:rPr>
                        <a:t>GPT-5.6 Luna (low)</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50" dirty="0">
                          <a:solidFill>
                            <a:srgbClr val="0F1729"/>
                          </a:solidFill>
                          <a:latin typeface="Segoe UI" pitchFamily="34" charset="0"/>
                          <a:ea typeface="Segoe UI" pitchFamily="34" charset="-122"/>
                          <a:cs typeface="Segoe UI" pitchFamily="34" charset="-120"/>
                        </a:rPr>
                        <a:t>$0.20 / $0.02 / $1.20</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50" dirty="0">
                          <a:solidFill>
                            <a:srgbClr val="0F1729"/>
                          </a:solidFill>
                          <a:latin typeface="Segoe UI" pitchFamily="34" charset="0"/>
                          <a:ea typeface="Segoe UI" pitchFamily="34" charset="-122"/>
                          <a:cs typeface="Segoe UI" pitchFamily="34" charset="-120"/>
                        </a:rPr>
                        <a:t>50% · 2×</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0B1F4D"/>
                          </a:solidFill>
                          <a:latin typeface="Segoe UI" pitchFamily="34" charset="0"/>
                          <a:ea typeface="Segoe UI" pitchFamily="34" charset="-122"/>
                          <a:cs typeface="Segoe UI" pitchFamily="34" charset="-120"/>
                        </a:rPr>
                        <a:t>22</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2.14 s</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107</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$0.0010 · 4.9 s</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384048">
                <a:tc>
                  <a:txBody>
                    <a:bodyPr/>
                    <a:lstStyle/>
                    <a:p>
                      <a:pPr algn="l" indent="0" marL="0">
                        <a:buNone/>
                      </a:pPr>
                      <a:r>
                        <a:rPr lang="en-US" sz="1050" b="1" dirty="0">
                          <a:solidFill>
                            <a:srgbClr val="0F1729"/>
                          </a:solidFill>
                          <a:latin typeface="Segoe UI" pitchFamily="34" charset="0"/>
                          <a:ea typeface="Segoe UI" pitchFamily="34" charset="-122"/>
                          <a:cs typeface="Segoe UI" pitchFamily="34" charset="-120"/>
                        </a:rPr>
                        <a:t>GPT-5.6 Terra (low)</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F1729"/>
                          </a:solidFill>
                          <a:latin typeface="Segoe UI" pitchFamily="34" charset="0"/>
                          <a:ea typeface="Segoe UI" pitchFamily="34" charset="-122"/>
                          <a:cs typeface="Segoe UI" pitchFamily="34" charset="-120"/>
                        </a:rPr>
                        <a:t>$2.00 / $0.20 / $12.00</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F1729"/>
                          </a:solidFill>
                          <a:latin typeface="Segoe UI" pitchFamily="34" charset="0"/>
                          <a:ea typeface="Segoe UI" pitchFamily="34" charset="-122"/>
                          <a:cs typeface="Segoe UI" pitchFamily="34" charset="-120"/>
                        </a:rPr>
                        <a:t>50% · 2×</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1F4D"/>
                          </a:solidFill>
                          <a:latin typeface="Segoe UI" pitchFamily="34" charset="0"/>
                          <a:ea typeface="Segoe UI" pitchFamily="34" charset="-122"/>
                          <a:cs typeface="Segoe UI" pitchFamily="34" charset="-120"/>
                        </a:rPr>
                        <a:t>28</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1.54 s</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89</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$0.0096 · 4.9 s</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0F1729"/>
                          </a:solidFill>
                          <a:latin typeface="Segoe UI" pitchFamily="34" charset="0"/>
                          <a:ea typeface="Segoe UI" pitchFamily="34" charset="-122"/>
                          <a:cs typeface="Segoe UI" pitchFamily="34" charset="-120"/>
                        </a:rPr>
                        <a:t>GPT-5.6 Terra (high)</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50" dirty="0">
                          <a:solidFill>
                            <a:srgbClr val="0F1729"/>
                          </a:solidFill>
                          <a:latin typeface="Segoe UI" pitchFamily="34" charset="0"/>
                          <a:ea typeface="Segoe UI" pitchFamily="34" charset="-122"/>
                          <a:cs typeface="Segoe UI" pitchFamily="34" charset="-120"/>
                        </a:rPr>
                        <a:t>$2.00 / $0.20 / $12.00</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50" dirty="0">
                          <a:solidFill>
                            <a:srgbClr val="0F1729"/>
                          </a:solidFill>
                          <a:latin typeface="Segoe UI" pitchFamily="34" charset="0"/>
                          <a:ea typeface="Segoe UI" pitchFamily="34" charset="-122"/>
                          <a:cs typeface="Segoe UI" pitchFamily="34" charset="-120"/>
                        </a:rPr>
                        <a:t>50% · 2×</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0B1F4D"/>
                          </a:solidFill>
                          <a:latin typeface="Segoe UI" pitchFamily="34" charset="0"/>
                          <a:ea typeface="Segoe UI" pitchFamily="34" charset="-122"/>
                          <a:cs typeface="Segoe UI" pitchFamily="34" charset="-120"/>
                        </a:rPr>
                        <a:t>34</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2.48 s</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93.3</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$0.0096 · 5.7 s</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384048">
                <a:tc>
                  <a:txBody>
                    <a:bodyPr/>
                    <a:lstStyle/>
                    <a:p>
                      <a:pPr algn="l" indent="0" marL="0">
                        <a:buNone/>
                      </a:pPr>
                      <a:r>
                        <a:rPr lang="en-US" sz="1050" b="1" dirty="0">
                          <a:solidFill>
                            <a:srgbClr val="0F1729"/>
                          </a:solidFill>
                          <a:latin typeface="Segoe UI" pitchFamily="34" charset="0"/>
                          <a:ea typeface="Segoe UI" pitchFamily="34" charset="-122"/>
                          <a:cs typeface="Segoe UI" pitchFamily="34" charset="-120"/>
                        </a:rPr>
                        <a:t>GPT-5.5 (low)</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F1729"/>
                          </a:solidFill>
                          <a:latin typeface="Segoe UI" pitchFamily="34" charset="0"/>
                          <a:ea typeface="Segoe UI" pitchFamily="34" charset="-122"/>
                          <a:cs typeface="Segoe UI" pitchFamily="34" charset="-120"/>
                        </a:rPr>
                        <a:t>$5.00 / $0.50 / $30.00</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F1729"/>
                          </a:solidFill>
                          <a:latin typeface="Segoe UI" pitchFamily="34" charset="0"/>
                          <a:ea typeface="Segoe UI" pitchFamily="34" charset="-122"/>
                          <a:cs typeface="Segoe UI" pitchFamily="34" charset="-120"/>
                        </a:rPr>
                        <a:t>50% · 2.5×</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1F4D"/>
                          </a:solidFill>
                          <a:latin typeface="Segoe UI" pitchFamily="34" charset="0"/>
                          <a:ea typeface="Segoe UI" pitchFamily="34" charset="-122"/>
                          <a:cs typeface="Segoe UI" pitchFamily="34" charset="-120"/>
                        </a:rPr>
                        <a:t>31</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1.76 s</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82.7</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$0.024 · 5.4 s</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0F1729"/>
                          </a:solidFill>
                          <a:latin typeface="Segoe UI" pitchFamily="34" charset="0"/>
                          <a:ea typeface="Segoe UI" pitchFamily="34" charset="-122"/>
                          <a:cs typeface="Segoe UI" pitchFamily="34" charset="-120"/>
                        </a:rPr>
                        <a:t>GPT-5.5 (medium)</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50" dirty="0">
                          <a:solidFill>
                            <a:srgbClr val="0F1729"/>
                          </a:solidFill>
                          <a:latin typeface="Segoe UI" pitchFamily="34" charset="0"/>
                          <a:ea typeface="Segoe UI" pitchFamily="34" charset="-122"/>
                          <a:cs typeface="Segoe UI" pitchFamily="34" charset="-120"/>
                        </a:rPr>
                        <a:t>$5.00 / $0.50 / $30.00</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50" dirty="0">
                          <a:solidFill>
                            <a:srgbClr val="0F1729"/>
                          </a:solidFill>
                          <a:latin typeface="Segoe UI" pitchFamily="34" charset="0"/>
                          <a:ea typeface="Segoe UI" pitchFamily="34" charset="-122"/>
                          <a:cs typeface="Segoe UI" pitchFamily="34" charset="-120"/>
                        </a:rPr>
                        <a:t>50% · 2.5×</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0B1F4D"/>
                          </a:solidFill>
                          <a:latin typeface="Segoe UI" pitchFamily="34" charset="0"/>
                          <a:ea typeface="Segoe UI" pitchFamily="34" charset="-122"/>
                          <a:cs typeface="Segoe UI" pitchFamily="34" charset="-120"/>
                        </a:rPr>
                        <a:t>34</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3.44 s</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83.8</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0F1729"/>
                          </a:solidFill>
                          <a:latin typeface="Segoe UI" pitchFamily="34" charset="0"/>
                          <a:ea typeface="Segoe UI" pitchFamily="34" charset="-122"/>
                          <a:cs typeface="Segoe UI" pitchFamily="34" charset="-120"/>
                        </a:rPr>
                        <a:t>$0.024 · 7.0 s</a:t>
                      </a:r>
                      <a:endParaRPr lang="en-US" sz="10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bl>
          </a:graphicData>
        </a:graphic>
      </p:graphicFrame>
      <p:sp>
        <p:nvSpPr>
          <p:cNvPr id="7" name="Text 4"/>
          <p:cNvSpPr/>
          <p:nvPr/>
        </p:nvSpPr>
        <p:spPr>
          <a:xfrm>
            <a:off x="731520" y="4069080"/>
            <a:ext cx="3520440" cy="2194560"/>
          </a:xfrm>
          <a:prstGeom prst="roundRect">
            <a:avLst>
              <a:gd name="adj" fmla="val 2500"/>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8" name="Shape 5"/>
          <p:cNvSpPr/>
          <p:nvPr/>
        </p:nvSpPr>
        <p:spPr>
          <a:xfrm>
            <a:off x="731520" y="4069080"/>
            <a:ext cx="3520440" cy="64008"/>
          </a:xfrm>
          <a:prstGeom prst="rect">
            <a:avLst/>
          </a:prstGeom>
          <a:solidFill>
            <a:srgbClr val="047857"/>
          </a:solidFill>
          <a:ln w="12700">
            <a:solidFill>
              <a:srgbClr val="047857"/>
            </a:solidFill>
            <a:prstDash val="solid"/>
          </a:ln>
        </p:spPr>
      </p:sp>
      <p:sp>
        <p:nvSpPr>
          <p:cNvPr id="9" name="Text 6"/>
          <p:cNvSpPr/>
          <p:nvPr/>
        </p:nvSpPr>
        <p:spPr>
          <a:xfrm>
            <a:off x="914400" y="4251960"/>
            <a:ext cx="3200400" cy="457200"/>
          </a:xfrm>
          <a:prstGeom prst="rect">
            <a:avLst/>
          </a:prstGeom>
          <a:noFill/>
          <a:ln/>
        </p:spPr>
        <p:txBody>
          <a:bodyPr wrap="square" lIns="0" tIns="0" rIns="0" bIns="0" rtlCol="0" anchor="t"/>
          <a:lstStyle/>
          <a:p>
            <a:pPr algn="l" indent="0" marL="0">
              <a:lnSpc>
                <a:spcPct val="105000"/>
              </a:lnSpc>
              <a:spcAft>
                <a:spcPts val="200"/>
              </a:spcAft>
              <a:buNone/>
            </a:pPr>
            <a:r>
              <a:rPr lang="en-US" sz="1300" dirty="0">
                <a:solidFill>
                  <a:srgbClr val="0B1F4D"/>
                </a:solidFill>
                <a:latin typeface="Segoe UI Semibold" pitchFamily="34" charset="0"/>
                <a:ea typeface="Segoe UI Semibold" pitchFamily="34" charset="-122"/>
                <a:cs typeface="Segoe UI Semibold" pitchFamily="34" charset="-120"/>
              </a:rPr>
              <a:t>Terra (high) matches GPT-5.5 (medium)</a:t>
            </a:r>
            <a:endParaRPr lang="en-US" sz="1300" dirty="0"/>
          </a:p>
        </p:txBody>
      </p:sp>
      <p:sp>
        <p:nvSpPr>
          <p:cNvPr id="10" name="Text 7"/>
          <p:cNvSpPr/>
          <p:nvPr/>
        </p:nvSpPr>
        <p:spPr>
          <a:xfrm>
            <a:off x="914400" y="4754880"/>
            <a:ext cx="3200400" cy="1463040"/>
          </a:xfrm>
          <a:prstGeom prst="rect">
            <a:avLst/>
          </a:prstGeom>
          <a:noFill/>
          <a:ln/>
        </p:spPr>
        <p:txBody>
          <a:bodyPr wrap="square" lIns="0" tIns="0" rIns="0" bIns="0" rtlCol="0" anchor="t"/>
          <a:lstStyle/>
          <a:p>
            <a:pPr algn="l" indent="0" marL="0">
              <a:lnSpc>
                <a:spcPct val="105000"/>
              </a:lnSpc>
              <a:spcAft>
                <a:spcPts val="200"/>
              </a:spcAft>
              <a:buNone/>
            </a:pPr>
            <a:r>
              <a:rPr lang="en-US" sz="1050" dirty="0">
                <a:solidFill>
                  <a:srgbClr val="334155"/>
                </a:solidFill>
                <a:latin typeface="Segoe UI" pitchFamily="34" charset="0"/>
                <a:ea typeface="Segoe UI" pitchFamily="34" charset="-122"/>
                <a:cs typeface="Segoe UI" pitchFamily="34" charset="-120"/>
              </a:rPr>
              <a:t>Both score 34. Terra costs 40% of GPT-5.5 per token and answers sooner (2.48 s vs 3.44 s first token, 93 vs 84 tok/s). GPT-5.5 is not selected.</a:t>
            </a:r>
            <a:endParaRPr lang="en-US" sz="1050" dirty="0"/>
          </a:p>
        </p:txBody>
      </p:sp>
      <p:sp>
        <p:nvSpPr>
          <p:cNvPr id="11" name="Text 8"/>
          <p:cNvSpPr/>
          <p:nvPr/>
        </p:nvSpPr>
        <p:spPr>
          <a:xfrm>
            <a:off x="4407408" y="4069080"/>
            <a:ext cx="3520440" cy="2194560"/>
          </a:xfrm>
          <a:prstGeom prst="roundRect">
            <a:avLst>
              <a:gd name="adj" fmla="val 2500"/>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2" name="Shape 9"/>
          <p:cNvSpPr/>
          <p:nvPr/>
        </p:nvSpPr>
        <p:spPr>
          <a:xfrm>
            <a:off x="4407408" y="4069080"/>
            <a:ext cx="3520440" cy="64008"/>
          </a:xfrm>
          <a:prstGeom prst="rect">
            <a:avLst/>
          </a:prstGeom>
          <a:solidFill>
            <a:srgbClr val="2563EB"/>
          </a:solidFill>
          <a:ln w="12700">
            <a:solidFill>
              <a:srgbClr val="2563EB"/>
            </a:solidFill>
            <a:prstDash val="solid"/>
          </a:ln>
        </p:spPr>
      </p:sp>
      <p:sp>
        <p:nvSpPr>
          <p:cNvPr id="13" name="Text 10"/>
          <p:cNvSpPr/>
          <p:nvPr/>
        </p:nvSpPr>
        <p:spPr>
          <a:xfrm>
            <a:off x="4590288" y="4251960"/>
            <a:ext cx="3200400" cy="457200"/>
          </a:xfrm>
          <a:prstGeom prst="rect">
            <a:avLst/>
          </a:prstGeom>
          <a:noFill/>
          <a:ln/>
        </p:spPr>
        <p:txBody>
          <a:bodyPr wrap="square" lIns="0" tIns="0" rIns="0" bIns="0" rtlCol="0" anchor="t"/>
          <a:lstStyle/>
          <a:p>
            <a:pPr algn="l" indent="0" marL="0">
              <a:lnSpc>
                <a:spcPct val="105000"/>
              </a:lnSpc>
              <a:spcAft>
                <a:spcPts val="200"/>
              </a:spcAft>
              <a:buNone/>
            </a:pPr>
            <a:r>
              <a:rPr lang="en-US" sz="1300" dirty="0">
                <a:solidFill>
                  <a:srgbClr val="0B1F4D"/>
                </a:solidFill>
                <a:latin typeface="Segoe UI Semibold" pitchFamily="34" charset="0"/>
                <a:ea typeface="Segoe UI Semibold" pitchFamily="34" charset="-122"/>
                <a:cs typeface="Segoe UI Semibold" pitchFamily="34" charset="-120"/>
              </a:rPr>
              <a:t>Luna vs Terra at low effort</a:t>
            </a:r>
            <a:endParaRPr lang="en-US" sz="1300" dirty="0"/>
          </a:p>
        </p:txBody>
      </p:sp>
      <p:sp>
        <p:nvSpPr>
          <p:cNvPr id="14" name="Text 11"/>
          <p:cNvSpPr/>
          <p:nvPr/>
        </p:nvSpPr>
        <p:spPr>
          <a:xfrm>
            <a:off x="4590288" y="4754880"/>
            <a:ext cx="3200400" cy="1463040"/>
          </a:xfrm>
          <a:prstGeom prst="rect">
            <a:avLst/>
          </a:prstGeom>
          <a:noFill/>
          <a:ln/>
        </p:spPr>
        <p:txBody>
          <a:bodyPr wrap="square" lIns="0" tIns="0" rIns="0" bIns="0" rtlCol="0" anchor="t"/>
          <a:lstStyle/>
          <a:p>
            <a:pPr algn="l" indent="0" marL="0">
              <a:lnSpc>
                <a:spcPct val="105000"/>
              </a:lnSpc>
              <a:spcAft>
                <a:spcPts val="200"/>
              </a:spcAft>
              <a:buNone/>
            </a:pPr>
            <a:r>
              <a:rPr lang="en-US" sz="1050" dirty="0">
                <a:solidFill>
                  <a:srgbClr val="334155"/>
                </a:solidFill>
                <a:latin typeface="Segoe UI" pitchFamily="34" charset="0"/>
                <a:ea typeface="Segoe UI" pitchFamily="34" charset="-122"/>
                <a:cs typeface="Segoe UI" pitchFamily="34" charset="-120"/>
              </a:rPr>
              <a:t>Luna is 10× cheaper; Terra scores higher (28 vs 22) and starts 0.6 s sooner. Use Luna where tables already decide; Terra where a wrong value is costly.</a:t>
            </a:r>
            <a:endParaRPr lang="en-US" sz="1050" dirty="0"/>
          </a:p>
        </p:txBody>
      </p:sp>
      <p:sp>
        <p:nvSpPr>
          <p:cNvPr id="15" name="Text 12"/>
          <p:cNvSpPr/>
          <p:nvPr/>
        </p:nvSpPr>
        <p:spPr>
          <a:xfrm>
            <a:off x="8083296" y="4069080"/>
            <a:ext cx="3520440" cy="2194560"/>
          </a:xfrm>
          <a:prstGeom prst="roundRect">
            <a:avLst>
              <a:gd name="adj" fmla="val 2500"/>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6" name="Shape 13"/>
          <p:cNvSpPr/>
          <p:nvPr/>
        </p:nvSpPr>
        <p:spPr>
          <a:xfrm>
            <a:off x="8083296" y="4069080"/>
            <a:ext cx="3520440" cy="64008"/>
          </a:xfrm>
          <a:prstGeom prst="rect">
            <a:avLst/>
          </a:prstGeom>
          <a:solidFill>
            <a:srgbClr val="B45309"/>
          </a:solidFill>
          <a:ln w="12700">
            <a:solidFill>
              <a:srgbClr val="B45309"/>
            </a:solidFill>
            <a:prstDash val="solid"/>
          </a:ln>
        </p:spPr>
      </p:sp>
      <p:sp>
        <p:nvSpPr>
          <p:cNvPr id="17" name="Text 14"/>
          <p:cNvSpPr/>
          <p:nvPr/>
        </p:nvSpPr>
        <p:spPr>
          <a:xfrm>
            <a:off x="8266176" y="4251960"/>
            <a:ext cx="3200400" cy="457200"/>
          </a:xfrm>
          <a:prstGeom prst="rect">
            <a:avLst/>
          </a:prstGeom>
          <a:noFill/>
          <a:ln/>
        </p:spPr>
        <p:txBody>
          <a:bodyPr wrap="square" lIns="0" tIns="0" rIns="0" bIns="0" rtlCol="0" anchor="t"/>
          <a:lstStyle/>
          <a:p>
            <a:pPr algn="l" indent="0" marL="0">
              <a:lnSpc>
                <a:spcPct val="105000"/>
              </a:lnSpc>
              <a:spcAft>
                <a:spcPts val="200"/>
              </a:spcAft>
              <a:buNone/>
            </a:pPr>
            <a:r>
              <a:rPr lang="en-US" sz="1300" dirty="0">
                <a:solidFill>
                  <a:srgbClr val="0B1F4D"/>
                </a:solidFill>
                <a:latin typeface="Segoe UI Semibold" pitchFamily="34" charset="0"/>
                <a:ea typeface="Segoe UI Semibold" pitchFamily="34" charset="-122"/>
                <a:cs typeface="Segoe UI Semibold" pitchFamily="34" charset="-120"/>
              </a:rPr>
              <a:t>Reasoning effort is a cost dial</a:t>
            </a:r>
            <a:endParaRPr lang="en-US" sz="1300" dirty="0"/>
          </a:p>
        </p:txBody>
      </p:sp>
      <p:sp>
        <p:nvSpPr>
          <p:cNvPr id="18" name="Text 15"/>
          <p:cNvSpPr/>
          <p:nvPr/>
        </p:nvSpPr>
        <p:spPr>
          <a:xfrm>
            <a:off x="8266176" y="4754880"/>
            <a:ext cx="3200400" cy="1463040"/>
          </a:xfrm>
          <a:prstGeom prst="rect">
            <a:avLst/>
          </a:prstGeom>
          <a:noFill/>
          <a:ln/>
        </p:spPr>
        <p:txBody>
          <a:bodyPr wrap="square" lIns="0" tIns="0" rIns="0" bIns="0" rtlCol="0" anchor="t"/>
          <a:lstStyle/>
          <a:p>
            <a:pPr algn="l" indent="0" marL="0">
              <a:lnSpc>
                <a:spcPct val="105000"/>
              </a:lnSpc>
              <a:spcAft>
                <a:spcPts val="200"/>
              </a:spcAft>
              <a:buNone/>
            </a:pPr>
            <a:r>
              <a:rPr lang="en-US" sz="1050" dirty="0">
                <a:solidFill>
                  <a:srgbClr val="334155"/>
                </a:solidFill>
                <a:latin typeface="Segoe UI" pitchFamily="34" charset="0"/>
                <a:ea typeface="Segoe UI" pitchFamily="34" charset="-122"/>
                <a:cs typeface="Segoe UI" pitchFamily="34" charset="-120"/>
              </a:rPr>
              <a:t>Higher effort adds reasoning tokens billed as output and raises time to first token — pick the lowest effort that passes our evaluation set.</a:t>
            </a:r>
            <a:endParaRPr lang="en-US" sz="105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08 · MODEL SELECTION</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Each task gets the cheapest model that meets its latency and accuracy need</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Per-case volumes are assumptions for procedure 868 (listed on the sources slide)</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481328"/>
          <a:ext cx="10881360" cy="914400"/>
        </p:xfrm>
        <a:graphic>
          <a:graphicData uri="http://schemas.openxmlformats.org/drawingml/2006/table">
            <a:tbl>
              <a:tblPr/>
              <a:tblGrid>
                <a:gridCol w="1691640"/>
                <a:gridCol w="1143000"/>
                <a:gridCol w="1097280"/>
                <a:gridCol w="1234440"/>
                <a:gridCol w="640080"/>
                <a:gridCol w="731520"/>
                <a:gridCol w="4343400"/>
              </a:tblGrid>
              <a:tr h="329184">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Task</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Latency need</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Model</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Volume / case</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Per call</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Cost / case</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Why this — and why not the alternative</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r>
              <a:tr h="731520">
                <a:tc>
                  <a:txBody>
                    <a:bodyPr/>
                    <a:lstStyle/>
                    <a:p>
                      <a:pPr algn="l" indent="0" marL="0">
                        <a:buNone/>
                      </a:pPr>
                      <a:r>
                        <a:rPr lang="en-US" sz="900" b="1" dirty="0">
                          <a:solidFill>
                            <a:srgbClr val="0F1729"/>
                          </a:solidFill>
                          <a:latin typeface="Segoe UI" pitchFamily="34" charset="0"/>
                          <a:ea typeface="Segoe UI" pitchFamily="34" charset="-122"/>
                          <a:cs typeface="Segoe UI" pitchFamily="34" charset="-120"/>
                        </a:rPr>
                        <a:t>Intake — unusual wording</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Interactive chat turn</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b="1" dirty="0">
                          <a:solidFill>
                            <a:srgbClr val="2563EB"/>
                          </a:solidFill>
                          <a:latin typeface="Segoe UI" pitchFamily="34" charset="0"/>
                          <a:ea typeface="Segoe UI" pitchFamily="34" charset="-122"/>
                          <a:cs typeface="Segoe UI" pitchFamily="34" charset="-120"/>
                        </a:rPr>
                        <a:t>Luna (low)</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00" dirty="0">
                          <a:solidFill>
                            <a:srgbClr val="0F1729"/>
                          </a:solidFill>
                          <a:latin typeface="Segoe UI" pitchFamily="34" charset="0"/>
                          <a:ea typeface="Segoe UI" pitchFamily="34" charset="-122"/>
                          <a:cs typeface="Segoe UI" pitchFamily="34" charset="-120"/>
                        </a:rPr>
                        <a:t>6 × 1.5k in / 150 out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00" dirty="0">
                          <a:solidFill>
                            <a:srgbClr val="0F1729"/>
                          </a:solidFill>
                          <a:latin typeface="Segoe UI" pitchFamily="34" charset="0"/>
                          <a:ea typeface="Segoe UI" pitchFamily="34" charset="-122"/>
                          <a:cs typeface="Segoe UI" pitchFamily="34" charset="-120"/>
                        </a:rPr>
                        <a:t>≈3.5 s</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00" b="1" dirty="0">
                          <a:solidFill>
                            <a:srgbClr val="0F1729"/>
                          </a:solidFill>
                          <a:latin typeface="Segoe UI" pitchFamily="34" charset="0"/>
                          <a:ea typeface="Segoe UI" pitchFamily="34" charset="-122"/>
                          <a:cs typeface="Segoe UI" pitchFamily="34" charset="-120"/>
                        </a:rPr>
                        <a:t>$0.0021</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dirty="0">
                          <a:solidFill>
                            <a:srgbClr val="334155"/>
                          </a:solidFill>
                          <a:latin typeface="Segoe UI" pitchFamily="34" charset="0"/>
                          <a:ea typeface="Segoe UI" pitchFamily="34" charset="-122"/>
                          <a:cs typeface="Segoe UI" pitchFamily="34" charset="-120"/>
                        </a:rPr>
                        <a:t>Tables pick the procedure; the model only maps wording to slots.</a:t>
                      </a:r>
                      <a:endParaRPr lang="en-US" sz="900" dirty="0">
                        <a:latin typeface="Segoe UI" charset="0"/>
                        <a:ea typeface="Segoe UI" charset="0"/>
                        <a:cs typeface="Segoe UI" charset="0"/>
                      </a:endParaRPr>
                    </a:p>
                    <a:p>
                      <a:pPr algn="l" indent="0" marL="0">
                        <a:buNone/>
                      </a:pPr>
                      <a:r>
                        <a:rPr lang="en-US" sz="850" dirty="0">
                          <a:solidFill>
                            <a:srgbClr val="64748B"/>
                          </a:solidFill>
                          <a:latin typeface="Segoe UI" pitchFamily="34" charset="0"/>
                          <a:ea typeface="Segoe UI" pitchFamily="34" charset="-122"/>
                          <a:cs typeface="Segoe UI" pitchFamily="34" charset="-120"/>
                        </a:rPr>
                        <a:t>Not chosen: Terra: +0.3 s faster total at 10× cost — not worth it for 150-token replies.</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731520">
                <a:tc>
                  <a:txBody>
                    <a:bodyPr/>
                    <a:lstStyle/>
                    <a:p>
                      <a:pPr algn="l" indent="0" marL="0">
                        <a:buNone/>
                      </a:pPr>
                      <a:r>
                        <a:rPr lang="en-US" sz="900" b="1" dirty="0">
                          <a:solidFill>
                            <a:srgbClr val="0F1729"/>
                          </a:solidFill>
                          <a:latin typeface="Segoe UI" pitchFamily="34" charset="0"/>
                          <a:ea typeface="Segoe UI" pitchFamily="34" charset="-122"/>
                          <a:cs typeface="Segoe UI" pitchFamily="34" charset="-120"/>
                        </a:rPr>
                        <a:t>Step guidance &amp; FAQ answers</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Interactive, streamed</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2563EB"/>
                          </a:solidFill>
                          <a:latin typeface="Segoe UI" pitchFamily="34" charset="0"/>
                          <a:ea typeface="Segoe UI" pitchFamily="34" charset="-122"/>
                          <a:cs typeface="Segoe UI" pitchFamily="34" charset="-120"/>
                        </a:rPr>
                        <a:t>Luna (low)</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1729"/>
                          </a:solidFill>
                          <a:latin typeface="Segoe UI" pitchFamily="34" charset="0"/>
                          <a:ea typeface="Segoe UI" pitchFamily="34" charset="-122"/>
                          <a:cs typeface="Segoe UI" pitchFamily="34" charset="-120"/>
                        </a:rPr>
                        <a:t>48 × 3.0k in / 300 out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1729"/>
                          </a:solidFill>
                          <a:latin typeface="Segoe UI" pitchFamily="34" charset="0"/>
                          <a:ea typeface="Segoe UI" pitchFamily="34" charset="-122"/>
                          <a:cs typeface="Segoe UI" pitchFamily="34" charset="-120"/>
                        </a:rPr>
                        <a:t>≈4.9 s</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F1729"/>
                          </a:solidFill>
                          <a:latin typeface="Segoe UI" pitchFamily="34" charset="0"/>
                          <a:ea typeface="Segoe UI" pitchFamily="34" charset="-122"/>
                          <a:cs typeface="Segoe UI" pitchFamily="34" charset="-120"/>
                        </a:rPr>
                        <a:t>$0.025</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4155"/>
                          </a:solidFill>
                          <a:latin typeface="Segoe UI" pitchFamily="34" charset="0"/>
                          <a:ea typeface="Segoe UI" pitchFamily="34" charset="-122"/>
                          <a:cs typeface="Segoe UI" pitchFamily="34" charset="-120"/>
                        </a:rPr>
                        <a:t>Highest volume (48 calls); 80% of the prompt is cached procedure text.</a:t>
                      </a:r>
                      <a:endParaRPr lang="en-US" sz="900" dirty="0">
                        <a:latin typeface="Segoe UI" charset="0"/>
                        <a:ea typeface="Segoe UI" charset="0"/>
                        <a:cs typeface="Segoe UI" charset="0"/>
                      </a:endParaRPr>
                    </a:p>
                    <a:p>
                      <a:pPr algn="l" indent="0" marL="0">
                        <a:buNone/>
                      </a:pPr>
                      <a:r>
                        <a:rPr lang="en-US" sz="850" dirty="0">
                          <a:solidFill>
                            <a:srgbClr val="64748B"/>
                          </a:solidFill>
                          <a:latin typeface="Segoe UI" pitchFamily="34" charset="0"/>
                          <a:ea typeface="Segoe UI" pitchFamily="34" charset="-122"/>
                          <a:cs typeface="Segoe UI" pitchFamily="34" charset="-120"/>
                        </a:rPr>
                        <a:t>Not chosen: Terra would cost ~10× for rephrasing what the step engine already decided.</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731520">
                <a:tc>
                  <a:txBody>
                    <a:bodyPr/>
                    <a:lstStyle/>
                    <a:p>
                      <a:pPr algn="l" indent="0" marL="0">
                        <a:buNone/>
                      </a:pPr>
                      <a:r>
                        <a:rPr lang="en-US" sz="900" b="1" dirty="0">
                          <a:solidFill>
                            <a:srgbClr val="0F1729"/>
                          </a:solidFill>
                          <a:latin typeface="Segoe UI" pitchFamily="34" charset="0"/>
                          <a:ea typeface="Segoe UI" pitchFamily="34" charset="-122"/>
                          <a:cs typeface="Segoe UI" pitchFamily="34" charset="-120"/>
                        </a:rPr>
                        <a:t>Document field reconciliation</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After OCR (user already waits)</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b="1" dirty="0">
                          <a:solidFill>
                            <a:srgbClr val="7C3AED"/>
                          </a:solidFill>
                          <a:latin typeface="Segoe UI" pitchFamily="34" charset="0"/>
                          <a:ea typeface="Segoe UI" pitchFamily="34" charset="-122"/>
                          <a:cs typeface="Segoe UI" pitchFamily="34" charset="-120"/>
                        </a:rPr>
                        <a:t>Terra (low)</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00" dirty="0">
                          <a:solidFill>
                            <a:srgbClr val="0F1729"/>
                          </a:solidFill>
                          <a:latin typeface="Segoe UI" pitchFamily="34" charset="0"/>
                          <a:ea typeface="Segoe UI" pitchFamily="34" charset="-122"/>
                          <a:cs typeface="Segoe UI" pitchFamily="34" charset="-120"/>
                        </a:rPr>
                        <a:t>30 × 4.0k in / 600 out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00" dirty="0">
                          <a:solidFill>
                            <a:srgbClr val="0F1729"/>
                          </a:solidFill>
                          <a:latin typeface="Segoe UI" pitchFamily="34" charset="0"/>
                          <a:ea typeface="Segoe UI" pitchFamily="34" charset="-122"/>
                          <a:cs typeface="Segoe UI" pitchFamily="34" charset="-120"/>
                        </a:rPr>
                        <a:t>≈8.3 s</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00" b="1" dirty="0">
                          <a:solidFill>
                            <a:srgbClr val="0F1729"/>
                          </a:solidFill>
                          <a:latin typeface="Segoe UI" pitchFamily="34" charset="0"/>
                          <a:ea typeface="Segoe UI" pitchFamily="34" charset="-122"/>
                          <a:cs typeface="Segoe UI" pitchFamily="34" charset="-120"/>
                        </a:rPr>
                        <a:t>$0.391</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dirty="0">
                          <a:solidFill>
                            <a:srgbClr val="334155"/>
                          </a:solidFill>
                          <a:latin typeface="Segoe UI" pitchFamily="34" charset="0"/>
                          <a:ea typeface="Segoe UI" pitchFamily="34" charset="-122"/>
                          <a:cs typeface="Segoe UI" pitchFamily="34" charset="-120"/>
                        </a:rPr>
                        <a:t>A wrong customs value costs far more than the call; demo pack showed 35 wrong auto-accepts.</a:t>
                      </a:r>
                      <a:endParaRPr lang="en-US" sz="900" dirty="0">
                        <a:latin typeface="Segoe UI" charset="0"/>
                        <a:ea typeface="Segoe UI" charset="0"/>
                        <a:cs typeface="Segoe UI" charset="0"/>
                      </a:endParaRPr>
                    </a:p>
                    <a:p>
                      <a:pPr algn="l" indent="0" marL="0">
                        <a:buNone/>
                      </a:pPr>
                      <a:r>
                        <a:rPr lang="en-US" sz="850" dirty="0">
                          <a:solidFill>
                            <a:srgbClr val="64748B"/>
                          </a:solidFill>
                          <a:latin typeface="Segoe UI" pitchFamily="34" charset="0"/>
                          <a:ea typeface="Segoe UI" pitchFamily="34" charset="-122"/>
                          <a:cs typeface="Segoe UI" pitchFamily="34" charset="-120"/>
                        </a:rPr>
                        <a:t>Not chosen: GPT-5.5 low: 2.5× Terra's price for +3 index points; Luna: too error-prone here.</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731520">
                <a:tc>
                  <a:txBody>
                    <a:bodyPr/>
                    <a:lstStyle/>
                    <a:p>
                      <a:pPr algn="l" indent="0" marL="0">
                        <a:buNone/>
                      </a:pPr>
                      <a:r>
                        <a:rPr lang="en-US" sz="900" b="1" dirty="0">
                          <a:solidFill>
                            <a:srgbClr val="0F1729"/>
                          </a:solidFill>
                          <a:latin typeface="Segoe UI" pitchFamily="34" charset="0"/>
                          <a:ea typeface="Segoe UI" pitchFamily="34" charset="-122"/>
                          <a:cs typeface="Segoe UI" pitchFamily="34" charset="-120"/>
                        </a:rPr>
                        <a:t>Risk &amp; compliance assessment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Background refresh</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7C3AED"/>
                          </a:solidFill>
                          <a:latin typeface="Segoe UI" pitchFamily="34" charset="0"/>
                          <a:ea typeface="Segoe UI" pitchFamily="34" charset="-122"/>
                          <a:cs typeface="Segoe UI" pitchFamily="34" charset="-120"/>
                        </a:rPr>
                        <a:t>Terra (low) · Flex</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1729"/>
                          </a:solidFill>
                          <a:latin typeface="Segoe UI" pitchFamily="34" charset="0"/>
                          <a:ea typeface="Segoe UI" pitchFamily="34" charset="-122"/>
                          <a:cs typeface="Segoe UI" pitchFamily="34" charset="-120"/>
                        </a:rPr>
                        <a:t>4 × 8.0k in / 1200 out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1729"/>
                          </a:solidFill>
                          <a:latin typeface="Segoe UI" pitchFamily="34" charset="0"/>
                          <a:ea typeface="Segoe UI" pitchFamily="34" charset="-122"/>
                          <a:cs typeface="Segoe UI" pitchFamily="34" charset="-120"/>
                        </a:rPr>
                        <a:t>≈15 s</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F1729"/>
                          </a:solidFill>
                          <a:latin typeface="Segoe UI" pitchFamily="34" charset="0"/>
                          <a:ea typeface="Segoe UI" pitchFamily="34" charset="-122"/>
                          <a:cs typeface="Segoe UI" pitchFamily="34" charset="-120"/>
                        </a:rPr>
                        <a:t>$0.046</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4155"/>
                          </a:solidFill>
                          <a:latin typeface="Segoe UI" pitchFamily="34" charset="0"/>
                          <a:ea typeface="Segoe UI" pitchFamily="34" charset="-122"/>
                          <a:cs typeface="Segoe UI" pitchFamily="34" charset="-120"/>
                        </a:rPr>
                        <a:t>Multi-document reasoning; not interactive, so Flex halves the price.</a:t>
                      </a:r>
                      <a:endParaRPr lang="en-US" sz="900" dirty="0">
                        <a:latin typeface="Segoe UI" charset="0"/>
                        <a:ea typeface="Segoe UI" charset="0"/>
                        <a:cs typeface="Segoe UI" charset="0"/>
                      </a:endParaRPr>
                    </a:p>
                    <a:p>
                      <a:pPr algn="l" indent="0" marL="0">
                        <a:buNone/>
                      </a:pPr>
                      <a:r>
                        <a:rPr lang="en-US" sz="850" dirty="0">
                          <a:solidFill>
                            <a:srgbClr val="64748B"/>
                          </a:solidFill>
                          <a:latin typeface="Segoe UI" pitchFamily="34" charset="0"/>
                          <a:ea typeface="Segoe UI" pitchFamily="34" charset="-122"/>
                          <a:cs typeface="Segoe UI" pitchFamily="34" charset="-120"/>
                        </a:rPr>
                        <a:t>Not chosen: Luna risks missed conflicts; GPT-5.5 adds cost without a latency need.</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731520">
                <a:tc>
                  <a:txBody>
                    <a:bodyPr/>
                    <a:lstStyle/>
                    <a:p>
                      <a:pPr algn="l" indent="0" marL="0">
                        <a:buNone/>
                      </a:pPr>
                      <a:r>
                        <a:rPr lang="en-US" sz="900" b="1" dirty="0">
                          <a:solidFill>
                            <a:srgbClr val="0F1729"/>
                          </a:solidFill>
                          <a:latin typeface="Segoe UI" pitchFamily="34" charset="0"/>
                          <a:ea typeface="Segoe UI" pitchFamily="34" charset="-122"/>
                          <a:cs typeface="Segoe UI" pitchFamily="34" charset="-120"/>
                        </a:rPr>
                        <a:t>Escalations (conflicts, amendment drafts)</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dirty="0">
                          <a:solidFill>
                            <a:srgbClr val="0F1729"/>
                          </a:solidFill>
                          <a:latin typeface="Segoe UI" pitchFamily="34" charset="0"/>
                          <a:ea typeface="Segoe UI" pitchFamily="34" charset="-122"/>
                          <a:cs typeface="Segoe UI" pitchFamily="34" charset="-120"/>
                        </a:rPr>
                        <a:t>Rare, high stakes</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b="1" dirty="0">
                          <a:solidFill>
                            <a:srgbClr val="7C3AED"/>
                          </a:solidFill>
                          <a:latin typeface="Segoe UI" pitchFamily="34" charset="0"/>
                          <a:ea typeface="Segoe UI" pitchFamily="34" charset="-122"/>
                          <a:cs typeface="Segoe UI" pitchFamily="34" charset="-120"/>
                        </a:rPr>
                        <a:t>Terra (high)</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00" dirty="0">
                          <a:solidFill>
                            <a:srgbClr val="0F1729"/>
                          </a:solidFill>
                          <a:latin typeface="Segoe UI" pitchFamily="34" charset="0"/>
                          <a:ea typeface="Segoe UI" pitchFamily="34" charset="-122"/>
                          <a:cs typeface="Segoe UI" pitchFamily="34" charset="-120"/>
                        </a:rPr>
                        <a:t>2 × 12.0k in / 4000 out</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00" dirty="0">
                          <a:solidFill>
                            <a:srgbClr val="0F1729"/>
                          </a:solidFill>
                          <a:latin typeface="Segoe UI" pitchFamily="34" charset="0"/>
                          <a:ea typeface="Segoe UI" pitchFamily="34" charset="-122"/>
                          <a:cs typeface="Segoe UI" pitchFamily="34" charset="-120"/>
                        </a:rPr>
                        <a:t>≈13 s</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00" b="1" dirty="0">
                          <a:solidFill>
                            <a:srgbClr val="0F1729"/>
                          </a:solidFill>
                          <a:latin typeface="Segoe UI" pitchFamily="34" charset="0"/>
                          <a:ea typeface="Segoe UI" pitchFamily="34" charset="-122"/>
                          <a:cs typeface="Segoe UI" pitchFamily="34" charset="-120"/>
                        </a:rPr>
                        <a:t>$0.144</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00" dirty="0">
                          <a:solidFill>
                            <a:srgbClr val="334155"/>
                          </a:solidFill>
                          <a:latin typeface="Segoe UI" pitchFamily="34" charset="0"/>
                          <a:ea typeface="Segoe UI" pitchFamily="34" charset="-122"/>
                          <a:cs typeface="Segoe UI" pitchFamily="34" charset="-120"/>
                        </a:rPr>
                        <a:t>Rare, highest stakes; high effort reaches index 34.</a:t>
                      </a:r>
                      <a:endParaRPr lang="en-US" sz="900" dirty="0">
                        <a:latin typeface="Segoe UI" charset="0"/>
                        <a:ea typeface="Segoe UI" charset="0"/>
                        <a:cs typeface="Segoe UI" charset="0"/>
                      </a:endParaRPr>
                    </a:p>
                    <a:p>
                      <a:pPr algn="l" indent="0" marL="0">
                        <a:buNone/>
                      </a:pPr>
                      <a:r>
                        <a:rPr lang="en-US" sz="850" dirty="0">
                          <a:solidFill>
                            <a:srgbClr val="64748B"/>
                          </a:solidFill>
                          <a:latin typeface="Segoe UI" pitchFamily="34" charset="0"/>
                          <a:ea typeface="Segoe UI" pitchFamily="34" charset="-122"/>
                          <a:cs typeface="Segoe UI" pitchFamily="34" charset="-120"/>
                        </a:rPr>
                        <a:t>Not chosen: GPT-5.5 (medium) also 34, but 2.5× price and slower first token.</a:t>
                      </a:r>
                      <a:endParaRPr lang="en-US" sz="9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bl>
          </a:graphicData>
        </a:graphic>
      </p:graphicFrame>
      <p:sp>
        <p:nvSpPr>
          <p:cNvPr id="7" name="Text 4"/>
          <p:cNvSpPr/>
          <p:nvPr/>
        </p:nvSpPr>
        <p:spPr>
          <a:xfrm>
            <a:off x="731520" y="5760720"/>
            <a:ext cx="10881360" cy="548640"/>
          </a:xfrm>
          <a:prstGeom prst="roundRect">
            <a:avLst>
              <a:gd name="adj" fmla="val 10000"/>
            </a:avLst>
          </a:prstGeom>
          <a:solidFill>
            <a:srgbClr val="EAF1FF"/>
          </a:solidFill>
          <a:ln w="12700">
            <a:solidFill>
              <a:srgbClr val="EAF1FF"/>
            </a:solidFill>
            <a:prstDash val="solid"/>
          </a:ln>
        </p:spPr>
        <p:txBody>
          <a:bodyPr wrap="square" lIns="127000" tIns="127000" rIns="127000" bIns="127000" rtlCol="0" anchor="ctr"/>
          <a:lstStyle/>
          <a:p>
            <a:pPr algn="l" indent="0" marL="0">
              <a:buNone/>
            </a:pPr>
            <a:r>
              <a:rPr lang="en-US" sz="1150" b="1" dirty="0">
                <a:solidFill>
                  <a:srgbClr val="0B1F4D"/>
                </a:solidFill>
                <a:latin typeface="Segoe UI" pitchFamily="34" charset="0"/>
                <a:ea typeface="Segoe UI" pitchFamily="34" charset="-122"/>
                <a:cs typeface="Segoe UI" pitchFamily="34" charset="-120"/>
              </a:rPr>
              <a:t>Model spend per case: $0.609</a:t>
            </a:r>
            <a:pPr algn="l" indent="0" marL="0">
              <a:buNone/>
            </a:pPr>
            <a:r>
              <a:rPr lang="en-US" sz="1150" dirty="0">
                <a:solidFill>
                  <a:srgbClr val="334155"/>
                </a:solidFill>
                <a:latin typeface="Segoe UI" pitchFamily="34" charset="0"/>
                <a:ea typeface="Segoe UI" pitchFamily="34" charset="-122"/>
                <a:cs typeface="Segoe UI" pitchFamily="34" charset="-120"/>
              </a:rPr>
              <a:t>  ·  document reconciliation is ~2/3 of it — sending only review-band fields to Terra cuts it further</a:t>
            </a:r>
            <a:endParaRPr lang="en-US" sz="115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08 · MODEL SELECTION</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Reading documents: keep OCR + LayoutLM self-hosted, move it to a GPU</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Compared at 45,000 pages/month (1,000 cases × ~45 pages)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481328"/>
          <a:ext cx="10881360" cy="914400"/>
        </p:xfrm>
        <a:graphic>
          <a:graphicData uri="http://schemas.openxmlformats.org/drawingml/2006/table">
            <a:tbl>
              <a:tblPr/>
              <a:tblGrid>
                <a:gridCol w="3291840"/>
                <a:gridCol w="1005840"/>
                <a:gridCol w="1508760"/>
                <a:gridCol w="1417320"/>
                <a:gridCol w="1234440"/>
                <a:gridCol w="2423160"/>
              </a:tblGrid>
              <a:tr h="329184">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Option</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Cost / page</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Latency / page</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Russian (Cyrillic)</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Leaves our cloud</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Notes</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r>
              <a:tr h="329184">
                <a:tc>
                  <a:txBody>
                    <a:bodyPr/>
                    <a:lstStyle/>
                    <a:p>
                      <a:pPr algn="l" indent="0" marL="0">
                        <a:buNone/>
                      </a:pPr>
                      <a:r>
                        <a:rPr lang="en-US" sz="950" b="1" dirty="0">
                          <a:solidFill>
                            <a:srgbClr val="0F1729"/>
                          </a:solidFill>
                          <a:latin typeface="Segoe UI" pitchFamily="34" charset="0"/>
                          <a:ea typeface="Segoe UI" pitchFamily="34" charset="-122"/>
                          <a:cs typeface="Segoe UI" pitchFamily="34" charset="-120"/>
                        </a:rPr>
                        <a:t>EasyOCR + LayoutLM · CPU (prototype today)</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0F1729"/>
                          </a:solidFill>
                          <a:latin typeface="Segoe UI" pitchFamily="34" charset="0"/>
                          <a:ea typeface="Segoe UI" pitchFamily="34" charset="-122"/>
                          <a:cs typeface="Segoe UI" pitchFamily="34" charset="-120"/>
                        </a:rPr>
                        <a:t>—</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9"/>
                          </a:solidFill>
                          <a:latin typeface="Segoe UI" pitchFamily="34" charset="0"/>
                          <a:ea typeface="Segoe UI" pitchFamily="34" charset="-122"/>
                          <a:cs typeface="Segoe UI" pitchFamily="34" charset="-120"/>
                        </a:rPr>
                        <a:t>31 s measured</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047857"/>
                          </a:solidFill>
                          <a:latin typeface="Segoe UI" pitchFamily="34" charset="0"/>
                          <a:ea typeface="Segoe UI" pitchFamily="34" charset="-122"/>
                          <a:cs typeface="Segoe UI" pitchFamily="34" charset="-120"/>
                        </a:rPr>
                        <a:t>Yes (ru+en)</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047857"/>
                          </a:solidFill>
                          <a:latin typeface="Segoe UI" pitchFamily="34" charset="0"/>
                          <a:ea typeface="Segoe UI" pitchFamily="34" charset="-122"/>
                          <a:cs typeface="Segoe UI" pitchFamily="34" charset="-120"/>
                        </a:rPr>
                        <a:t>No</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9"/>
                          </a:solidFill>
                          <a:latin typeface="Segoe UI" pitchFamily="34" charset="0"/>
                          <a:ea typeface="Segoe UI" pitchFamily="34" charset="-122"/>
                          <a:cs typeface="Segoe UI" pitchFamily="34" charset="-120"/>
                        </a:rPr>
                        <a:t>i5 laptop, no GPU</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329184">
                <a:tc>
                  <a:txBody>
                    <a:bodyPr/>
                    <a:lstStyle/>
                    <a:p>
                      <a:pPr algn="l" indent="0" marL="0">
                        <a:buNone/>
                      </a:pPr>
                      <a:r>
                        <a:rPr lang="en-US" sz="950" b="1" dirty="0">
                          <a:solidFill>
                            <a:srgbClr val="0F1729"/>
                          </a:solidFill>
                          <a:latin typeface="Segoe UI" pitchFamily="34" charset="0"/>
                          <a:ea typeface="Segoe UI" pitchFamily="34" charset="-122"/>
                          <a:cs typeface="Segoe UI" pitchFamily="34" charset="-120"/>
                        </a:rPr>
                        <a:t>EasyOCR + LayoutLM · 1× NVIDIA L4 (reserved)</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F1729"/>
                          </a:solidFill>
                          <a:latin typeface="Segoe UI" pitchFamily="34" charset="0"/>
                          <a:ea typeface="Segoe UI" pitchFamily="34" charset="-122"/>
                          <a:cs typeface="Segoe UI" pitchFamily="34" charset="-120"/>
                        </a:rPr>
                        <a:t>$0.0085</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9"/>
                          </a:solidFill>
                          <a:latin typeface="Segoe UI" pitchFamily="34" charset="0"/>
                          <a:ea typeface="Segoe UI" pitchFamily="34" charset="-122"/>
                          <a:cs typeface="Segoe UI" pitchFamily="34" charset="-120"/>
                        </a:rPr>
                        <a:t>Benchmark in pilot</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47857"/>
                          </a:solidFill>
                          <a:latin typeface="Segoe UI" pitchFamily="34" charset="0"/>
                          <a:ea typeface="Segoe UI" pitchFamily="34" charset="-122"/>
                          <a:cs typeface="Segoe UI" pitchFamily="34" charset="-120"/>
                        </a:rPr>
                        <a:t>Yes (ru+en)</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47857"/>
                          </a:solidFill>
                          <a:latin typeface="Segoe UI" pitchFamily="34" charset="0"/>
                          <a:ea typeface="Segoe UI" pitchFamily="34" charset="-122"/>
                          <a:cs typeface="Segoe UI" pitchFamily="34" charset="-120"/>
                        </a:rPr>
                        <a:t>No</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9"/>
                          </a:solidFill>
                          <a:latin typeface="Segoe UI" pitchFamily="34" charset="0"/>
                          <a:ea typeface="Segoe UI" pitchFamily="34" charset="-122"/>
                          <a:cs typeface="Segoe UI" pitchFamily="34" charset="-120"/>
                        </a:rPr>
                        <a:t>$383/month flat</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0F1729"/>
                          </a:solidFill>
                          <a:latin typeface="Segoe UI" pitchFamily="34" charset="0"/>
                          <a:ea typeface="Segoe UI" pitchFamily="34" charset="-122"/>
                          <a:cs typeface="Segoe UI" pitchFamily="34" charset="-120"/>
                        </a:rPr>
                        <a:t>Azure Document Intelligence · Read + custom</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0F1729"/>
                          </a:solidFill>
                          <a:latin typeface="Segoe UI" pitchFamily="34" charset="0"/>
                          <a:ea typeface="Segoe UI" pitchFamily="34" charset="-122"/>
                          <a:cs typeface="Segoe UI" pitchFamily="34" charset="-120"/>
                        </a:rPr>
                        <a:t>$0.032</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9"/>
                          </a:solidFill>
                          <a:latin typeface="Segoe UI" pitchFamily="34" charset="0"/>
                          <a:ea typeface="Segoe UI" pitchFamily="34" charset="-122"/>
                          <a:cs typeface="Segoe UI" pitchFamily="34" charset="-120"/>
                        </a:rPr>
                        <a:t>Not measured</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B45309"/>
                          </a:solidFill>
                          <a:latin typeface="Segoe UI" pitchFamily="34" charset="0"/>
                          <a:ea typeface="Segoe UI" pitchFamily="34" charset="-122"/>
                          <a:cs typeface="Segoe UI" pitchFamily="34" charset="-120"/>
                        </a:rPr>
                        <a:t>Verify</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B45309"/>
                          </a:solidFill>
                          <a:latin typeface="Segoe UI" pitchFamily="34" charset="0"/>
                          <a:ea typeface="Segoe UI" pitchFamily="34" charset="-122"/>
                          <a:cs typeface="Segoe UI" pitchFamily="34" charset="-120"/>
                        </a:rPr>
                        <a:t>Yes</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9"/>
                          </a:solidFill>
                          <a:latin typeface="Segoe UI" pitchFamily="34" charset="0"/>
                          <a:ea typeface="Segoe UI" pitchFamily="34" charset="-122"/>
                          <a:cs typeface="Segoe UI" pitchFamily="34" charset="-120"/>
                        </a:rPr>
                        <a:t>$1.50 + $30 per 1,000 pages</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329184">
                <a:tc>
                  <a:txBody>
                    <a:bodyPr/>
                    <a:lstStyle/>
                    <a:p>
                      <a:pPr algn="l" indent="0" marL="0">
                        <a:buNone/>
                      </a:pPr>
                      <a:r>
                        <a:rPr lang="en-US" sz="950" b="1" dirty="0">
                          <a:solidFill>
                            <a:srgbClr val="0F1729"/>
                          </a:solidFill>
                          <a:latin typeface="Segoe UI" pitchFamily="34" charset="0"/>
                          <a:ea typeface="Segoe UI" pitchFamily="34" charset="-122"/>
                          <a:cs typeface="Segoe UI" pitchFamily="34" charset="-120"/>
                        </a:rPr>
                        <a:t>Google Document AI · OCR + custom extractor</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F1729"/>
                          </a:solidFill>
                          <a:latin typeface="Segoe UI" pitchFamily="34" charset="0"/>
                          <a:ea typeface="Segoe UI" pitchFamily="34" charset="-122"/>
                          <a:cs typeface="Segoe UI" pitchFamily="34" charset="-120"/>
                        </a:rPr>
                        <a:t>$0.032</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9"/>
                          </a:solidFill>
                          <a:latin typeface="Segoe UI" pitchFamily="34" charset="0"/>
                          <a:ea typeface="Segoe UI" pitchFamily="34" charset="-122"/>
                          <a:cs typeface="Segoe UI" pitchFamily="34" charset="-120"/>
                        </a:rPr>
                        <a:t>Not measured</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45309"/>
                          </a:solidFill>
                          <a:latin typeface="Segoe UI" pitchFamily="34" charset="0"/>
                          <a:ea typeface="Segoe UI" pitchFamily="34" charset="-122"/>
                          <a:cs typeface="Segoe UI" pitchFamily="34" charset="-120"/>
                        </a:rPr>
                        <a:t>Verify</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45309"/>
                          </a:solidFill>
                          <a:latin typeface="Segoe UI" pitchFamily="34" charset="0"/>
                          <a:ea typeface="Segoe UI" pitchFamily="34" charset="-122"/>
                          <a:cs typeface="Segoe UI" pitchFamily="34" charset="-120"/>
                        </a:rPr>
                        <a:t>Yes</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9"/>
                          </a:solidFill>
                          <a:latin typeface="Segoe UI" pitchFamily="34" charset="0"/>
                          <a:ea typeface="Segoe UI" pitchFamily="34" charset="-122"/>
                          <a:cs typeface="Segoe UI" pitchFamily="34" charset="-120"/>
                        </a:rPr>
                        <a:t>+ $0.05/h processor hosting</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0F1729"/>
                          </a:solidFill>
                          <a:latin typeface="Segoe UI" pitchFamily="34" charset="0"/>
                          <a:ea typeface="Segoe UI" pitchFamily="34" charset="-122"/>
                          <a:cs typeface="Segoe UI" pitchFamily="34" charset="-120"/>
                        </a:rPr>
                        <a:t>AWS Textract · Queries</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0F1729"/>
                          </a:solidFill>
                          <a:latin typeface="Segoe UI" pitchFamily="34" charset="0"/>
                          <a:ea typeface="Segoe UI" pitchFamily="34" charset="-122"/>
                          <a:cs typeface="Segoe UI" pitchFamily="34" charset="-120"/>
                        </a:rPr>
                        <a:t>$0.015</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9"/>
                          </a:solidFill>
                          <a:latin typeface="Segoe UI" pitchFamily="34" charset="0"/>
                          <a:ea typeface="Segoe UI" pitchFamily="34" charset="-122"/>
                          <a:cs typeface="Segoe UI" pitchFamily="34" charset="-120"/>
                        </a:rPr>
                        <a:t>—</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B91C1C"/>
                          </a:solidFill>
                          <a:latin typeface="Segoe UI" pitchFamily="34" charset="0"/>
                          <a:ea typeface="Segoe UI" pitchFamily="34" charset="-122"/>
                          <a:cs typeface="Segoe UI" pitchFamily="34" charset="-120"/>
                        </a:rPr>
                        <a:t>No</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B45309"/>
                          </a:solidFill>
                          <a:latin typeface="Segoe UI" pitchFamily="34" charset="0"/>
                          <a:ea typeface="Segoe UI" pitchFamily="34" charset="-122"/>
                          <a:cs typeface="Segoe UI" pitchFamily="34" charset="-120"/>
                        </a:rPr>
                        <a:t>Yes</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9"/>
                          </a:solidFill>
                          <a:latin typeface="Segoe UI" pitchFamily="34" charset="0"/>
                          <a:ea typeface="Segoe UI" pitchFamily="34" charset="-122"/>
                          <a:cs typeface="Segoe UI" pitchFamily="34" charset="-120"/>
                        </a:rPr>
                        <a:t>Excluded: no Russian</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329184">
                <a:tc>
                  <a:txBody>
                    <a:bodyPr/>
                    <a:lstStyle/>
                    <a:p>
                      <a:pPr algn="l" indent="0" marL="0">
                        <a:buNone/>
                      </a:pPr>
                      <a:r>
                        <a:rPr lang="en-US" sz="950" b="1" dirty="0">
                          <a:solidFill>
                            <a:srgbClr val="0F1729"/>
                          </a:solidFill>
                          <a:latin typeface="Segoe UI" pitchFamily="34" charset="0"/>
                          <a:ea typeface="Segoe UI" pitchFamily="34" charset="-122"/>
                          <a:cs typeface="Segoe UI" pitchFamily="34" charset="-120"/>
                        </a:rPr>
                        <a:t>GPT-5.6 Luna vision · page image</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F1729"/>
                          </a:solidFill>
                          <a:latin typeface="Segoe UI" pitchFamily="34" charset="0"/>
                          <a:ea typeface="Segoe UI" pitchFamily="34" charset="-122"/>
                          <a:cs typeface="Segoe UI" pitchFamily="34" charset="-120"/>
                        </a:rPr>
                        <a:t>$0.0012</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F1729"/>
                          </a:solidFill>
                          <a:latin typeface="Segoe UI" pitchFamily="34" charset="0"/>
                          <a:ea typeface="Segoe UI" pitchFamily="34" charset="-122"/>
                          <a:cs typeface="Segoe UI" pitchFamily="34" charset="-120"/>
                        </a:rPr>
                        <a:t>≈5.9 s est.</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45309"/>
                          </a:solidFill>
                          <a:latin typeface="Segoe UI" pitchFamily="34" charset="0"/>
                          <a:ea typeface="Segoe UI" pitchFamily="34" charset="-122"/>
                          <a:cs typeface="Segoe UI" pitchFamily="34" charset="-120"/>
                        </a:rPr>
                        <a:t>Not benchmarked</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45309"/>
                          </a:solidFill>
                          <a:latin typeface="Segoe UI" pitchFamily="34" charset="0"/>
                          <a:ea typeface="Segoe UI" pitchFamily="34" charset="-122"/>
                          <a:cs typeface="Segoe UI" pitchFamily="34" charset="-120"/>
                        </a:rPr>
                        <a:t>Yes</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1729"/>
                          </a:solidFill>
                          <a:latin typeface="Segoe UI" pitchFamily="34" charset="0"/>
                          <a:ea typeface="Segoe UI" pitchFamily="34" charset="-122"/>
                          <a:cs typeface="Segoe UI" pitchFamily="34" charset="-120"/>
                        </a:rPr>
                        <a:t>2,574 image tokens/page</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0F1729"/>
                          </a:solidFill>
                          <a:latin typeface="Segoe UI" pitchFamily="34" charset="0"/>
                          <a:ea typeface="Segoe UI" pitchFamily="34" charset="-122"/>
                          <a:cs typeface="Segoe UI" pitchFamily="34" charset="-120"/>
                        </a:rPr>
                        <a:t>GPT-5.6 Terra vision · page image</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0F1729"/>
                          </a:solidFill>
                          <a:latin typeface="Segoe UI" pitchFamily="34" charset="0"/>
                          <a:ea typeface="Segoe UI" pitchFamily="34" charset="-122"/>
                          <a:cs typeface="Segoe UI" pitchFamily="34" charset="-120"/>
                        </a:rPr>
                        <a:t>$0.012</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F1729"/>
                          </a:solidFill>
                          <a:latin typeface="Segoe UI" pitchFamily="34" charset="0"/>
                          <a:ea typeface="Segoe UI" pitchFamily="34" charset="-122"/>
                          <a:cs typeface="Segoe UI" pitchFamily="34" charset="-120"/>
                        </a:rPr>
                        <a:t>≈6.0 s est.</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B45309"/>
                          </a:solidFill>
                          <a:latin typeface="Segoe UI" pitchFamily="34" charset="0"/>
                          <a:ea typeface="Segoe UI" pitchFamily="34" charset="-122"/>
                          <a:cs typeface="Segoe UI" pitchFamily="34" charset="-120"/>
                        </a:rPr>
                        <a:t>Not benchmarked</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B45309"/>
                          </a:solidFill>
                          <a:latin typeface="Segoe UI" pitchFamily="34" charset="0"/>
                          <a:ea typeface="Segoe UI" pitchFamily="34" charset="-122"/>
                          <a:cs typeface="Segoe UI" pitchFamily="34" charset="-120"/>
                        </a:rPr>
                        <a:t>Yes</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950" dirty="0">
                          <a:solidFill>
                            <a:srgbClr val="0F1729"/>
                          </a:solidFill>
                          <a:latin typeface="Segoe UI" pitchFamily="34" charset="0"/>
                          <a:ea typeface="Segoe UI" pitchFamily="34" charset="-122"/>
                          <a:cs typeface="Segoe UI" pitchFamily="34" charset="-120"/>
                        </a:rPr>
                        <a:t>10× Luna per page</a:t>
                      </a:r>
                      <a:endParaRPr lang="en-US" sz="95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bl>
          </a:graphicData>
        </a:graphic>
      </p:graphicFrame>
      <p:sp>
        <p:nvSpPr>
          <p:cNvPr id="7" name="Text 4"/>
          <p:cNvSpPr/>
          <p:nvPr/>
        </p:nvSpPr>
        <p:spPr>
          <a:xfrm>
            <a:off x="731520" y="4297680"/>
            <a:ext cx="3520440" cy="2011680"/>
          </a:xfrm>
          <a:prstGeom prst="roundRect">
            <a:avLst>
              <a:gd name="adj" fmla="val 2727"/>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8" name="Shape 5"/>
          <p:cNvSpPr/>
          <p:nvPr/>
        </p:nvSpPr>
        <p:spPr>
          <a:xfrm>
            <a:off x="731520" y="4297680"/>
            <a:ext cx="3520440" cy="64008"/>
          </a:xfrm>
          <a:prstGeom prst="rect">
            <a:avLst/>
          </a:prstGeom>
          <a:solidFill>
            <a:srgbClr val="047857"/>
          </a:solidFill>
          <a:ln w="12700">
            <a:solidFill>
              <a:srgbClr val="047857"/>
            </a:solidFill>
            <a:prstDash val="solid"/>
          </a:ln>
        </p:spPr>
      </p:sp>
      <p:sp>
        <p:nvSpPr>
          <p:cNvPr id="9" name="Text 6"/>
          <p:cNvSpPr/>
          <p:nvPr/>
        </p:nvSpPr>
        <p:spPr>
          <a:xfrm>
            <a:off x="914400" y="4434840"/>
            <a:ext cx="3200400" cy="320040"/>
          </a:xfrm>
          <a:prstGeom prst="rect">
            <a:avLst/>
          </a:prstGeom>
          <a:noFill/>
          <a:ln/>
        </p:spPr>
        <p:txBody>
          <a:bodyPr wrap="square" lIns="0" tIns="0" rIns="0" bIns="0" rtlCol="0" anchor="t"/>
          <a:lstStyle/>
          <a:p>
            <a:pPr algn="l" indent="0" marL="0">
              <a:lnSpc>
                <a:spcPct val="105000"/>
              </a:lnSpc>
              <a:spcAft>
                <a:spcPts val="200"/>
              </a:spcAft>
              <a:buNone/>
            </a:pPr>
            <a:r>
              <a:rPr lang="en-US" sz="1200" dirty="0">
                <a:solidFill>
                  <a:srgbClr val="0B1F4D"/>
                </a:solidFill>
                <a:latin typeface="Segoe UI Semibold" pitchFamily="34" charset="0"/>
                <a:ea typeface="Segoe UI Semibold" pitchFamily="34" charset="-122"/>
                <a:cs typeface="Segoe UI Semibold" pitchFamily="34" charset="-120"/>
              </a:rPr>
              <a:t>Why self-hosted OCR + LayoutLM</a:t>
            </a:r>
            <a:endParaRPr lang="en-US" sz="1200" dirty="0"/>
          </a:p>
        </p:txBody>
      </p:sp>
      <p:sp>
        <p:nvSpPr>
          <p:cNvPr id="10" name="Text 7"/>
          <p:cNvSpPr/>
          <p:nvPr/>
        </p:nvSpPr>
        <p:spPr>
          <a:xfrm>
            <a:off x="914400" y="4773168"/>
            <a:ext cx="3200400" cy="150876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950" dirty="0">
                <a:solidFill>
                  <a:srgbClr val="334155"/>
                </a:solidFill>
                <a:latin typeface="Segoe UI" pitchFamily="34" charset="0"/>
                <a:ea typeface="Segoe UI" pitchFamily="34" charset="-122"/>
                <a:cs typeface="Segoe UI" pitchFamily="34" charset="-120"/>
              </a:rPr>
              <a:t>Documents never leave our cloud — the decision taken for this product</a:t>
            </a:r>
            <a:endParaRPr lang="en-US" sz="950" dirty="0"/>
          </a:p>
          <a:p>
            <a:pPr marL="177800" indent="-177800">
              <a:lnSpc>
                <a:spcPct val="105000"/>
              </a:lnSpc>
              <a:spcAft>
                <a:spcPts val="300"/>
              </a:spcAft>
              <a:buSzPct val="100000"/>
              <a:buChar char="•"/>
            </a:pPr>
            <a:r>
              <a:rPr lang="en-US" sz="950" dirty="0">
                <a:solidFill>
                  <a:srgbClr val="334155"/>
                </a:solidFill>
                <a:latin typeface="Segoe UI" pitchFamily="34" charset="0"/>
                <a:ea typeface="Segoe UI" pitchFamily="34" charset="-122"/>
                <a:cs typeface="Segoe UI" pitchFamily="34" charset="-120"/>
              </a:rPr>
              <a:t>Russian + English in one pass; word boxes let reviewers see where a value came from</a:t>
            </a:r>
            <a:endParaRPr lang="en-US" sz="950" dirty="0"/>
          </a:p>
          <a:p>
            <a:pPr marL="177800" indent="-177800">
              <a:lnSpc>
                <a:spcPct val="105000"/>
              </a:lnSpc>
              <a:spcAft>
                <a:spcPts val="300"/>
              </a:spcAft>
              <a:buSzPct val="100000"/>
              <a:buChar char="•"/>
            </a:pPr>
            <a:r>
              <a:rPr lang="en-US" sz="950" dirty="0">
                <a:solidFill>
                  <a:srgbClr val="334155"/>
                </a:solidFill>
                <a:latin typeface="Segoe UI" pitchFamily="34" charset="0"/>
                <a:ea typeface="Segoe UI" pitchFamily="34" charset="-122"/>
                <a:cs typeface="Segoe UI" pitchFamily="34" charset="-120"/>
              </a:rPr>
              <a:t>Flat $383/month; cheaper than Azure/Google custom extraction above 12,143 pages/month</a:t>
            </a:r>
            <a:endParaRPr lang="en-US" sz="950" dirty="0"/>
          </a:p>
        </p:txBody>
      </p:sp>
      <p:sp>
        <p:nvSpPr>
          <p:cNvPr id="11" name="Text 8"/>
          <p:cNvSpPr/>
          <p:nvPr/>
        </p:nvSpPr>
        <p:spPr>
          <a:xfrm>
            <a:off x="4407408" y="4297680"/>
            <a:ext cx="3520440" cy="2011680"/>
          </a:xfrm>
          <a:prstGeom prst="roundRect">
            <a:avLst>
              <a:gd name="adj" fmla="val 2727"/>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2" name="Shape 9"/>
          <p:cNvSpPr/>
          <p:nvPr/>
        </p:nvSpPr>
        <p:spPr>
          <a:xfrm>
            <a:off x="4407408" y="4297680"/>
            <a:ext cx="3520440" cy="64008"/>
          </a:xfrm>
          <a:prstGeom prst="rect">
            <a:avLst/>
          </a:prstGeom>
          <a:solidFill>
            <a:srgbClr val="B45309"/>
          </a:solidFill>
          <a:ln w="12700">
            <a:solidFill>
              <a:srgbClr val="B45309"/>
            </a:solidFill>
            <a:prstDash val="solid"/>
          </a:ln>
        </p:spPr>
      </p:sp>
      <p:sp>
        <p:nvSpPr>
          <p:cNvPr id="13" name="Text 10"/>
          <p:cNvSpPr/>
          <p:nvPr/>
        </p:nvSpPr>
        <p:spPr>
          <a:xfrm>
            <a:off x="4590288" y="4434840"/>
            <a:ext cx="3200400" cy="320040"/>
          </a:xfrm>
          <a:prstGeom prst="rect">
            <a:avLst/>
          </a:prstGeom>
          <a:noFill/>
          <a:ln/>
        </p:spPr>
        <p:txBody>
          <a:bodyPr wrap="square" lIns="0" tIns="0" rIns="0" bIns="0" rtlCol="0" anchor="t"/>
          <a:lstStyle/>
          <a:p>
            <a:pPr algn="l" indent="0" marL="0">
              <a:lnSpc>
                <a:spcPct val="105000"/>
              </a:lnSpc>
              <a:spcAft>
                <a:spcPts val="200"/>
              </a:spcAft>
              <a:buNone/>
            </a:pPr>
            <a:r>
              <a:rPr lang="en-US" sz="1200" dirty="0">
                <a:solidFill>
                  <a:srgbClr val="0B1F4D"/>
                </a:solidFill>
                <a:latin typeface="Segoe UI Semibold" pitchFamily="34" charset="0"/>
                <a:ea typeface="Segoe UI Semibold" pitchFamily="34" charset="-122"/>
                <a:cs typeface="Segoe UI Semibold" pitchFamily="34" charset="-120"/>
              </a:rPr>
              <a:t>Honest trade-off</a:t>
            </a:r>
            <a:endParaRPr lang="en-US" sz="1200" dirty="0"/>
          </a:p>
        </p:txBody>
      </p:sp>
      <p:sp>
        <p:nvSpPr>
          <p:cNvPr id="14" name="Text 11"/>
          <p:cNvSpPr/>
          <p:nvPr/>
        </p:nvSpPr>
        <p:spPr>
          <a:xfrm>
            <a:off x="4590288" y="4773168"/>
            <a:ext cx="3200400" cy="150876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950" dirty="0">
                <a:solidFill>
                  <a:srgbClr val="334155"/>
                </a:solidFill>
                <a:latin typeface="Segoe UI" pitchFamily="34" charset="0"/>
                <a:ea typeface="Segoe UI" pitchFamily="34" charset="-122"/>
                <a:cs typeface="Segoe UI" pitchFamily="34" charset="-120"/>
              </a:rPr>
              <a:t>Luna vision is cheaper per page ($0.0012) until 331,244 pages/month — but it sends page images out and is not benchmarked on these scans</a:t>
            </a:r>
            <a:endParaRPr lang="en-US" sz="950" dirty="0"/>
          </a:p>
          <a:p>
            <a:pPr marL="177800" indent="-177800">
              <a:lnSpc>
                <a:spcPct val="105000"/>
              </a:lnSpc>
              <a:spcAft>
                <a:spcPts val="300"/>
              </a:spcAft>
              <a:buSzPct val="100000"/>
              <a:buChar char="•"/>
            </a:pPr>
            <a:r>
              <a:rPr lang="en-US" sz="950" dirty="0">
                <a:solidFill>
                  <a:srgbClr val="334155"/>
                </a:solidFill>
                <a:latin typeface="Segoe UI" pitchFamily="34" charset="0"/>
                <a:ea typeface="Segoe UI" pitchFamily="34" charset="-122"/>
                <a:cs typeface="Segoe UI" pitchFamily="34" charset="-120"/>
              </a:rPr>
              <a:t>GPU speed is not measured yet: CPU today ≈31 s per invoice page</a:t>
            </a:r>
            <a:endParaRPr lang="en-US" sz="950" dirty="0"/>
          </a:p>
          <a:p>
            <a:pPr marL="177800" indent="-177800">
              <a:lnSpc>
                <a:spcPct val="105000"/>
              </a:lnSpc>
              <a:spcAft>
                <a:spcPts val="300"/>
              </a:spcAft>
              <a:buSzPct val="100000"/>
              <a:buChar char="•"/>
            </a:pPr>
            <a:r>
              <a:rPr lang="en-US" sz="950" dirty="0">
                <a:solidFill>
                  <a:srgbClr val="334155"/>
                </a:solidFill>
                <a:latin typeface="Segoe UI" pitchFamily="34" charset="0"/>
                <a:ea typeface="Segoe UI" pitchFamily="34" charset="-122"/>
                <a:cs typeface="Segoe UI" pitchFamily="34" charset="-120"/>
              </a:rPr>
              <a:t>LayoutLM model is English-trained; Cyrillic costs 7.3 tokens per word (measured)</a:t>
            </a:r>
            <a:endParaRPr lang="en-US" sz="950" dirty="0"/>
          </a:p>
        </p:txBody>
      </p:sp>
      <p:sp>
        <p:nvSpPr>
          <p:cNvPr id="15" name="Text 12"/>
          <p:cNvSpPr/>
          <p:nvPr/>
        </p:nvSpPr>
        <p:spPr>
          <a:xfrm>
            <a:off x="8083296" y="4297680"/>
            <a:ext cx="3520440" cy="2011680"/>
          </a:xfrm>
          <a:prstGeom prst="roundRect">
            <a:avLst>
              <a:gd name="adj" fmla="val 2727"/>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6" name="Shape 13"/>
          <p:cNvSpPr/>
          <p:nvPr/>
        </p:nvSpPr>
        <p:spPr>
          <a:xfrm>
            <a:off x="8083296" y="4297680"/>
            <a:ext cx="3520440" cy="64008"/>
          </a:xfrm>
          <a:prstGeom prst="rect">
            <a:avLst/>
          </a:prstGeom>
          <a:solidFill>
            <a:srgbClr val="2563EB"/>
          </a:solidFill>
          <a:ln w="12700">
            <a:solidFill>
              <a:srgbClr val="2563EB"/>
            </a:solidFill>
            <a:prstDash val="solid"/>
          </a:ln>
        </p:spPr>
      </p:sp>
      <p:sp>
        <p:nvSpPr>
          <p:cNvPr id="17" name="Text 14"/>
          <p:cNvSpPr/>
          <p:nvPr/>
        </p:nvSpPr>
        <p:spPr>
          <a:xfrm>
            <a:off x="8266176" y="4434840"/>
            <a:ext cx="3200400" cy="320040"/>
          </a:xfrm>
          <a:prstGeom prst="rect">
            <a:avLst/>
          </a:prstGeom>
          <a:noFill/>
          <a:ln/>
        </p:spPr>
        <p:txBody>
          <a:bodyPr wrap="square" lIns="0" tIns="0" rIns="0" bIns="0" rtlCol="0" anchor="t"/>
          <a:lstStyle/>
          <a:p>
            <a:pPr algn="l" indent="0" marL="0">
              <a:lnSpc>
                <a:spcPct val="105000"/>
              </a:lnSpc>
              <a:spcAft>
                <a:spcPts val="200"/>
              </a:spcAft>
              <a:buNone/>
            </a:pPr>
            <a:r>
              <a:rPr lang="en-US" sz="1200" dirty="0">
                <a:solidFill>
                  <a:srgbClr val="0B1F4D"/>
                </a:solidFill>
                <a:latin typeface="Segoe UI Semibold" pitchFamily="34" charset="0"/>
                <a:ea typeface="Segoe UI Semibold" pitchFamily="34" charset="-122"/>
                <a:cs typeface="Segoe UI Semibold" pitchFamily="34" charset="-120"/>
              </a:rPr>
              <a:t>Decision</a:t>
            </a:r>
            <a:endParaRPr lang="en-US" sz="1200" dirty="0"/>
          </a:p>
        </p:txBody>
      </p:sp>
      <p:sp>
        <p:nvSpPr>
          <p:cNvPr id="18" name="Text 15"/>
          <p:cNvSpPr/>
          <p:nvPr/>
        </p:nvSpPr>
        <p:spPr>
          <a:xfrm>
            <a:off x="8266176" y="4773168"/>
            <a:ext cx="3200400" cy="150876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950" dirty="0">
                <a:solidFill>
                  <a:srgbClr val="334155"/>
                </a:solidFill>
                <a:latin typeface="Segoe UI" pitchFamily="34" charset="0"/>
                <a:ea typeface="Segoe UI" pitchFamily="34" charset="-122"/>
                <a:cs typeface="Segoe UI" pitchFamily="34" charset="-120"/>
              </a:rPr>
              <a:t>Primary: EasyOCR + LayoutLM on 1× L4 (reserved), autoscale on queue depth</a:t>
            </a:r>
            <a:endParaRPr lang="en-US" sz="950" dirty="0"/>
          </a:p>
          <a:p>
            <a:pPr marL="177800" indent="-177800">
              <a:lnSpc>
                <a:spcPct val="105000"/>
              </a:lnSpc>
              <a:spcAft>
                <a:spcPts val="300"/>
              </a:spcAft>
              <a:buSzPct val="100000"/>
              <a:buChar char="•"/>
            </a:pPr>
            <a:r>
              <a:rPr lang="en-US" sz="950" dirty="0">
                <a:solidFill>
                  <a:srgbClr val="334155"/>
                </a:solidFill>
                <a:latin typeface="Segoe UI" pitchFamily="34" charset="0"/>
                <a:ea typeface="Segoe UI" pitchFamily="34" charset="-122"/>
                <a:cs typeface="Segoe UI" pitchFamily="34" charset="-120"/>
              </a:rPr>
              <a:t>Terra reads OCR text for review-band fields (text only, no images)</a:t>
            </a:r>
            <a:endParaRPr lang="en-US" sz="950" dirty="0"/>
          </a:p>
          <a:p>
            <a:pPr marL="177800" indent="-177800">
              <a:lnSpc>
                <a:spcPct val="105000"/>
              </a:lnSpc>
              <a:spcAft>
                <a:spcPts val="300"/>
              </a:spcAft>
              <a:buSzPct val="100000"/>
              <a:buChar char="•"/>
            </a:pPr>
            <a:r>
              <a:rPr lang="en-US" sz="950" dirty="0">
                <a:solidFill>
                  <a:srgbClr val="334155"/>
                </a:solidFill>
                <a:latin typeface="Segoe UI" pitchFamily="34" charset="0"/>
                <a:ea typeface="Segoe UI" pitchFamily="34" charset="-122"/>
                <a:cs typeface="Segoe UI" pitchFamily="34" charset="-120"/>
              </a:rPr>
              <a:t>Luna vision only as opt-in fallback for unreadable scans, if the client approves image egress</a:t>
            </a:r>
            <a:endParaRPr lang="en-US" sz="95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08 · COST</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Model spend per case, and what a month at 1,000 cases costs</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Standard prices with prompt caching; risk refresh on Flex; per-case volumes from the routing slide</a:t>
            </a:r>
            <a:endParaRPr lang="en-US" sz="1200" dirty="0"/>
          </a:p>
        </p:txBody>
      </p:sp>
      <p:graphicFrame>
        <p:nvGraphicFramePr>
          <p:cNvPr id="6" name="Chart 0" descr=""/>
          <p:cNvGraphicFramePr/>
          <p:nvPr/>
        </p:nvGraphicFramePr>
        <p:xfrm>
          <a:off x="731520" y="1554480"/>
          <a:ext cx="566928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583680" y="1554480"/>
          <a:ext cx="5029200" cy="914400"/>
        </p:xfrm>
        <a:graphic>
          <a:graphicData uri="http://schemas.openxmlformats.org/drawingml/2006/table">
            <a:tbl>
              <a:tblPr/>
              <a:tblGrid>
                <a:gridCol w="2743200"/>
                <a:gridCol w="1417320"/>
                <a:gridCol w="868680"/>
              </a:tblGrid>
              <a:tr h="329184">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Tiered plan</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Model</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r" indent="0" marL="0">
                        <a:buNone/>
                      </a:pPr>
                      <a:r>
                        <a:rPr lang="en-US" sz="1000" b="1" dirty="0">
                          <a:solidFill>
                            <a:srgbClr val="FFFFFF"/>
                          </a:solidFill>
                          <a:latin typeface="Segoe UI" pitchFamily="34" charset="0"/>
                          <a:ea typeface="Segoe UI" pitchFamily="34" charset="-122"/>
                          <a:cs typeface="Segoe UI" pitchFamily="34" charset="-120"/>
                        </a:rPr>
                        <a:t>Cost</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r>
              <a:tr h="329184">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Intake — unusual wording</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Luna (low)</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r" indent="0" marL="0">
                        <a:buNone/>
                      </a:pPr>
                      <a:r>
                        <a:rPr lang="en-US" sz="1000" dirty="0">
                          <a:solidFill>
                            <a:srgbClr val="0F1729"/>
                          </a:solidFill>
                          <a:latin typeface="Segoe UI" pitchFamily="34" charset="0"/>
                          <a:ea typeface="Segoe UI" pitchFamily="34" charset="-122"/>
                          <a:cs typeface="Segoe UI" pitchFamily="34" charset="-120"/>
                        </a:rPr>
                        <a:t>$0.0021</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329184">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Step guidance &amp; FAQ answers</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Luna (low)</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F1729"/>
                          </a:solidFill>
                          <a:latin typeface="Segoe UI" pitchFamily="34" charset="0"/>
                          <a:ea typeface="Segoe UI" pitchFamily="34" charset="-122"/>
                          <a:cs typeface="Segoe UI" pitchFamily="34" charset="-120"/>
                        </a:rPr>
                        <a:t>$0.025</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Document field reconciliation</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Terra (low)</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r" indent="0" marL="0">
                        <a:buNone/>
                      </a:pPr>
                      <a:r>
                        <a:rPr lang="en-US" sz="1000" dirty="0">
                          <a:solidFill>
                            <a:srgbClr val="0F1729"/>
                          </a:solidFill>
                          <a:latin typeface="Segoe UI" pitchFamily="34" charset="0"/>
                          <a:ea typeface="Segoe UI" pitchFamily="34" charset="-122"/>
                          <a:cs typeface="Segoe UI" pitchFamily="34" charset="-120"/>
                        </a:rPr>
                        <a:t>$0.391</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329184">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Risk &amp; compliance assessment</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Terra (low)</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F1729"/>
                          </a:solidFill>
                          <a:latin typeface="Segoe UI" pitchFamily="34" charset="0"/>
                          <a:ea typeface="Segoe UI" pitchFamily="34" charset="-122"/>
                          <a:cs typeface="Segoe UI" pitchFamily="34" charset="-120"/>
                        </a:rPr>
                        <a:t>$0.046</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Escalations (conflicts, amendment drafts)</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000" dirty="0">
                          <a:solidFill>
                            <a:srgbClr val="0F1729"/>
                          </a:solidFill>
                          <a:latin typeface="Segoe UI" pitchFamily="34" charset="0"/>
                          <a:ea typeface="Segoe UI" pitchFamily="34" charset="-122"/>
                          <a:cs typeface="Segoe UI" pitchFamily="34" charset="-120"/>
                        </a:rPr>
                        <a:t>Terra (high)</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r" indent="0" marL="0">
                        <a:buNone/>
                      </a:pPr>
                      <a:r>
                        <a:rPr lang="en-US" sz="1000" dirty="0">
                          <a:solidFill>
                            <a:srgbClr val="0F1729"/>
                          </a:solidFill>
                          <a:latin typeface="Segoe UI" pitchFamily="34" charset="0"/>
                          <a:ea typeface="Segoe UI" pitchFamily="34" charset="-122"/>
                          <a:cs typeface="Segoe UI" pitchFamily="34" charset="-120"/>
                        </a:rPr>
                        <a:t>$0.144</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329184">
                <a:tc>
                  <a:txBody>
                    <a:bodyPr/>
                    <a:lstStyle/>
                    <a:p>
                      <a:pPr algn="l" indent="0" marL="0">
                        <a:buNone/>
                      </a:pPr>
                      <a:r>
                        <a:rPr lang="en-US" sz="1000" b="1" dirty="0">
                          <a:solidFill>
                            <a:srgbClr val="0F1729"/>
                          </a:solidFill>
                          <a:latin typeface="Segoe UI" pitchFamily="34" charset="0"/>
                          <a:ea typeface="Segoe UI" pitchFamily="34" charset="-122"/>
                          <a:cs typeface="Segoe UI" pitchFamily="34" charset="-120"/>
                        </a:rPr>
                        <a:t>Total per case</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0F1729"/>
                          </a:solidFill>
                          <a:latin typeface="Segoe UI" pitchFamily="34" charset="0"/>
                          <a:ea typeface="Segoe UI" pitchFamily="34" charset="-122"/>
                          <a:cs typeface="Segoe UI" pitchFamily="34" charset="-120"/>
                        </a:rPr>
                        <a:t>$0.609</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bl>
          </a:graphicData>
        </a:graphic>
      </p:graphicFrame>
      <p:sp>
        <p:nvSpPr>
          <p:cNvPr id="8" name="Text 4"/>
          <p:cNvSpPr/>
          <p:nvPr/>
        </p:nvSpPr>
        <p:spPr>
          <a:xfrm>
            <a:off x="731520" y="5029200"/>
            <a:ext cx="10881360" cy="1280160"/>
          </a:xfrm>
          <a:prstGeom prst="roundRect">
            <a:avLst>
              <a:gd name="adj" fmla="val 5714"/>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9" name="Text 5"/>
          <p:cNvSpPr/>
          <p:nvPr/>
        </p:nvSpPr>
        <p:spPr>
          <a:xfrm>
            <a:off x="896112" y="5138928"/>
            <a:ext cx="1055217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PER MONTH AT 1,000 CASES (COMPUTE THAT IS PRICED HERE)</a:t>
            </a:r>
            <a:endParaRPr lang="en-US" sz="950" dirty="0"/>
          </a:p>
        </p:txBody>
      </p:sp>
      <p:sp>
        <p:nvSpPr>
          <p:cNvPr id="10" name="Text 6"/>
          <p:cNvSpPr/>
          <p:nvPr/>
        </p:nvSpPr>
        <p:spPr>
          <a:xfrm>
            <a:off x="960120" y="5349240"/>
            <a:ext cx="2926080" cy="274320"/>
          </a:xfrm>
          <a:prstGeom prst="rect">
            <a:avLst/>
          </a:prstGeom>
          <a:noFill/>
          <a:ln/>
        </p:spPr>
        <p:txBody>
          <a:bodyPr wrap="square" lIns="0" tIns="0" rIns="0" bIns="0" rtlCol="0" anchor="t"/>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LLM spend (1,000 cases)</a:t>
            </a:r>
            <a:endParaRPr lang="en-US" sz="1050" dirty="0"/>
          </a:p>
        </p:txBody>
      </p:sp>
      <p:sp>
        <p:nvSpPr>
          <p:cNvPr id="11" name="Text 7"/>
          <p:cNvSpPr/>
          <p:nvPr/>
        </p:nvSpPr>
        <p:spPr>
          <a:xfrm>
            <a:off x="960120" y="5623560"/>
            <a:ext cx="2926080" cy="548640"/>
          </a:xfrm>
          <a:prstGeom prst="rect">
            <a:avLst/>
          </a:prstGeom>
          <a:noFill/>
          <a:ln/>
        </p:spPr>
        <p:txBody>
          <a:bodyPr wrap="square" lIns="0" tIns="0" rIns="0" bIns="0" rtlCol="0" anchor="t"/>
          <a:lstStyle/>
          <a:p>
            <a:pPr algn="l" indent="0" marL="0">
              <a:lnSpc>
                <a:spcPct val="105000"/>
              </a:lnSpc>
              <a:spcAft>
                <a:spcPts val="200"/>
              </a:spcAft>
              <a:buNone/>
            </a:pPr>
            <a:r>
              <a:rPr lang="en-US" sz="2200" dirty="0">
                <a:solidFill>
                  <a:srgbClr val="0B1F4D"/>
                </a:solidFill>
                <a:latin typeface="Segoe UI Semibold" pitchFamily="34" charset="0"/>
                <a:ea typeface="Segoe UI Semibold" pitchFamily="34" charset="-122"/>
                <a:cs typeface="Segoe UI Semibold" pitchFamily="34" charset="-120"/>
              </a:rPr>
              <a:t>$609</a:t>
            </a:r>
            <a:endParaRPr lang="en-US" sz="2200" dirty="0"/>
          </a:p>
        </p:txBody>
      </p:sp>
      <p:sp>
        <p:nvSpPr>
          <p:cNvPr id="12" name="Text 8"/>
          <p:cNvSpPr/>
          <p:nvPr/>
        </p:nvSpPr>
        <p:spPr>
          <a:xfrm>
            <a:off x="4069080" y="5349240"/>
            <a:ext cx="2926080" cy="274320"/>
          </a:xfrm>
          <a:prstGeom prst="rect">
            <a:avLst/>
          </a:prstGeom>
          <a:noFill/>
          <a:ln/>
        </p:spPr>
        <p:txBody>
          <a:bodyPr wrap="square" lIns="0" tIns="0" rIns="0" bIns="0" rtlCol="0" anchor="t"/>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OCR GPU — 1× L4 reserved</a:t>
            </a:r>
            <a:endParaRPr lang="en-US" sz="1050" dirty="0"/>
          </a:p>
        </p:txBody>
      </p:sp>
      <p:sp>
        <p:nvSpPr>
          <p:cNvPr id="13" name="Text 9"/>
          <p:cNvSpPr/>
          <p:nvPr/>
        </p:nvSpPr>
        <p:spPr>
          <a:xfrm>
            <a:off x="4069080" y="5623560"/>
            <a:ext cx="2926080" cy="548640"/>
          </a:xfrm>
          <a:prstGeom prst="rect">
            <a:avLst/>
          </a:prstGeom>
          <a:noFill/>
          <a:ln/>
        </p:spPr>
        <p:txBody>
          <a:bodyPr wrap="square" lIns="0" tIns="0" rIns="0" bIns="0" rtlCol="0" anchor="t"/>
          <a:lstStyle/>
          <a:p>
            <a:pPr algn="l" indent="0" marL="0">
              <a:lnSpc>
                <a:spcPct val="105000"/>
              </a:lnSpc>
              <a:spcAft>
                <a:spcPts val="200"/>
              </a:spcAft>
              <a:buNone/>
            </a:pPr>
            <a:r>
              <a:rPr lang="en-US" sz="2200" dirty="0">
                <a:solidFill>
                  <a:srgbClr val="0B1F4D"/>
                </a:solidFill>
                <a:latin typeface="Segoe UI Semibold" pitchFamily="34" charset="0"/>
                <a:ea typeface="Segoe UI Semibold" pitchFamily="34" charset="-122"/>
                <a:cs typeface="Segoe UI Semibold" pitchFamily="34" charset="-120"/>
              </a:rPr>
              <a:t>$383</a:t>
            </a:r>
            <a:endParaRPr lang="en-US" sz="2200" dirty="0"/>
          </a:p>
        </p:txBody>
      </p:sp>
      <p:sp>
        <p:nvSpPr>
          <p:cNvPr id="14" name="Text 10"/>
          <p:cNvSpPr/>
          <p:nvPr/>
        </p:nvSpPr>
        <p:spPr>
          <a:xfrm>
            <a:off x="7223760" y="5349240"/>
            <a:ext cx="4206240" cy="274320"/>
          </a:xfrm>
          <a:prstGeom prst="rect">
            <a:avLst/>
          </a:prstGeom>
          <a:noFill/>
          <a:ln/>
        </p:spPr>
        <p:txBody>
          <a:bodyPr wrap="square" lIns="0" tIns="0" rIns="0" bIns="0" rtlCol="0" anchor="t"/>
          <a:lstStyle/>
          <a:p>
            <a:pPr algn="l" indent="0" marL="0">
              <a:lnSpc>
                <a:spcPct val="105000"/>
              </a:lnSpc>
              <a:spcAft>
                <a:spcPts val="200"/>
              </a:spcAft>
              <a:buNone/>
            </a:pPr>
            <a:r>
              <a:rPr lang="en-US" sz="1050" dirty="0">
                <a:solidFill>
                  <a:srgbClr val="64748B"/>
                </a:solidFill>
                <a:latin typeface="Segoe UI" pitchFamily="34" charset="0"/>
                <a:ea typeface="Segoe UI" pitchFamily="34" charset="-122"/>
                <a:cs typeface="Segoe UI" pitchFamily="34" charset="-120"/>
              </a:rPr>
              <a:t>Total</a:t>
            </a:r>
            <a:endParaRPr lang="en-US" sz="1050" dirty="0"/>
          </a:p>
        </p:txBody>
      </p:sp>
      <p:sp>
        <p:nvSpPr>
          <p:cNvPr id="15" name="Text 11"/>
          <p:cNvSpPr/>
          <p:nvPr/>
        </p:nvSpPr>
        <p:spPr>
          <a:xfrm>
            <a:off x="7223760" y="5623560"/>
            <a:ext cx="4206240" cy="548640"/>
          </a:xfrm>
          <a:prstGeom prst="rect">
            <a:avLst/>
          </a:prstGeom>
          <a:noFill/>
          <a:ln/>
        </p:spPr>
        <p:txBody>
          <a:bodyPr wrap="square" lIns="0" tIns="0" rIns="0" bIns="0" rtlCol="0" anchor="t"/>
          <a:lstStyle/>
          <a:p>
            <a:pPr algn="l" indent="0" marL="0">
              <a:lnSpc>
                <a:spcPct val="105000"/>
              </a:lnSpc>
              <a:spcAft>
                <a:spcPts val="200"/>
              </a:spcAft>
              <a:buNone/>
            </a:pPr>
            <a:r>
              <a:rPr lang="en-US" sz="2200" dirty="0">
                <a:solidFill>
                  <a:srgbClr val="2563EB"/>
                </a:solidFill>
                <a:latin typeface="Segoe UI Semibold" pitchFamily="34" charset="0"/>
                <a:ea typeface="Segoe UI Semibold" pitchFamily="34" charset="-122"/>
                <a:cs typeface="Segoe UI Semibold" pitchFamily="34" charset="-120"/>
              </a:rPr>
              <a:t>$992</a:t>
            </a:r>
            <a:endParaRPr lang="en-US" sz="2200" dirty="0"/>
          </a:p>
        </p:txBody>
      </p:sp>
      <p:sp>
        <p:nvSpPr>
          <p:cNvPr id="16" name="Text 12"/>
          <p:cNvSpPr/>
          <p:nvPr/>
        </p:nvSpPr>
        <p:spPr>
          <a:xfrm>
            <a:off x="8778240" y="5715000"/>
            <a:ext cx="2743200" cy="502920"/>
          </a:xfrm>
          <a:prstGeom prst="rect">
            <a:avLst/>
          </a:prstGeom>
          <a:noFill/>
          <a:ln/>
        </p:spPr>
        <p:txBody>
          <a:bodyPr wrap="square" lIns="0" tIns="0" rIns="0" bIns="0" rtlCol="0" anchor="t"/>
          <a:lstStyle/>
          <a:p>
            <a:pPr algn="l" indent="0" marL="0">
              <a:lnSpc>
                <a:spcPct val="105000"/>
              </a:lnSpc>
              <a:spcAft>
                <a:spcPts val="200"/>
              </a:spcAft>
              <a:buNone/>
            </a:pPr>
            <a:r>
              <a:rPr lang="en-US" sz="900" dirty="0">
                <a:solidFill>
                  <a:srgbClr val="64748B"/>
                </a:solidFill>
                <a:latin typeface="Segoe UI" pitchFamily="34" charset="0"/>
                <a:ea typeface="Segoe UI" pitchFamily="34" charset="-122"/>
                <a:cs typeface="Segoe UI" pitchFamily="34" charset="-120"/>
              </a:rPr>
              <a:t>Excludes database, storage, hosting and staff — quote per cloud</a:t>
            </a:r>
            <a:endParaRPr lang="en-US" sz="9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08 · LATENCY</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Latency budget per interaction</a:t>
            </a:r>
            <a:endParaRPr lang="en-US" sz="2400" dirty="0"/>
          </a:p>
        </p:txBody>
      </p:sp>
      <p:sp>
        <p:nvSpPr>
          <p:cNvPr id="5" name="Text 3"/>
          <p:cNvSpPr/>
          <p:nvPr/>
        </p:nvSpPr>
        <p:spPr>
          <a:xfrm>
            <a:off x="731520" y="1097280"/>
            <a:ext cx="10881360" cy="310896"/>
          </a:xfrm>
          <a:prstGeom prst="rect">
            <a:avLst/>
          </a:prstGeom>
          <a:noFill/>
          <a:ln/>
        </p:spPr>
        <p:txBody>
          <a:bodyPr wrap="square" lIns="0" tIns="0" rIns="0" bIns="0"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Interactive paths stay on deterministic code and Luna; slow work runs where the user already expects to wait</a:t>
            </a:r>
            <a:endParaRPr lang="en-US" sz="1200" dirty="0"/>
          </a:p>
        </p:txBody>
      </p:sp>
      <p:sp>
        <p:nvSpPr>
          <p:cNvPr id="6" name="Text 4"/>
          <p:cNvSpPr/>
          <p:nvPr/>
        </p:nvSpPr>
        <p:spPr>
          <a:xfrm>
            <a:off x="731520" y="1691640"/>
            <a:ext cx="3017520" cy="411480"/>
          </a:xfrm>
          <a:prstGeom prst="rect">
            <a:avLst/>
          </a:prstGeom>
          <a:noFill/>
          <a:ln/>
        </p:spPr>
        <p:txBody>
          <a:bodyPr wrap="square" lIns="0" tIns="0" rIns="0" bIns="0" rtlCol="0" anchor="ctr"/>
          <a:lstStyle/>
          <a:p>
            <a:pPr algn="l" indent="0" marL="0">
              <a:lnSpc>
                <a:spcPct val="105000"/>
              </a:lnSpc>
              <a:spcAft>
                <a:spcPts val="200"/>
              </a:spcAft>
              <a:buNone/>
            </a:pPr>
            <a:r>
              <a:rPr lang="en-US" sz="1050" dirty="0">
                <a:solidFill>
                  <a:srgbClr val="334155"/>
                </a:solidFill>
                <a:latin typeface="Segoe UI" pitchFamily="34" charset="0"/>
                <a:ea typeface="Segoe UI" pitchFamily="34" charset="-122"/>
                <a:cs typeface="Segoe UI" pitchFamily="34" charset="-120"/>
              </a:rPr>
              <a:t>Intake turn — deterministic</a:t>
            </a:r>
            <a:endParaRPr lang="en-US" sz="1050" dirty="0"/>
          </a:p>
        </p:txBody>
      </p:sp>
      <p:sp>
        <p:nvSpPr>
          <p:cNvPr id="7" name="Shape 5"/>
          <p:cNvSpPr/>
          <p:nvPr/>
        </p:nvSpPr>
        <p:spPr>
          <a:xfrm>
            <a:off x="3840480" y="1764792"/>
            <a:ext cx="7223760" cy="274320"/>
          </a:xfrm>
          <a:prstGeom prst="rect">
            <a:avLst/>
          </a:prstGeom>
          <a:solidFill>
            <a:srgbClr val="F4F6FA"/>
          </a:solidFill>
          <a:ln w="12700">
            <a:solidFill>
              <a:srgbClr val="F4F6FA"/>
            </a:solidFill>
            <a:prstDash val="solid"/>
          </a:ln>
        </p:spPr>
      </p:sp>
      <p:sp>
        <p:nvSpPr>
          <p:cNvPr id="8" name="Shape 6"/>
          <p:cNvSpPr/>
          <p:nvPr/>
        </p:nvSpPr>
        <p:spPr>
          <a:xfrm>
            <a:off x="3840480" y="1764792"/>
            <a:ext cx="61918" cy="274320"/>
          </a:xfrm>
          <a:prstGeom prst="rect">
            <a:avLst/>
          </a:prstGeom>
          <a:solidFill>
            <a:srgbClr val="047857"/>
          </a:solidFill>
          <a:ln w="12700">
            <a:solidFill>
              <a:srgbClr val="047857"/>
            </a:solidFill>
            <a:prstDash val="solid"/>
          </a:ln>
        </p:spPr>
      </p:sp>
      <p:sp>
        <p:nvSpPr>
          <p:cNvPr id="9" name="Text 7"/>
          <p:cNvSpPr/>
          <p:nvPr/>
        </p:nvSpPr>
        <p:spPr>
          <a:xfrm>
            <a:off x="3993838" y="1691640"/>
            <a:ext cx="3200400" cy="411480"/>
          </a:xfrm>
          <a:prstGeom prst="rect">
            <a:avLst/>
          </a:prstGeom>
          <a:noFill/>
          <a:ln/>
        </p:spPr>
        <p:txBody>
          <a:bodyPr wrap="square" lIns="0" tIns="0" rIns="0" bIns="0" rtlCol="0" anchor="ctr"/>
          <a:lstStyle/>
          <a:p>
            <a:pPr algn="l" indent="0" marL="0">
              <a:lnSpc>
                <a:spcPct val="105000"/>
              </a:lnSpc>
              <a:spcAft>
                <a:spcPts val="200"/>
              </a:spcAft>
              <a:buNone/>
            </a:pPr>
            <a:r>
              <a:rPr lang="en-US" sz="1000" b="1" dirty="0">
                <a:solidFill>
                  <a:srgbClr val="0F1729"/>
                </a:solidFill>
                <a:latin typeface="Segoe UI" pitchFamily="34" charset="0"/>
                <a:ea typeface="Segoe UI" pitchFamily="34" charset="-122"/>
                <a:cs typeface="Segoe UI" pitchFamily="34" charset="-120"/>
              </a:rPr>
              <a:t>no model call (local tables)</a:t>
            </a:r>
            <a:endParaRPr lang="en-US" sz="1000" dirty="0"/>
          </a:p>
        </p:txBody>
      </p:sp>
      <p:sp>
        <p:nvSpPr>
          <p:cNvPr id="10" name="Text 8"/>
          <p:cNvSpPr/>
          <p:nvPr/>
        </p:nvSpPr>
        <p:spPr>
          <a:xfrm>
            <a:off x="731520" y="2258568"/>
            <a:ext cx="3017520" cy="411480"/>
          </a:xfrm>
          <a:prstGeom prst="rect">
            <a:avLst/>
          </a:prstGeom>
          <a:noFill/>
          <a:ln/>
        </p:spPr>
        <p:txBody>
          <a:bodyPr wrap="square" lIns="0" tIns="0" rIns="0" bIns="0" rtlCol="0" anchor="ctr"/>
          <a:lstStyle/>
          <a:p>
            <a:pPr algn="l" indent="0" marL="0">
              <a:lnSpc>
                <a:spcPct val="105000"/>
              </a:lnSpc>
              <a:spcAft>
                <a:spcPts val="200"/>
              </a:spcAft>
              <a:buNone/>
            </a:pPr>
            <a:r>
              <a:rPr lang="en-US" sz="1050" dirty="0">
                <a:solidFill>
                  <a:srgbClr val="334155"/>
                </a:solidFill>
                <a:latin typeface="Segoe UI" pitchFamily="34" charset="0"/>
                <a:ea typeface="Segoe UI" pitchFamily="34" charset="-122"/>
                <a:cs typeface="Segoe UI" pitchFamily="34" charset="-120"/>
              </a:rPr>
              <a:t>Intake turn — unusual wording (Luna low)</a:t>
            </a:r>
            <a:endParaRPr lang="en-US" sz="1050" dirty="0"/>
          </a:p>
        </p:txBody>
      </p:sp>
      <p:sp>
        <p:nvSpPr>
          <p:cNvPr id="11" name="Shape 9"/>
          <p:cNvSpPr/>
          <p:nvPr/>
        </p:nvSpPr>
        <p:spPr>
          <a:xfrm>
            <a:off x="3840480" y="2331720"/>
            <a:ext cx="7223760" cy="274320"/>
          </a:xfrm>
          <a:prstGeom prst="rect">
            <a:avLst/>
          </a:prstGeom>
          <a:solidFill>
            <a:srgbClr val="F4F6FA"/>
          </a:solidFill>
          <a:ln w="12700">
            <a:solidFill>
              <a:srgbClr val="F4F6FA"/>
            </a:solidFill>
            <a:prstDash val="solid"/>
          </a:ln>
        </p:spPr>
      </p:sp>
      <p:sp>
        <p:nvSpPr>
          <p:cNvPr id="12" name="Shape 10"/>
          <p:cNvSpPr/>
          <p:nvPr/>
        </p:nvSpPr>
        <p:spPr>
          <a:xfrm>
            <a:off x="3840480" y="2331720"/>
            <a:ext cx="731018" cy="274320"/>
          </a:xfrm>
          <a:prstGeom prst="rect">
            <a:avLst/>
          </a:prstGeom>
          <a:solidFill>
            <a:srgbClr val="2563EB"/>
          </a:solidFill>
          <a:ln w="12700">
            <a:solidFill>
              <a:srgbClr val="2563EB"/>
            </a:solidFill>
            <a:prstDash val="solid"/>
          </a:ln>
        </p:spPr>
      </p:sp>
      <p:sp>
        <p:nvSpPr>
          <p:cNvPr id="13" name="Text 11"/>
          <p:cNvSpPr/>
          <p:nvPr/>
        </p:nvSpPr>
        <p:spPr>
          <a:xfrm>
            <a:off x="4662938" y="2258568"/>
            <a:ext cx="3200400" cy="411480"/>
          </a:xfrm>
          <a:prstGeom prst="rect">
            <a:avLst/>
          </a:prstGeom>
          <a:noFill/>
          <a:ln/>
        </p:spPr>
        <p:txBody>
          <a:bodyPr wrap="square" lIns="0" tIns="0" rIns="0" bIns="0" rtlCol="0" anchor="ctr"/>
          <a:lstStyle/>
          <a:p>
            <a:pPr algn="l" indent="0" marL="0">
              <a:lnSpc>
                <a:spcPct val="105000"/>
              </a:lnSpc>
              <a:spcAft>
                <a:spcPts val="200"/>
              </a:spcAft>
              <a:buNone/>
            </a:pPr>
            <a:r>
              <a:rPr lang="en-US" sz="1000" b="1" dirty="0">
                <a:solidFill>
                  <a:srgbClr val="0F1729"/>
                </a:solidFill>
                <a:latin typeface="Segoe UI" pitchFamily="34" charset="0"/>
                <a:ea typeface="Segoe UI" pitchFamily="34" charset="-122"/>
                <a:cs typeface="Segoe UI" pitchFamily="34" charset="-120"/>
              </a:rPr>
              <a:t>≈3.5 s</a:t>
            </a:r>
            <a:endParaRPr lang="en-US" sz="1000" dirty="0"/>
          </a:p>
        </p:txBody>
      </p:sp>
      <p:sp>
        <p:nvSpPr>
          <p:cNvPr id="14" name="Text 12"/>
          <p:cNvSpPr/>
          <p:nvPr/>
        </p:nvSpPr>
        <p:spPr>
          <a:xfrm>
            <a:off x="731520" y="2825496"/>
            <a:ext cx="3017520" cy="411480"/>
          </a:xfrm>
          <a:prstGeom prst="rect">
            <a:avLst/>
          </a:prstGeom>
          <a:noFill/>
          <a:ln/>
        </p:spPr>
        <p:txBody>
          <a:bodyPr wrap="square" lIns="0" tIns="0" rIns="0" bIns="0" rtlCol="0" anchor="ctr"/>
          <a:lstStyle/>
          <a:p>
            <a:pPr algn="l" indent="0" marL="0">
              <a:lnSpc>
                <a:spcPct val="105000"/>
              </a:lnSpc>
              <a:spcAft>
                <a:spcPts val="200"/>
              </a:spcAft>
              <a:buNone/>
            </a:pPr>
            <a:r>
              <a:rPr lang="en-US" sz="1050" dirty="0">
                <a:solidFill>
                  <a:srgbClr val="334155"/>
                </a:solidFill>
                <a:latin typeface="Segoe UI" pitchFamily="34" charset="0"/>
                <a:ea typeface="Segoe UI" pitchFamily="34" charset="-122"/>
                <a:cs typeface="Segoe UI" pitchFamily="34" charset="-120"/>
              </a:rPr>
              <a:t>Step guidance, streamed (Luna low)</a:t>
            </a:r>
            <a:endParaRPr lang="en-US" sz="1050" dirty="0"/>
          </a:p>
        </p:txBody>
      </p:sp>
      <p:sp>
        <p:nvSpPr>
          <p:cNvPr id="15" name="Shape 13"/>
          <p:cNvSpPr/>
          <p:nvPr/>
        </p:nvSpPr>
        <p:spPr>
          <a:xfrm>
            <a:off x="3840480" y="2898648"/>
            <a:ext cx="7223760" cy="274320"/>
          </a:xfrm>
          <a:prstGeom prst="rect">
            <a:avLst/>
          </a:prstGeom>
          <a:solidFill>
            <a:srgbClr val="F4F6FA"/>
          </a:solidFill>
          <a:ln w="12700">
            <a:solidFill>
              <a:srgbClr val="F4F6FA"/>
            </a:solidFill>
            <a:prstDash val="solid"/>
          </a:ln>
        </p:spPr>
      </p:sp>
      <p:sp>
        <p:nvSpPr>
          <p:cNvPr id="16" name="Shape 14"/>
          <p:cNvSpPr/>
          <p:nvPr/>
        </p:nvSpPr>
        <p:spPr>
          <a:xfrm>
            <a:off x="3840480" y="2898648"/>
            <a:ext cx="1020354" cy="274320"/>
          </a:xfrm>
          <a:prstGeom prst="rect">
            <a:avLst/>
          </a:prstGeom>
          <a:solidFill>
            <a:srgbClr val="2563EB"/>
          </a:solidFill>
          <a:ln w="12700">
            <a:solidFill>
              <a:srgbClr val="2563EB"/>
            </a:solidFill>
            <a:prstDash val="solid"/>
          </a:ln>
        </p:spPr>
      </p:sp>
      <p:sp>
        <p:nvSpPr>
          <p:cNvPr id="17" name="Text 15"/>
          <p:cNvSpPr/>
          <p:nvPr/>
        </p:nvSpPr>
        <p:spPr>
          <a:xfrm>
            <a:off x="4952274" y="2825496"/>
            <a:ext cx="3200400" cy="411480"/>
          </a:xfrm>
          <a:prstGeom prst="rect">
            <a:avLst/>
          </a:prstGeom>
          <a:noFill/>
          <a:ln/>
        </p:spPr>
        <p:txBody>
          <a:bodyPr wrap="square" lIns="0" tIns="0" rIns="0" bIns="0" rtlCol="0" anchor="ctr"/>
          <a:lstStyle/>
          <a:p>
            <a:pPr algn="l" indent="0" marL="0">
              <a:lnSpc>
                <a:spcPct val="105000"/>
              </a:lnSpc>
              <a:spcAft>
                <a:spcPts val="200"/>
              </a:spcAft>
              <a:buNone/>
            </a:pPr>
            <a:r>
              <a:rPr lang="en-US" sz="1000" b="1" dirty="0">
                <a:solidFill>
                  <a:srgbClr val="0F1729"/>
                </a:solidFill>
                <a:latin typeface="Segoe UI" pitchFamily="34" charset="0"/>
                <a:ea typeface="Segoe UI" pitchFamily="34" charset="-122"/>
                <a:cs typeface="Segoe UI" pitchFamily="34" charset="-120"/>
              </a:rPr>
              <a:t>≈4.9 s  ·  first words after 2.14 s</a:t>
            </a:r>
            <a:endParaRPr lang="en-US" sz="1000" dirty="0"/>
          </a:p>
        </p:txBody>
      </p:sp>
      <p:sp>
        <p:nvSpPr>
          <p:cNvPr id="18" name="Text 16"/>
          <p:cNvSpPr/>
          <p:nvPr/>
        </p:nvSpPr>
        <p:spPr>
          <a:xfrm>
            <a:off x="731520" y="3392424"/>
            <a:ext cx="3017520" cy="411480"/>
          </a:xfrm>
          <a:prstGeom prst="rect">
            <a:avLst/>
          </a:prstGeom>
          <a:noFill/>
          <a:ln/>
        </p:spPr>
        <p:txBody>
          <a:bodyPr wrap="square" lIns="0" tIns="0" rIns="0" bIns="0" rtlCol="0" anchor="ctr"/>
          <a:lstStyle/>
          <a:p>
            <a:pPr algn="l" indent="0" marL="0">
              <a:lnSpc>
                <a:spcPct val="105000"/>
              </a:lnSpc>
              <a:spcAft>
                <a:spcPts val="200"/>
              </a:spcAft>
              <a:buNone/>
            </a:pPr>
            <a:r>
              <a:rPr lang="en-US" sz="1050" dirty="0">
                <a:solidFill>
                  <a:srgbClr val="334155"/>
                </a:solidFill>
                <a:latin typeface="Segoe UI" pitchFamily="34" charset="0"/>
                <a:ea typeface="Segoe UI" pitchFamily="34" charset="-122"/>
                <a:cs typeface="Segoe UI" pitchFamily="34" charset="-120"/>
              </a:rPr>
              <a:t>Invoice page OCR + LayoutLM — CPU today</a:t>
            </a:r>
            <a:endParaRPr lang="en-US" sz="1050" dirty="0"/>
          </a:p>
        </p:txBody>
      </p:sp>
      <p:sp>
        <p:nvSpPr>
          <p:cNvPr id="19" name="Shape 17"/>
          <p:cNvSpPr/>
          <p:nvPr/>
        </p:nvSpPr>
        <p:spPr>
          <a:xfrm>
            <a:off x="3840480" y="3465576"/>
            <a:ext cx="7223760" cy="274320"/>
          </a:xfrm>
          <a:prstGeom prst="rect">
            <a:avLst/>
          </a:prstGeom>
          <a:solidFill>
            <a:srgbClr val="F4F6FA"/>
          </a:solidFill>
          <a:ln w="12700">
            <a:solidFill>
              <a:srgbClr val="F4F6FA"/>
            </a:solidFill>
            <a:prstDash val="solid"/>
          </a:ln>
        </p:spPr>
      </p:sp>
      <p:sp>
        <p:nvSpPr>
          <p:cNvPr id="20" name="Shape 18"/>
          <p:cNvSpPr/>
          <p:nvPr/>
        </p:nvSpPr>
        <p:spPr>
          <a:xfrm>
            <a:off x="3840480" y="3465576"/>
            <a:ext cx="6418827" cy="274320"/>
          </a:xfrm>
          <a:prstGeom prst="rect">
            <a:avLst/>
          </a:prstGeom>
          <a:solidFill>
            <a:srgbClr val="B45309"/>
          </a:solidFill>
          <a:ln w="12700">
            <a:solidFill>
              <a:srgbClr val="B45309"/>
            </a:solidFill>
            <a:prstDash val="solid"/>
          </a:ln>
        </p:spPr>
      </p:sp>
      <p:sp>
        <p:nvSpPr>
          <p:cNvPr id="21" name="Text 19"/>
          <p:cNvSpPr/>
          <p:nvPr/>
        </p:nvSpPr>
        <p:spPr>
          <a:xfrm>
            <a:off x="10350747" y="3392424"/>
            <a:ext cx="3200400" cy="411480"/>
          </a:xfrm>
          <a:prstGeom prst="rect">
            <a:avLst/>
          </a:prstGeom>
          <a:noFill/>
          <a:ln/>
        </p:spPr>
        <p:txBody>
          <a:bodyPr wrap="square" lIns="0" tIns="0" rIns="0" bIns="0" rtlCol="0" anchor="ctr"/>
          <a:lstStyle/>
          <a:p>
            <a:pPr algn="l" indent="0" marL="0">
              <a:lnSpc>
                <a:spcPct val="105000"/>
              </a:lnSpc>
              <a:spcAft>
                <a:spcPts val="200"/>
              </a:spcAft>
              <a:buNone/>
            </a:pPr>
            <a:r>
              <a:rPr lang="en-US" sz="1000" b="1" dirty="0">
                <a:solidFill>
                  <a:srgbClr val="0F1729"/>
                </a:solidFill>
                <a:latin typeface="Segoe UI" pitchFamily="34" charset="0"/>
                <a:ea typeface="Segoe UI" pitchFamily="34" charset="-122"/>
                <a:cs typeface="Segoe UI" pitchFamily="34" charset="-120"/>
              </a:rPr>
              <a:t>≈31 s  ·  measured</a:t>
            </a:r>
            <a:endParaRPr lang="en-US" sz="1000" dirty="0"/>
          </a:p>
        </p:txBody>
      </p:sp>
      <p:sp>
        <p:nvSpPr>
          <p:cNvPr id="22" name="Text 20"/>
          <p:cNvSpPr/>
          <p:nvPr/>
        </p:nvSpPr>
        <p:spPr>
          <a:xfrm>
            <a:off x="731520" y="3959352"/>
            <a:ext cx="3017520" cy="411480"/>
          </a:xfrm>
          <a:prstGeom prst="rect">
            <a:avLst/>
          </a:prstGeom>
          <a:noFill/>
          <a:ln/>
        </p:spPr>
        <p:txBody>
          <a:bodyPr wrap="square" lIns="0" tIns="0" rIns="0" bIns="0" rtlCol="0" anchor="ctr"/>
          <a:lstStyle/>
          <a:p>
            <a:pPr algn="l" indent="0" marL="0">
              <a:lnSpc>
                <a:spcPct val="105000"/>
              </a:lnSpc>
              <a:spcAft>
                <a:spcPts val="200"/>
              </a:spcAft>
              <a:buNone/>
            </a:pPr>
            <a:r>
              <a:rPr lang="en-US" sz="1050" dirty="0">
                <a:solidFill>
                  <a:srgbClr val="334155"/>
                </a:solidFill>
                <a:latin typeface="Segoe UI" pitchFamily="34" charset="0"/>
                <a:ea typeface="Segoe UI" pitchFamily="34" charset="-122"/>
                <a:cs typeface="Segoe UI" pitchFamily="34" charset="-120"/>
              </a:rPr>
              <a:t>Field reconciliation (Terra low)</a:t>
            </a:r>
            <a:endParaRPr lang="en-US" sz="1050" dirty="0"/>
          </a:p>
        </p:txBody>
      </p:sp>
      <p:sp>
        <p:nvSpPr>
          <p:cNvPr id="23" name="Shape 21"/>
          <p:cNvSpPr/>
          <p:nvPr/>
        </p:nvSpPr>
        <p:spPr>
          <a:xfrm>
            <a:off x="3840480" y="4032504"/>
            <a:ext cx="7223760" cy="274320"/>
          </a:xfrm>
          <a:prstGeom prst="rect">
            <a:avLst/>
          </a:prstGeom>
          <a:solidFill>
            <a:srgbClr val="F4F6FA"/>
          </a:solidFill>
          <a:ln w="12700">
            <a:solidFill>
              <a:srgbClr val="F4F6FA"/>
            </a:solidFill>
            <a:prstDash val="solid"/>
          </a:ln>
        </p:spPr>
      </p:sp>
      <p:sp>
        <p:nvSpPr>
          <p:cNvPr id="24" name="Shape 22"/>
          <p:cNvSpPr/>
          <p:nvPr/>
        </p:nvSpPr>
        <p:spPr>
          <a:xfrm>
            <a:off x="3840480" y="4032504"/>
            <a:ext cx="1709260" cy="274320"/>
          </a:xfrm>
          <a:prstGeom prst="rect">
            <a:avLst/>
          </a:prstGeom>
          <a:solidFill>
            <a:srgbClr val="7C3AED"/>
          </a:solidFill>
          <a:ln w="12700">
            <a:solidFill>
              <a:srgbClr val="7C3AED"/>
            </a:solidFill>
            <a:prstDash val="solid"/>
          </a:ln>
        </p:spPr>
      </p:sp>
      <p:sp>
        <p:nvSpPr>
          <p:cNvPr id="25" name="Text 23"/>
          <p:cNvSpPr/>
          <p:nvPr/>
        </p:nvSpPr>
        <p:spPr>
          <a:xfrm>
            <a:off x="5641180" y="3959352"/>
            <a:ext cx="3200400" cy="411480"/>
          </a:xfrm>
          <a:prstGeom prst="rect">
            <a:avLst/>
          </a:prstGeom>
          <a:noFill/>
          <a:ln/>
        </p:spPr>
        <p:txBody>
          <a:bodyPr wrap="square" lIns="0" tIns="0" rIns="0" bIns="0" rtlCol="0" anchor="ctr"/>
          <a:lstStyle/>
          <a:p>
            <a:pPr algn="l" indent="0" marL="0">
              <a:lnSpc>
                <a:spcPct val="105000"/>
              </a:lnSpc>
              <a:spcAft>
                <a:spcPts val="200"/>
              </a:spcAft>
              <a:buNone/>
            </a:pPr>
            <a:r>
              <a:rPr lang="en-US" sz="1000" b="1" dirty="0">
                <a:solidFill>
                  <a:srgbClr val="0F1729"/>
                </a:solidFill>
                <a:latin typeface="Segoe UI" pitchFamily="34" charset="0"/>
                <a:ea typeface="Segoe UI" pitchFamily="34" charset="-122"/>
                <a:cs typeface="Segoe UI" pitchFamily="34" charset="-120"/>
              </a:rPr>
              <a:t>≈8.3 s  ·  after fields are shown</a:t>
            </a:r>
            <a:endParaRPr lang="en-US" sz="1000" dirty="0"/>
          </a:p>
        </p:txBody>
      </p:sp>
      <p:sp>
        <p:nvSpPr>
          <p:cNvPr id="26" name="Text 24"/>
          <p:cNvSpPr/>
          <p:nvPr/>
        </p:nvSpPr>
        <p:spPr>
          <a:xfrm>
            <a:off x="731520" y="4526280"/>
            <a:ext cx="3017520" cy="411480"/>
          </a:xfrm>
          <a:prstGeom prst="rect">
            <a:avLst/>
          </a:prstGeom>
          <a:noFill/>
          <a:ln/>
        </p:spPr>
        <p:txBody>
          <a:bodyPr wrap="square" lIns="0" tIns="0" rIns="0" bIns="0" rtlCol="0" anchor="ctr"/>
          <a:lstStyle/>
          <a:p>
            <a:pPr algn="l" indent="0" marL="0">
              <a:lnSpc>
                <a:spcPct val="105000"/>
              </a:lnSpc>
              <a:spcAft>
                <a:spcPts val="200"/>
              </a:spcAft>
              <a:buNone/>
            </a:pPr>
            <a:r>
              <a:rPr lang="en-US" sz="1050" dirty="0">
                <a:solidFill>
                  <a:srgbClr val="334155"/>
                </a:solidFill>
                <a:latin typeface="Segoe UI" pitchFamily="34" charset="0"/>
                <a:ea typeface="Segoe UI" pitchFamily="34" charset="-122"/>
                <a:cs typeface="Segoe UI" pitchFamily="34" charset="-120"/>
              </a:rPr>
              <a:t>Risk refresh (Terra low, Flex)</a:t>
            </a:r>
            <a:endParaRPr lang="en-US" sz="1050" dirty="0"/>
          </a:p>
        </p:txBody>
      </p:sp>
      <p:sp>
        <p:nvSpPr>
          <p:cNvPr id="27" name="Shape 25"/>
          <p:cNvSpPr/>
          <p:nvPr/>
        </p:nvSpPr>
        <p:spPr>
          <a:xfrm>
            <a:off x="3840480" y="4599432"/>
            <a:ext cx="7223760" cy="274320"/>
          </a:xfrm>
          <a:prstGeom prst="rect">
            <a:avLst/>
          </a:prstGeom>
          <a:solidFill>
            <a:srgbClr val="F4F6FA"/>
          </a:solidFill>
          <a:ln w="12700">
            <a:solidFill>
              <a:srgbClr val="F4F6FA"/>
            </a:solidFill>
            <a:prstDash val="solid"/>
          </a:ln>
        </p:spPr>
      </p:sp>
      <p:sp>
        <p:nvSpPr>
          <p:cNvPr id="28" name="Shape 26"/>
          <p:cNvSpPr/>
          <p:nvPr/>
        </p:nvSpPr>
        <p:spPr>
          <a:xfrm>
            <a:off x="3840480" y="4599432"/>
            <a:ext cx="3100674" cy="274320"/>
          </a:xfrm>
          <a:prstGeom prst="rect">
            <a:avLst/>
          </a:prstGeom>
          <a:solidFill>
            <a:srgbClr val="7C3AED"/>
          </a:solidFill>
          <a:ln w="12700">
            <a:solidFill>
              <a:srgbClr val="7C3AED"/>
            </a:solidFill>
            <a:prstDash val="solid"/>
          </a:ln>
        </p:spPr>
      </p:sp>
      <p:sp>
        <p:nvSpPr>
          <p:cNvPr id="29" name="Text 27"/>
          <p:cNvSpPr/>
          <p:nvPr/>
        </p:nvSpPr>
        <p:spPr>
          <a:xfrm>
            <a:off x="7032594" y="4526280"/>
            <a:ext cx="3200400" cy="411480"/>
          </a:xfrm>
          <a:prstGeom prst="rect">
            <a:avLst/>
          </a:prstGeom>
          <a:noFill/>
          <a:ln/>
        </p:spPr>
        <p:txBody>
          <a:bodyPr wrap="square" lIns="0" tIns="0" rIns="0" bIns="0" rtlCol="0" anchor="ctr"/>
          <a:lstStyle/>
          <a:p>
            <a:pPr algn="l" indent="0" marL="0">
              <a:lnSpc>
                <a:spcPct val="105000"/>
              </a:lnSpc>
              <a:spcAft>
                <a:spcPts val="200"/>
              </a:spcAft>
              <a:buNone/>
            </a:pPr>
            <a:r>
              <a:rPr lang="en-US" sz="1000" b="1" dirty="0">
                <a:solidFill>
                  <a:srgbClr val="0F1729"/>
                </a:solidFill>
                <a:latin typeface="Segoe UI" pitchFamily="34" charset="0"/>
                <a:ea typeface="Segoe UI" pitchFamily="34" charset="-122"/>
                <a:cs typeface="Segoe UI" pitchFamily="34" charset="-120"/>
              </a:rPr>
              <a:t>≈15 s  ·  background</a:t>
            </a:r>
            <a:endParaRPr lang="en-US" sz="1000" dirty="0"/>
          </a:p>
        </p:txBody>
      </p:sp>
      <p:sp>
        <p:nvSpPr>
          <p:cNvPr id="30" name="Text 28"/>
          <p:cNvSpPr/>
          <p:nvPr/>
        </p:nvSpPr>
        <p:spPr>
          <a:xfrm>
            <a:off x="731520" y="5093208"/>
            <a:ext cx="3017520" cy="411480"/>
          </a:xfrm>
          <a:prstGeom prst="rect">
            <a:avLst/>
          </a:prstGeom>
          <a:noFill/>
          <a:ln/>
        </p:spPr>
        <p:txBody>
          <a:bodyPr wrap="square" lIns="0" tIns="0" rIns="0" bIns="0" rtlCol="0" anchor="ctr"/>
          <a:lstStyle/>
          <a:p>
            <a:pPr algn="l" indent="0" marL="0">
              <a:lnSpc>
                <a:spcPct val="105000"/>
              </a:lnSpc>
              <a:spcAft>
                <a:spcPts val="200"/>
              </a:spcAft>
              <a:buNone/>
            </a:pPr>
            <a:r>
              <a:rPr lang="en-US" sz="1050" dirty="0">
                <a:solidFill>
                  <a:srgbClr val="334155"/>
                </a:solidFill>
                <a:latin typeface="Segoe UI" pitchFamily="34" charset="0"/>
                <a:ea typeface="Segoe UI" pitchFamily="34" charset="-122"/>
                <a:cs typeface="Segoe UI" pitchFamily="34" charset="-120"/>
              </a:rPr>
              <a:t>Escalation (Terra high, 1k visible out)</a:t>
            </a:r>
            <a:endParaRPr lang="en-US" sz="1050" dirty="0"/>
          </a:p>
        </p:txBody>
      </p:sp>
      <p:sp>
        <p:nvSpPr>
          <p:cNvPr id="31" name="Shape 29"/>
          <p:cNvSpPr/>
          <p:nvPr/>
        </p:nvSpPr>
        <p:spPr>
          <a:xfrm>
            <a:off x="3840480" y="5166360"/>
            <a:ext cx="7223760" cy="274320"/>
          </a:xfrm>
          <a:prstGeom prst="rect">
            <a:avLst/>
          </a:prstGeom>
          <a:solidFill>
            <a:srgbClr val="F4F6FA"/>
          </a:solidFill>
          <a:ln w="12700">
            <a:solidFill>
              <a:srgbClr val="F4F6FA"/>
            </a:solidFill>
            <a:prstDash val="solid"/>
          </a:ln>
        </p:spPr>
      </p:sp>
      <p:sp>
        <p:nvSpPr>
          <p:cNvPr id="32" name="Shape 30"/>
          <p:cNvSpPr/>
          <p:nvPr/>
        </p:nvSpPr>
        <p:spPr>
          <a:xfrm>
            <a:off x="3840480" y="5166360"/>
            <a:ext cx="2724000" cy="274320"/>
          </a:xfrm>
          <a:prstGeom prst="rect">
            <a:avLst/>
          </a:prstGeom>
          <a:solidFill>
            <a:srgbClr val="7C3AED"/>
          </a:solidFill>
          <a:ln w="12700">
            <a:solidFill>
              <a:srgbClr val="7C3AED"/>
            </a:solidFill>
            <a:prstDash val="solid"/>
          </a:ln>
        </p:spPr>
      </p:sp>
      <p:sp>
        <p:nvSpPr>
          <p:cNvPr id="33" name="Text 31"/>
          <p:cNvSpPr/>
          <p:nvPr/>
        </p:nvSpPr>
        <p:spPr>
          <a:xfrm>
            <a:off x="6655920" y="5093208"/>
            <a:ext cx="3200400" cy="411480"/>
          </a:xfrm>
          <a:prstGeom prst="rect">
            <a:avLst/>
          </a:prstGeom>
          <a:noFill/>
          <a:ln/>
        </p:spPr>
        <p:txBody>
          <a:bodyPr wrap="square" lIns="0" tIns="0" rIns="0" bIns="0" rtlCol="0" anchor="ctr"/>
          <a:lstStyle/>
          <a:p>
            <a:pPr algn="l" indent="0" marL="0">
              <a:lnSpc>
                <a:spcPct val="105000"/>
              </a:lnSpc>
              <a:spcAft>
                <a:spcPts val="200"/>
              </a:spcAft>
              <a:buNone/>
            </a:pPr>
            <a:r>
              <a:rPr lang="en-US" sz="1000" b="1" dirty="0">
                <a:solidFill>
                  <a:srgbClr val="0F1729"/>
                </a:solidFill>
                <a:latin typeface="Segoe UI" pitchFamily="34" charset="0"/>
                <a:ea typeface="Segoe UI" pitchFamily="34" charset="-122"/>
                <a:cs typeface="Segoe UI" pitchFamily="34" charset="-120"/>
              </a:rPr>
              <a:t>≈13 s  ·  rare</a:t>
            </a:r>
            <a:endParaRPr lang="en-US" sz="1000" dirty="0"/>
          </a:p>
        </p:txBody>
      </p:sp>
      <p:sp>
        <p:nvSpPr>
          <p:cNvPr id="34" name="Text 32"/>
          <p:cNvSpPr/>
          <p:nvPr/>
        </p:nvSpPr>
        <p:spPr>
          <a:xfrm>
            <a:off x="731520" y="5715000"/>
            <a:ext cx="10881360" cy="594360"/>
          </a:xfrm>
          <a:prstGeom prst="roundRect">
            <a:avLst>
              <a:gd name="adj" fmla="val 12308"/>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35" name="Text 33"/>
          <p:cNvSpPr/>
          <p:nvPr/>
        </p:nvSpPr>
        <p:spPr>
          <a:xfrm>
            <a:off x="914400" y="5788152"/>
            <a:ext cx="10515600" cy="457200"/>
          </a:xfrm>
          <a:prstGeom prst="rect">
            <a:avLst/>
          </a:prstGeom>
          <a:noFill/>
          <a:ln/>
        </p:spPr>
        <p:txBody>
          <a:bodyPr wrap="square" lIns="0" tIns="0" rIns="0" bIns="0" rtlCol="0" anchor="ctr"/>
          <a:lstStyle/>
          <a:p>
            <a:pPr algn="l" indent="0" marL="0">
              <a:lnSpc>
                <a:spcPct val="105000"/>
              </a:lnSpc>
              <a:spcAft>
                <a:spcPts val="200"/>
              </a:spcAft>
              <a:buNone/>
            </a:pPr>
            <a:r>
              <a:rPr lang="en-US" sz="1050" b="1" dirty="0">
                <a:solidFill>
                  <a:srgbClr val="0B1F4D"/>
                </a:solidFill>
                <a:latin typeface="Segoe UI" pitchFamily="34" charset="0"/>
                <a:ea typeface="Segoe UI" pitchFamily="34" charset="-122"/>
                <a:cs typeface="Segoe UI" pitchFamily="34" charset="-120"/>
              </a:rPr>
              <a:t>Levers: </a:t>
            </a:r>
            <a:pPr algn="l" indent="0" marL="0">
              <a:lnSpc>
                <a:spcPct val="105000"/>
              </a:lnSpc>
              <a:spcAft>
                <a:spcPts val="200"/>
              </a:spcAft>
              <a:buNone/>
            </a:pPr>
            <a:r>
              <a:rPr lang="en-US" sz="1050" dirty="0">
                <a:solidFill>
                  <a:srgbClr val="334155"/>
                </a:solidFill>
                <a:latin typeface="Segoe UI" pitchFamily="34" charset="0"/>
                <a:ea typeface="Segoe UI" pitchFamily="34" charset="-122"/>
                <a:cs typeface="Segoe UI" pitchFamily="34" charset="-120"/>
              </a:rPr>
              <a:t>stream responses · low reasoning effort on interactive paths · prompt caching · GPU OCR (benchmark in pilot) · Fast tier (2× price) only if chat first-token time misses target · Flex/Batch (50%) for background work</a:t>
            </a:r>
            <a:endParaRPr lang="en-US" sz="105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08 · RECOMMENDATION</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Trade-offs at a glance</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881360" cy="914400"/>
        </p:xfrm>
        <a:graphic>
          <a:graphicData uri="http://schemas.openxmlformats.org/drawingml/2006/table">
            <a:tbl>
              <a:tblPr/>
              <a:tblGrid>
                <a:gridCol w="2011680"/>
                <a:gridCol w="1280160"/>
                <a:gridCol w="2834640"/>
                <a:gridCol w="3108960"/>
                <a:gridCol w="1645920"/>
              </a:tblGrid>
              <a:tr h="475488">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Plan</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Model $ / case</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Latency</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Capability where it matters</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c>
                  <a:txBody>
                    <a:bodyPr/>
                    <a:lstStyle/>
                    <a:p>
                      <a:pPr algn="l" indent="0" marL="0">
                        <a:buNone/>
                      </a:pPr>
                      <a:r>
                        <a:rPr lang="en-US" sz="1000" b="1" dirty="0">
                          <a:solidFill>
                            <a:srgbClr val="FFFFFF"/>
                          </a:solidFill>
                          <a:latin typeface="Segoe UI" pitchFamily="34" charset="0"/>
                          <a:ea typeface="Segoe UI" pitchFamily="34" charset="-122"/>
                          <a:cs typeface="Segoe UI" pitchFamily="34" charset="-120"/>
                        </a:rPr>
                        <a:t>Fit</a:t>
                      </a:r>
                      <a:endParaRPr lang="en-US" sz="10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0B1F4D"/>
                    </a:solidFill>
                  </a:tcPr>
                </a:tc>
              </a:tr>
              <a:tr h="475488">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All Luna</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$0.086</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Fastest output (107 tok/s)</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Lowest capability (22) on document and risk tasks</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Pilots only</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475488">
                <a:tc>
                  <a:txBody>
                    <a:bodyPr/>
                    <a:lstStyle/>
                    <a:p>
                      <a:pPr algn="l" indent="0" marL="0">
                        <a:buNone/>
                      </a:pPr>
                      <a:r>
                        <a:rPr lang="en-US" sz="1100" b="1" dirty="0">
                          <a:solidFill>
                            <a:srgbClr val="2563EB"/>
                          </a:solidFill>
                          <a:latin typeface="Segoe UI" pitchFamily="34" charset="0"/>
                          <a:ea typeface="Segoe UI" pitchFamily="34" charset="-122"/>
                          <a:cs typeface="Segoe UI" pitchFamily="34" charset="-120"/>
                        </a:rPr>
                        <a:t>Tiered — recommended</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0F1729"/>
                          </a:solidFill>
                          <a:latin typeface="Segoe UI" pitchFamily="34" charset="0"/>
                          <a:ea typeface="Segoe UI" pitchFamily="34" charset="-122"/>
                          <a:cs typeface="Segoe UI" pitchFamily="34" charset="-120"/>
                        </a:rPr>
                        <a:t>$0.609</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Luna on interactive paths; Terra where users already wait</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Terra (28–34) where errors cost; deterministic checks first</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047857"/>
                          </a:solidFill>
                          <a:latin typeface="Segoe UI" pitchFamily="34" charset="0"/>
                          <a:ea typeface="Segoe UI" pitchFamily="34" charset="-122"/>
                          <a:cs typeface="Segoe UI" pitchFamily="34" charset="-120"/>
                        </a:rPr>
                        <a:t>Production</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475488">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All Terra</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$0.856</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Chat first token 1.54 s</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Same accuracy on the tasks that matter as tiered</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Simple, ~40% more</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8FAFC"/>
                    </a:solidFill>
                  </a:tcPr>
                </a:tc>
              </a:tr>
              <a:tr h="475488">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All GPT-5.5</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$2.14</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Slowest output (≈83 tok/s)</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No measured gain over Terra (high)</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9"/>
                          </a:solidFill>
                          <a:latin typeface="Segoe UI" pitchFamily="34" charset="0"/>
                          <a:ea typeface="Segoe UI" pitchFamily="34" charset="-122"/>
                          <a:cs typeface="Segoe UI" pitchFamily="34" charset="-120"/>
                        </a:rPr>
                        <a:t>Not justified</a:t>
                      </a:r>
                      <a:endParaRPr lang="en-US" sz="1100" dirty="0">
                        <a:latin typeface="Segoe UI" charset="0"/>
                        <a:ea typeface="Segoe UI" charset="0"/>
                        <a:cs typeface="Segoe UI" charset="0"/>
                      </a:endParaRPr>
                    </a:p>
                  </a:txBody>
                  <a:tcPr marL="45720" marR="45720" marT="45720" marB="45720"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bl>
          </a:graphicData>
        </a:graphic>
      </p:graphicFrame>
      <p:sp>
        <p:nvSpPr>
          <p:cNvPr id="6" name="Text 3"/>
          <p:cNvSpPr/>
          <p:nvPr/>
        </p:nvSpPr>
        <p:spPr>
          <a:xfrm>
            <a:off x="731520" y="4069080"/>
            <a:ext cx="3520440" cy="2240280"/>
          </a:xfrm>
          <a:prstGeom prst="roundRect">
            <a:avLst>
              <a:gd name="adj" fmla="val 2449"/>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7" name="Shape 4"/>
          <p:cNvSpPr/>
          <p:nvPr/>
        </p:nvSpPr>
        <p:spPr>
          <a:xfrm>
            <a:off x="731520" y="4069080"/>
            <a:ext cx="3520440" cy="64008"/>
          </a:xfrm>
          <a:prstGeom prst="rect">
            <a:avLst/>
          </a:prstGeom>
          <a:solidFill>
            <a:srgbClr val="047857"/>
          </a:solidFill>
          <a:ln w="12700">
            <a:solidFill>
              <a:srgbClr val="047857"/>
            </a:solidFill>
            <a:prstDash val="solid"/>
          </a:ln>
        </p:spPr>
      </p:sp>
      <p:sp>
        <p:nvSpPr>
          <p:cNvPr id="8" name="Text 5"/>
          <p:cNvSpPr/>
          <p:nvPr/>
        </p:nvSpPr>
        <p:spPr>
          <a:xfrm>
            <a:off x="914400" y="4224528"/>
            <a:ext cx="3200400" cy="320040"/>
          </a:xfrm>
          <a:prstGeom prst="rect">
            <a:avLst/>
          </a:prstGeom>
          <a:noFill/>
          <a:ln/>
        </p:spPr>
        <p:txBody>
          <a:bodyPr wrap="square" lIns="0" tIns="0" rIns="0" bIns="0" rtlCol="0" anchor="t"/>
          <a:lstStyle/>
          <a:p>
            <a:pPr algn="l" indent="0" marL="0">
              <a:lnSpc>
                <a:spcPct val="105000"/>
              </a:lnSpc>
              <a:spcAft>
                <a:spcPts val="200"/>
              </a:spcAft>
              <a:buNone/>
            </a:pPr>
            <a:r>
              <a:rPr lang="en-US" sz="1300" dirty="0">
                <a:solidFill>
                  <a:srgbClr val="0B1F4D"/>
                </a:solidFill>
                <a:latin typeface="Segoe UI Semibold" pitchFamily="34" charset="0"/>
                <a:ea typeface="Segoe UI Semibold" pitchFamily="34" charset="-122"/>
                <a:cs typeface="Segoe UI Semibold" pitchFamily="34" charset="-120"/>
              </a:rPr>
              <a:t>Cost levers</a:t>
            </a:r>
            <a:endParaRPr lang="en-US" sz="1300" dirty="0"/>
          </a:p>
        </p:txBody>
      </p:sp>
      <p:sp>
        <p:nvSpPr>
          <p:cNvPr id="9" name="Text 6"/>
          <p:cNvSpPr/>
          <p:nvPr/>
        </p:nvSpPr>
        <p:spPr>
          <a:xfrm>
            <a:off x="914400" y="4590288"/>
            <a:ext cx="3200400" cy="169164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334155"/>
                </a:solidFill>
                <a:latin typeface="Segoe UI" pitchFamily="34" charset="0"/>
                <a:ea typeface="Segoe UI" pitchFamily="34" charset="-122"/>
                <a:cs typeface="Segoe UI" pitchFamily="34" charset="-120"/>
              </a:rPr>
              <a:t>Prompt caching: cached input is 10% of the price</a:t>
            </a:r>
            <a:endParaRPr lang="en-US" sz="1050" dirty="0"/>
          </a:p>
          <a:p>
            <a:pPr marL="177800" indent="-177800">
              <a:lnSpc>
                <a:spcPct val="105000"/>
              </a:lnSpc>
              <a:spcAft>
                <a:spcPts val="400"/>
              </a:spcAft>
              <a:buSzPct val="100000"/>
              <a:buChar char="•"/>
            </a:pPr>
            <a:r>
              <a:rPr lang="en-US" sz="1050" dirty="0">
                <a:solidFill>
                  <a:srgbClr val="334155"/>
                </a:solidFill>
                <a:latin typeface="Segoe UI" pitchFamily="34" charset="0"/>
                <a:ea typeface="Segoe UI" pitchFamily="34" charset="-122"/>
                <a:cs typeface="Segoe UI" pitchFamily="34" charset="-120"/>
              </a:rPr>
              <a:t>Flex / Batch at 50% for background risk refresh</a:t>
            </a:r>
            <a:endParaRPr lang="en-US" sz="1050" dirty="0"/>
          </a:p>
          <a:p>
            <a:pPr marL="177800" indent="-177800">
              <a:lnSpc>
                <a:spcPct val="105000"/>
              </a:lnSpc>
              <a:spcAft>
                <a:spcPts val="400"/>
              </a:spcAft>
              <a:buSzPct val="100000"/>
              <a:buChar char="•"/>
            </a:pPr>
            <a:r>
              <a:rPr lang="en-US" sz="1050" dirty="0">
                <a:solidFill>
                  <a:srgbClr val="334155"/>
                </a:solidFill>
                <a:latin typeface="Segoe UI" pitchFamily="34" charset="0"/>
                <a:ea typeface="Segoe UI" pitchFamily="34" charset="-122"/>
                <a:cs typeface="Segoe UI" pitchFamily="34" charset="-120"/>
              </a:rPr>
              <a:t>Send only review-band fields to Terra</a:t>
            </a:r>
            <a:endParaRPr lang="en-US" sz="1050" dirty="0"/>
          </a:p>
          <a:p>
            <a:pPr marL="177800" indent="-177800">
              <a:lnSpc>
                <a:spcPct val="105000"/>
              </a:lnSpc>
              <a:spcAft>
                <a:spcPts val="400"/>
              </a:spcAft>
              <a:buSzPct val="100000"/>
              <a:buChar char="•"/>
            </a:pPr>
            <a:r>
              <a:rPr lang="en-US" sz="1050" dirty="0">
                <a:solidFill>
                  <a:srgbClr val="334155"/>
                </a:solidFill>
                <a:latin typeface="Segoe UI" pitchFamily="34" charset="0"/>
                <a:ea typeface="Segoe UI" pitchFamily="34" charset="-122"/>
                <a:cs typeface="Segoe UI" pitchFamily="34" charset="-120"/>
              </a:rPr>
              <a:t>Self-hosted OCR: flat cost, no per-page fee</a:t>
            </a:r>
            <a:endParaRPr lang="en-US" sz="1050" dirty="0"/>
          </a:p>
        </p:txBody>
      </p:sp>
      <p:sp>
        <p:nvSpPr>
          <p:cNvPr id="10" name="Text 7"/>
          <p:cNvSpPr/>
          <p:nvPr/>
        </p:nvSpPr>
        <p:spPr>
          <a:xfrm>
            <a:off x="4407408" y="4069080"/>
            <a:ext cx="3520440" cy="2240280"/>
          </a:xfrm>
          <a:prstGeom prst="roundRect">
            <a:avLst>
              <a:gd name="adj" fmla="val 2449"/>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1" name="Shape 8"/>
          <p:cNvSpPr/>
          <p:nvPr/>
        </p:nvSpPr>
        <p:spPr>
          <a:xfrm>
            <a:off x="4407408" y="4069080"/>
            <a:ext cx="3520440" cy="64008"/>
          </a:xfrm>
          <a:prstGeom prst="rect">
            <a:avLst/>
          </a:prstGeom>
          <a:solidFill>
            <a:srgbClr val="2563EB"/>
          </a:solidFill>
          <a:ln w="12700">
            <a:solidFill>
              <a:srgbClr val="2563EB"/>
            </a:solidFill>
            <a:prstDash val="solid"/>
          </a:ln>
        </p:spPr>
      </p:sp>
      <p:sp>
        <p:nvSpPr>
          <p:cNvPr id="12" name="Text 9"/>
          <p:cNvSpPr/>
          <p:nvPr/>
        </p:nvSpPr>
        <p:spPr>
          <a:xfrm>
            <a:off x="4590288" y="4224528"/>
            <a:ext cx="3200400" cy="320040"/>
          </a:xfrm>
          <a:prstGeom prst="rect">
            <a:avLst/>
          </a:prstGeom>
          <a:noFill/>
          <a:ln/>
        </p:spPr>
        <p:txBody>
          <a:bodyPr wrap="square" lIns="0" tIns="0" rIns="0" bIns="0" rtlCol="0" anchor="t"/>
          <a:lstStyle/>
          <a:p>
            <a:pPr algn="l" indent="0" marL="0">
              <a:lnSpc>
                <a:spcPct val="105000"/>
              </a:lnSpc>
              <a:spcAft>
                <a:spcPts val="200"/>
              </a:spcAft>
              <a:buNone/>
            </a:pPr>
            <a:r>
              <a:rPr lang="en-US" sz="1300" dirty="0">
                <a:solidFill>
                  <a:srgbClr val="0B1F4D"/>
                </a:solidFill>
                <a:latin typeface="Segoe UI Semibold" pitchFamily="34" charset="0"/>
                <a:ea typeface="Segoe UI Semibold" pitchFamily="34" charset="-122"/>
                <a:cs typeface="Segoe UI Semibold" pitchFamily="34" charset="-120"/>
              </a:rPr>
              <a:t>Latency levers</a:t>
            </a:r>
            <a:endParaRPr lang="en-US" sz="1300" dirty="0"/>
          </a:p>
        </p:txBody>
      </p:sp>
      <p:sp>
        <p:nvSpPr>
          <p:cNvPr id="13" name="Text 10"/>
          <p:cNvSpPr/>
          <p:nvPr/>
        </p:nvSpPr>
        <p:spPr>
          <a:xfrm>
            <a:off x="4590288" y="4590288"/>
            <a:ext cx="3200400" cy="169164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334155"/>
                </a:solidFill>
                <a:latin typeface="Segoe UI" pitchFamily="34" charset="0"/>
                <a:ea typeface="Segoe UI" pitchFamily="34" charset="-122"/>
                <a:cs typeface="Segoe UI" pitchFamily="34" charset="-120"/>
              </a:rPr>
              <a:t>Deterministic intake first; LLM only for odd wording</a:t>
            </a:r>
            <a:endParaRPr lang="en-US" sz="1050" dirty="0"/>
          </a:p>
          <a:p>
            <a:pPr marL="177800" indent="-177800">
              <a:lnSpc>
                <a:spcPct val="105000"/>
              </a:lnSpc>
              <a:spcAft>
                <a:spcPts val="400"/>
              </a:spcAft>
              <a:buSzPct val="100000"/>
              <a:buChar char="•"/>
            </a:pPr>
            <a:r>
              <a:rPr lang="en-US" sz="1050" dirty="0">
                <a:solidFill>
                  <a:srgbClr val="334155"/>
                </a:solidFill>
                <a:latin typeface="Segoe UI" pitchFamily="34" charset="0"/>
                <a:ea typeface="Segoe UI" pitchFamily="34" charset="-122"/>
                <a:cs typeface="Segoe UI" pitchFamily="34" charset="-120"/>
              </a:rPr>
              <a:t>Stream guidance; low reasoning effort</a:t>
            </a:r>
            <a:endParaRPr lang="en-US" sz="1050" dirty="0"/>
          </a:p>
          <a:p>
            <a:pPr marL="177800" indent="-177800">
              <a:lnSpc>
                <a:spcPct val="105000"/>
              </a:lnSpc>
              <a:spcAft>
                <a:spcPts val="400"/>
              </a:spcAft>
              <a:buSzPct val="100000"/>
              <a:buChar char="•"/>
            </a:pPr>
            <a:r>
              <a:rPr lang="en-US" sz="1050" dirty="0">
                <a:solidFill>
                  <a:srgbClr val="334155"/>
                </a:solidFill>
                <a:latin typeface="Segoe UI" pitchFamily="34" charset="0"/>
                <a:ea typeface="Segoe UI" pitchFamily="34" charset="-122"/>
                <a:cs typeface="Segoe UI" pitchFamily="34" charset="-120"/>
              </a:rPr>
              <a:t>OCR on GPU; reconciliation after fields show</a:t>
            </a:r>
            <a:endParaRPr lang="en-US" sz="1050" dirty="0"/>
          </a:p>
          <a:p>
            <a:pPr marL="177800" indent="-177800">
              <a:lnSpc>
                <a:spcPct val="105000"/>
              </a:lnSpc>
              <a:spcAft>
                <a:spcPts val="400"/>
              </a:spcAft>
              <a:buSzPct val="100000"/>
              <a:buChar char="•"/>
            </a:pPr>
            <a:r>
              <a:rPr lang="en-US" sz="1050" dirty="0">
                <a:solidFill>
                  <a:srgbClr val="334155"/>
                </a:solidFill>
                <a:latin typeface="Segoe UI" pitchFamily="34" charset="0"/>
                <a:ea typeface="Segoe UI" pitchFamily="34" charset="-122"/>
                <a:cs typeface="Segoe UI" pitchFamily="34" charset="-120"/>
              </a:rPr>
              <a:t>Fast tier only if chat misses its target</a:t>
            </a:r>
            <a:endParaRPr lang="en-US" sz="1050" dirty="0"/>
          </a:p>
        </p:txBody>
      </p:sp>
      <p:sp>
        <p:nvSpPr>
          <p:cNvPr id="14" name="Text 11"/>
          <p:cNvSpPr/>
          <p:nvPr/>
        </p:nvSpPr>
        <p:spPr>
          <a:xfrm>
            <a:off x="8083296" y="4069080"/>
            <a:ext cx="3520440" cy="2240280"/>
          </a:xfrm>
          <a:prstGeom prst="roundRect">
            <a:avLst>
              <a:gd name="adj" fmla="val 2449"/>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5" name="Shape 12"/>
          <p:cNvSpPr/>
          <p:nvPr/>
        </p:nvSpPr>
        <p:spPr>
          <a:xfrm>
            <a:off x="8083296" y="4069080"/>
            <a:ext cx="3520440" cy="64008"/>
          </a:xfrm>
          <a:prstGeom prst="rect">
            <a:avLst/>
          </a:prstGeom>
          <a:solidFill>
            <a:srgbClr val="7C3AED"/>
          </a:solidFill>
          <a:ln w="12700">
            <a:solidFill>
              <a:srgbClr val="7C3AED"/>
            </a:solidFill>
            <a:prstDash val="solid"/>
          </a:ln>
        </p:spPr>
      </p:sp>
      <p:sp>
        <p:nvSpPr>
          <p:cNvPr id="16" name="Text 13"/>
          <p:cNvSpPr/>
          <p:nvPr/>
        </p:nvSpPr>
        <p:spPr>
          <a:xfrm>
            <a:off x="8266176" y="4224528"/>
            <a:ext cx="3200400" cy="320040"/>
          </a:xfrm>
          <a:prstGeom prst="rect">
            <a:avLst/>
          </a:prstGeom>
          <a:noFill/>
          <a:ln/>
        </p:spPr>
        <p:txBody>
          <a:bodyPr wrap="square" lIns="0" tIns="0" rIns="0" bIns="0" rtlCol="0" anchor="t"/>
          <a:lstStyle/>
          <a:p>
            <a:pPr algn="l" indent="0" marL="0">
              <a:lnSpc>
                <a:spcPct val="105000"/>
              </a:lnSpc>
              <a:spcAft>
                <a:spcPts val="200"/>
              </a:spcAft>
              <a:buNone/>
            </a:pPr>
            <a:r>
              <a:rPr lang="en-US" sz="1300" dirty="0">
                <a:solidFill>
                  <a:srgbClr val="0B1F4D"/>
                </a:solidFill>
                <a:latin typeface="Segoe UI Semibold" pitchFamily="34" charset="0"/>
                <a:ea typeface="Segoe UI Semibold" pitchFamily="34" charset="-122"/>
                <a:cs typeface="Segoe UI Semibold" pitchFamily="34" charset="-120"/>
              </a:rPr>
              <a:t>Accuracy levers</a:t>
            </a:r>
            <a:endParaRPr lang="en-US" sz="1300" dirty="0"/>
          </a:p>
        </p:txBody>
      </p:sp>
      <p:sp>
        <p:nvSpPr>
          <p:cNvPr id="17" name="Text 14"/>
          <p:cNvSpPr/>
          <p:nvPr/>
        </p:nvSpPr>
        <p:spPr>
          <a:xfrm>
            <a:off x="8266176" y="4590288"/>
            <a:ext cx="3200400" cy="169164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334155"/>
                </a:solidFill>
                <a:latin typeface="Segoe UI" pitchFamily="34" charset="0"/>
                <a:ea typeface="Segoe UI" pitchFamily="34" charset="-122"/>
                <a:cs typeface="Segoe UI" pitchFamily="34" charset="-120"/>
              </a:rPr>
              <a:t>Confidence gate: never auto-accept below 0.80</a:t>
            </a:r>
            <a:endParaRPr lang="en-US" sz="1050" dirty="0"/>
          </a:p>
          <a:p>
            <a:pPr marL="177800" indent="-177800">
              <a:lnSpc>
                <a:spcPct val="105000"/>
              </a:lnSpc>
              <a:spcAft>
                <a:spcPts val="400"/>
              </a:spcAft>
              <a:buSzPct val="100000"/>
              <a:buChar char="•"/>
            </a:pPr>
            <a:r>
              <a:rPr lang="en-US" sz="1050" dirty="0">
                <a:solidFill>
                  <a:srgbClr val="334155"/>
                </a:solidFill>
                <a:latin typeface="Segoe UI" pitchFamily="34" charset="0"/>
                <a:ea typeface="Segoe UI" pitchFamily="34" charset="-122"/>
                <a:cs typeface="Segoe UI" pitchFamily="34" charset="-120"/>
              </a:rPr>
              <a:t>Cross-checks against contract, intake and receipts</a:t>
            </a:r>
            <a:endParaRPr lang="en-US" sz="1050" dirty="0"/>
          </a:p>
          <a:p>
            <a:pPr marL="177800" indent="-177800">
              <a:lnSpc>
                <a:spcPct val="105000"/>
              </a:lnSpc>
              <a:spcAft>
                <a:spcPts val="400"/>
              </a:spcAft>
              <a:buSzPct val="100000"/>
              <a:buChar char="•"/>
            </a:pPr>
            <a:r>
              <a:rPr lang="en-US" sz="1050" dirty="0">
                <a:solidFill>
                  <a:srgbClr val="334155"/>
                </a:solidFill>
                <a:latin typeface="Segoe UI" pitchFamily="34" charset="0"/>
                <a:ea typeface="Segoe UI" pitchFamily="34" charset="-122"/>
                <a:cs typeface="Segoe UI" pitchFamily="34" charset="-120"/>
              </a:rPr>
              <a:t>Golden-document evaluation per release</a:t>
            </a:r>
            <a:endParaRPr lang="en-US" sz="1050" dirty="0"/>
          </a:p>
          <a:p>
            <a:pPr marL="177800" indent="-177800">
              <a:lnSpc>
                <a:spcPct val="105000"/>
              </a:lnSpc>
              <a:spcAft>
                <a:spcPts val="400"/>
              </a:spcAft>
              <a:buSzPct val="100000"/>
              <a:buChar char="•"/>
            </a:pPr>
            <a:r>
              <a:rPr lang="en-US" sz="1050" dirty="0">
                <a:solidFill>
                  <a:srgbClr val="334155"/>
                </a:solidFill>
                <a:latin typeface="Segoe UI" pitchFamily="34" charset="0"/>
                <a:ea typeface="Segoe UI" pitchFamily="34" charset="-122"/>
                <a:cs typeface="Segoe UI" pitchFamily="34" charset="-120"/>
              </a:rPr>
              <a:t>Human review queue for conflicts</a:t>
            </a:r>
            <a:endParaRPr lang="en-US" sz="105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NEXT STEPS</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Open issues and roadmap</a:t>
            </a:r>
            <a:endParaRPr lang="en-US" sz="2400" dirty="0"/>
          </a:p>
        </p:txBody>
      </p:sp>
      <p:sp>
        <p:nvSpPr>
          <p:cNvPr id="5" name="Text 3"/>
          <p:cNvSpPr/>
          <p:nvPr/>
        </p:nvSpPr>
        <p:spPr>
          <a:xfrm>
            <a:off x="731520" y="1554480"/>
            <a:ext cx="3520440" cy="3611880"/>
          </a:xfrm>
          <a:prstGeom prst="roundRect">
            <a:avLst>
              <a:gd name="adj" fmla="val 1558"/>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6" name="Shape 4"/>
          <p:cNvSpPr/>
          <p:nvPr/>
        </p:nvSpPr>
        <p:spPr>
          <a:xfrm>
            <a:off x="731520" y="1554480"/>
            <a:ext cx="3520440" cy="73152"/>
          </a:xfrm>
          <a:prstGeom prst="rect">
            <a:avLst/>
          </a:prstGeom>
          <a:solidFill>
            <a:srgbClr val="B91C1C"/>
          </a:solidFill>
          <a:ln w="12700">
            <a:solidFill>
              <a:srgbClr val="B91C1C"/>
            </a:solidFill>
            <a:prstDash val="solid"/>
          </a:ln>
        </p:spPr>
      </p:sp>
      <p:sp>
        <p:nvSpPr>
          <p:cNvPr id="7" name="Text 5"/>
          <p:cNvSpPr/>
          <p:nvPr/>
        </p:nvSpPr>
        <p:spPr>
          <a:xfrm>
            <a:off x="914400" y="1783080"/>
            <a:ext cx="3154680" cy="640080"/>
          </a:xfrm>
          <a:prstGeom prst="rect">
            <a:avLst/>
          </a:prstGeom>
          <a:noFill/>
          <a:ln/>
        </p:spPr>
        <p:txBody>
          <a:bodyPr wrap="square" lIns="0" tIns="0" rIns="0" bIns="0" rtlCol="0" anchor="t"/>
          <a:lstStyle/>
          <a:p>
            <a:pPr algn="l" indent="0" marL="0">
              <a:lnSpc>
                <a:spcPct val="105000"/>
              </a:lnSpc>
              <a:spcAft>
                <a:spcPts val="200"/>
              </a:spcAft>
              <a:buNone/>
            </a:pPr>
            <a:r>
              <a:rPr lang="en-US" sz="1500" dirty="0">
                <a:solidFill>
                  <a:srgbClr val="0B1F4D"/>
                </a:solidFill>
                <a:latin typeface="Segoe UI Semibold" pitchFamily="34" charset="0"/>
                <a:ea typeface="Segoe UI Semibold" pitchFamily="34" charset="-122"/>
                <a:cs typeface="Segoe UI Semibold" pitchFamily="34" charset="-120"/>
              </a:rPr>
              <a:t>Now — fix before trusting automation</a:t>
            </a:r>
            <a:endParaRPr lang="en-US" sz="1500" dirty="0"/>
          </a:p>
        </p:txBody>
      </p:sp>
      <p:sp>
        <p:nvSpPr>
          <p:cNvPr id="8" name="Text 6"/>
          <p:cNvSpPr/>
          <p:nvPr/>
        </p:nvSpPr>
        <p:spPr>
          <a:xfrm>
            <a:off x="914400" y="2560320"/>
            <a:ext cx="3154680" cy="2560320"/>
          </a:xfrm>
          <a:prstGeom prst="rect">
            <a:avLst/>
          </a:prstGeom>
          <a:noFill/>
          <a:ln/>
        </p:spPr>
        <p:txBody>
          <a:bodyPr wrap="square" lIns="0" tIns="0" rIns="0" bIns="0" rtlCol="0" anchor="t"/>
          <a:lstStyle/>
          <a:p>
            <a:pPr marL="177800" indent="-177800">
              <a:lnSpc>
                <a:spcPct val="105000"/>
              </a:lnSpc>
              <a:spcAft>
                <a:spcPts val="1000"/>
              </a:spcAft>
              <a:buSzPct val="100000"/>
              <a:buChar char="•"/>
            </a:pPr>
            <a:r>
              <a:rPr lang="en-US" sz="1200" dirty="0">
                <a:solidFill>
                  <a:srgbClr val="334155"/>
                </a:solidFill>
                <a:latin typeface="Segoe UI" pitchFamily="34" charset="0"/>
                <a:ea typeface="Segoe UI" pitchFamily="34" charset="-122"/>
                <a:cs typeface="Segoe UI" pitchFamily="34" charset="-120"/>
              </a:rPr>
              <a:t>Close the extraction gap: 35 wrong auto-accepts on the demo pack (labels and names returned as values)</a:t>
            </a:r>
            <a:endParaRPr lang="en-US" sz="1200" dirty="0"/>
          </a:p>
          <a:p>
            <a:pPr marL="177800" indent="-177800">
              <a:lnSpc>
                <a:spcPct val="105000"/>
              </a:lnSpc>
              <a:spcAft>
                <a:spcPts val="1000"/>
              </a:spcAft>
              <a:buSzPct val="100000"/>
              <a:buChar char="•"/>
            </a:pPr>
            <a:r>
              <a:rPr lang="en-US" sz="1200" dirty="0">
                <a:solidFill>
                  <a:srgbClr val="334155"/>
                </a:solidFill>
                <a:latin typeface="Segoe UI" pitchFamily="34" charset="0"/>
                <a:ea typeface="Segoe UI" pitchFamily="34" charset="-122"/>
                <a:cs typeface="Segoe UI" pitchFamily="34" charset="-120"/>
              </a:rPr>
              <a:t>Evaluation set of real, consented 868 documents</a:t>
            </a:r>
            <a:endParaRPr lang="en-US" sz="1200" dirty="0"/>
          </a:p>
          <a:p>
            <a:pPr marL="177800" indent="-177800">
              <a:lnSpc>
                <a:spcPct val="105000"/>
              </a:lnSpc>
              <a:spcAft>
                <a:spcPts val="1000"/>
              </a:spcAft>
              <a:buSzPct val="100000"/>
              <a:buChar char="•"/>
            </a:pPr>
            <a:r>
              <a:rPr lang="en-US" sz="1200" dirty="0">
                <a:solidFill>
                  <a:srgbClr val="334155"/>
                </a:solidFill>
                <a:latin typeface="Segoe UI" pitchFamily="34" charset="0"/>
                <a:ea typeface="Segoe UI" pitchFamily="34" charset="-122"/>
                <a:cs typeface="Segoe UI" pitchFamily="34" charset="-120"/>
              </a:rPr>
              <a:t>Measure GPU OCR latency and cost per page</a:t>
            </a:r>
            <a:endParaRPr lang="en-US" sz="1200" dirty="0"/>
          </a:p>
        </p:txBody>
      </p:sp>
      <p:sp>
        <p:nvSpPr>
          <p:cNvPr id="9" name="Text 7"/>
          <p:cNvSpPr/>
          <p:nvPr/>
        </p:nvSpPr>
        <p:spPr>
          <a:xfrm>
            <a:off x="4407408" y="1554480"/>
            <a:ext cx="3520440" cy="3611880"/>
          </a:xfrm>
          <a:prstGeom prst="roundRect">
            <a:avLst>
              <a:gd name="adj" fmla="val 1558"/>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0" name="Shape 8"/>
          <p:cNvSpPr/>
          <p:nvPr/>
        </p:nvSpPr>
        <p:spPr>
          <a:xfrm>
            <a:off x="4407408" y="1554480"/>
            <a:ext cx="3520440" cy="73152"/>
          </a:xfrm>
          <a:prstGeom prst="rect">
            <a:avLst/>
          </a:prstGeom>
          <a:solidFill>
            <a:srgbClr val="B45309"/>
          </a:solidFill>
          <a:ln w="12700">
            <a:solidFill>
              <a:srgbClr val="B45309"/>
            </a:solidFill>
            <a:prstDash val="solid"/>
          </a:ln>
        </p:spPr>
      </p:sp>
      <p:sp>
        <p:nvSpPr>
          <p:cNvPr id="11" name="Text 9"/>
          <p:cNvSpPr/>
          <p:nvPr/>
        </p:nvSpPr>
        <p:spPr>
          <a:xfrm>
            <a:off x="4590288" y="1783080"/>
            <a:ext cx="3154680" cy="640080"/>
          </a:xfrm>
          <a:prstGeom prst="rect">
            <a:avLst/>
          </a:prstGeom>
          <a:noFill/>
          <a:ln/>
        </p:spPr>
        <p:txBody>
          <a:bodyPr wrap="square" lIns="0" tIns="0" rIns="0" bIns="0" rtlCol="0" anchor="t"/>
          <a:lstStyle/>
          <a:p>
            <a:pPr algn="l" indent="0" marL="0">
              <a:lnSpc>
                <a:spcPct val="105000"/>
              </a:lnSpc>
              <a:spcAft>
                <a:spcPts val="200"/>
              </a:spcAft>
              <a:buNone/>
            </a:pPr>
            <a:r>
              <a:rPr lang="en-US" sz="1500" dirty="0">
                <a:solidFill>
                  <a:srgbClr val="0B1F4D"/>
                </a:solidFill>
                <a:latin typeface="Segoe UI Semibold" pitchFamily="34" charset="0"/>
                <a:ea typeface="Segoe UI Semibold" pitchFamily="34" charset="-122"/>
                <a:cs typeface="Segoe UI Semibold" pitchFamily="34" charset="-120"/>
              </a:rPr>
              <a:t>Pilot — one exporter, procedure 868</a:t>
            </a:r>
            <a:endParaRPr lang="en-US" sz="1500" dirty="0"/>
          </a:p>
        </p:txBody>
      </p:sp>
      <p:sp>
        <p:nvSpPr>
          <p:cNvPr id="12" name="Text 10"/>
          <p:cNvSpPr/>
          <p:nvPr/>
        </p:nvSpPr>
        <p:spPr>
          <a:xfrm>
            <a:off x="4590288" y="2560320"/>
            <a:ext cx="3154680" cy="2560320"/>
          </a:xfrm>
          <a:prstGeom prst="rect">
            <a:avLst/>
          </a:prstGeom>
          <a:noFill/>
          <a:ln/>
        </p:spPr>
        <p:txBody>
          <a:bodyPr wrap="square" lIns="0" tIns="0" rIns="0" bIns="0" rtlCol="0" anchor="t"/>
          <a:lstStyle/>
          <a:p>
            <a:pPr marL="177800" indent="-177800">
              <a:lnSpc>
                <a:spcPct val="105000"/>
              </a:lnSpc>
              <a:spcAft>
                <a:spcPts val="1000"/>
              </a:spcAft>
              <a:buSzPct val="100000"/>
              <a:buChar char="•"/>
            </a:pPr>
            <a:r>
              <a:rPr lang="en-US" sz="1200" dirty="0">
                <a:solidFill>
                  <a:srgbClr val="334155"/>
                </a:solidFill>
                <a:latin typeface="Segoe UI" pitchFamily="34" charset="0"/>
                <a:ea typeface="Segoe UI" pitchFamily="34" charset="-122"/>
                <a:cs typeface="Segoe UI" pitchFamily="34" charset="-120"/>
              </a:rPr>
              <a:t>Model gateway with Luna / Terra routing and spend budgets</a:t>
            </a:r>
            <a:endParaRPr lang="en-US" sz="1200" dirty="0"/>
          </a:p>
          <a:p>
            <a:pPr marL="177800" indent="-177800">
              <a:lnSpc>
                <a:spcPct val="105000"/>
              </a:lnSpc>
              <a:spcAft>
                <a:spcPts val="1000"/>
              </a:spcAft>
              <a:buSzPct val="100000"/>
              <a:buChar char="•"/>
            </a:pPr>
            <a:r>
              <a:rPr lang="en-US" sz="1200" dirty="0">
                <a:solidFill>
                  <a:srgbClr val="334155"/>
                </a:solidFill>
                <a:latin typeface="Segoe UI" pitchFamily="34" charset="0"/>
                <a:ea typeface="Segoe UI" pitchFamily="34" charset="-122"/>
                <a:cs typeface="Segoe UI" pitchFamily="34" charset="-120"/>
              </a:rPr>
              <a:t>Terra reconciliation on review-band fields; compare with LayoutLM alone</a:t>
            </a:r>
            <a:endParaRPr lang="en-US" sz="1200" dirty="0"/>
          </a:p>
          <a:p>
            <a:pPr marL="177800" indent="-177800">
              <a:lnSpc>
                <a:spcPct val="105000"/>
              </a:lnSpc>
              <a:spcAft>
                <a:spcPts val="1000"/>
              </a:spcAft>
              <a:buSzPct val="100000"/>
              <a:buChar char="•"/>
            </a:pPr>
            <a:r>
              <a:rPr lang="en-US" sz="1200" dirty="0">
                <a:solidFill>
                  <a:srgbClr val="334155"/>
                </a:solidFill>
                <a:latin typeface="Segoe UI" pitchFamily="34" charset="0"/>
                <a:ea typeface="Segoe UI" pitchFamily="34" charset="-122"/>
                <a:cs typeface="Segoe UI" pitchFamily="34" charset="-120"/>
              </a:rPr>
              <a:t>PostgreSQL, object storage, SSO, audit export</a:t>
            </a:r>
            <a:endParaRPr lang="en-US" sz="1200" dirty="0"/>
          </a:p>
        </p:txBody>
      </p:sp>
      <p:sp>
        <p:nvSpPr>
          <p:cNvPr id="13" name="Text 11"/>
          <p:cNvSpPr/>
          <p:nvPr/>
        </p:nvSpPr>
        <p:spPr>
          <a:xfrm>
            <a:off x="8083296" y="1554480"/>
            <a:ext cx="3520440" cy="3611880"/>
          </a:xfrm>
          <a:prstGeom prst="roundRect">
            <a:avLst>
              <a:gd name="adj" fmla="val 1558"/>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14" name="Shape 12"/>
          <p:cNvSpPr/>
          <p:nvPr/>
        </p:nvSpPr>
        <p:spPr>
          <a:xfrm>
            <a:off x="8083296" y="1554480"/>
            <a:ext cx="3520440" cy="73152"/>
          </a:xfrm>
          <a:prstGeom prst="rect">
            <a:avLst/>
          </a:prstGeom>
          <a:solidFill>
            <a:srgbClr val="047857"/>
          </a:solidFill>
          <a:ln w="12700">
            <a:solidFill>
              <a:srgbClr val="047857"/>
            </a:solidFill>
            <a:prstDash val="solid"/>
          </a:ln>
        </p:spPr>
      </p:sp>
      <p:sp>
        <p:nvSpPr>
          <p:cNvPr id="15" name="Text 13"/>
          <p:cNvSpPr/>
          <p:nvPr/>
        </p:nvSpPr>
        <p:spPr>
          <a:xfrm>
            <a:off x="8266176" y="1783080"/>
            <a:ext cx="3154680" cy="640080"/>
          </a:xfrm>
          <a:prstGeom prst="rect">
            <a:avLst/>
          </a:prstGeom>
          <a:noFill/>
          <a:ln/>
        </p:spPr>
        <p:txBody>
          <a:bodyPr wrap="square" lIns="0" tIns="0" rIns="0" bIns="0" rtlCol="0" anchor="t"/>
          <a:lstStyle/>
          <a:p>
            <a:pPr algn="l" indent="0" marL="0">
              <a:lnSpc>
                <a:spcPct val="105000"/>
              </a:lnSpc>
              <a:spcAft>
                <a:spcPts val="200"/>
              </a:spcAft>
              <a:buNone/>
            </a:pPr>
            <a:r>
              <a:rPr lang="en-US" sz="1500" dirty="0">
                <a:solidFill>
                  <a:srgbClr val="0B1F4D"/>
                </a:solidFill>
                <a:latin typeface="Segoe UI Semibold" pitchFamily="34" charset="0"/>
                <a:ea typeface="Segoe UI Semibold" pitchFamily="34" charset="-122"/>
                <a:cs typeface="Segoe UI Semibold" pitchFamily="34" charset="-120"/>
              </a:rPr>
              <a:t>Scale — more procedures and integrations</a:t>
            </a:r>
            <a:endParaRPr lang="en-US" sz="1500" dirty="0"/>
          </a:p>
        </p:txBody>
      </p:sp>
      <p:sp>
        <p:nvSpPr>
          <p:cNvPr id="16" name="Text 14"/>
          <p:cNvSpPr/>
          <p:nvPr/>
        </p:nvSpPr>
        <p:spPr>
          <a:xfrm>
            <a:off x="8266176" y="2560320"/>
            <a:ext cx="3154680" cy="2560320"/>
          </a:xfrm>
          <a:prstGeom prst="rect">
            <a:avLst/>
          </a:prstGeom>
          <a:noFill/>
          <a:ln/>
        </p:spPr>
        <p:txBody>
          <a:bodyPr wrap="square" lIns="0" tIns="0" rIns="0" bIns="0" rtlCol="0" anchor="t"/>
          <a:lstStyle/>
          <a:p>
            <a:pPr marL="177800" indent="-177800">
              <a:lnSpc>
                <a:spcPct val="105000"/>
              </a:lnSpc>
              <a:spcAft>
                <a:spcPts val="1000"/>
              </a:spcAft>
              <a:buSzPct val="100000"/>
              <a:buChar char="•"/>
            </a:pPr>
            <a:r>
              <a:rPr lang="en-US" sz="1200" dirty="0">
                <a:solidFill>
                  <a:srgbClr val="334155"/>
                </a:solidFill>
                <a:latin typeface="Segoe UI" pitchFamily="34" charset="0"/>
                <a:ea typeface="Segoe UI" pitchFamily="34" charset="-122"/>
                <a:cs typeface="Segoe UI" pitchFamily="34" charset="-120"/>
              </a:rPr>
              <a:t>Single Window, railway portal, customs cabinet integrations (replace simulation)</a:t>
            </a:r>
            <a:endParaRPr lang="en-US" sz="1200" dirty="0"/>
          </a:p>
          <a:p>
            <a:pPr marL="177800" indent="-177800">
              <a:lnSpc>
                <a:spcPct val="105000"/>
              </a:lnSpc>
              <a:spcAft>
                <a:spcPts val="1000"/>
              </a:spcAft>
              <a:buSzPct val="100000"/>
              <a:buChar char="•"/>
            </a:pPr>
            <a:r>
              <a:rPr lang="en-US" sz="1200" dirty="0">
                <a:solidFill>
                  <a:srgbClr val="334155"/>
                </a:solidFill>
                <a:latin typeface="Segoe UI" pitchFamily="34" charset="0"/>
                <a:ea typeface="Segoe UI" pitchFamily="34" charset="-122"/>
                <a:cs typeface="Segoe UI" pitchFamily="34" charset="-120"/>
              </a:rPr>
              <a:t>Demo packs and specs for 306, 325, 477, 540</a:t>
            </a:r>
            <a:endParaRPr lang="en-US" sz="1200" dirty="0"/>
          </a:p>
          <a:p>
            <a:pPr marL="177800" indent="-177800">
              <a:lnSpc>
                <a:spcPct val="105000"/>
              </a:lnSpc>
              <a:spcAft>
                <a:spcPts val="1000"/>
              </a:spcAft>
              <a:buSzPct val="100000"/>
              <a:buChar char="•"/>
            </a:pPr>
            <a:r>
              <a:rPr lang="en-US" sz="1200" dirty="0">
                <a:solidFill>
                  <a:srgbClr val="334155"/>
                </a:solidFill>
                <a:latin typeface="Segoe UI" pitchFamily="34" charset="0"/>
                <a:ea typeface="Segoe UI" pitchFamily="34" charset="-122"/>
                <a:cs typeface="Segoe UI" pitchFamily="34" charset="-120"/>
              </a:rPr>
              <a:t>Sourced tariff schedule for duty; inspection history for risk</a:t>
            </a:r>
            <a:endParaRPr lang="en-US" sz="1200" dirty="0"/>
          </a:p>
        </p:txBody>
      </p:sp>
      <p:sp>
        <p:nvSpPr>
          <p:cNvPr id="17" name="Text 15"/>
          <p:cNvSpPr/>
          <p:nvPr/>
        </p:nvSpPr>
        <p:spPr>
          <a:xfrm>
            <a:off x="731520" y="5349240"/>
            <a:ext cx="10881360" cy="960120"/>
          </a:xfrm>
          <a:prstGeom prst="roundRect">
            <a:avLst>
              <a:gd name="adj" fmla="val 5714"/>
            </a:avLst>
          </a:prstGeom>
          <a:solidFill>
            <a:srgbClr val="0B1F4D"/>
          </a:solidFill>
          <a:ln w="12700">
            <a:solidFill>
              <a:srgbClr val="0B1F4D"/>
            </a:solidFill>
            <a:prstDash val="solid"/>
          </a:ln>
        </p:spPr>
        <p:txBody>
          <a:bodyPr wrap="square" lIns="152400" tIns="152400" rIns="152400" bIns="152400" rtlCol="0" anchor="ctr"/>
          <a:lstStyle/>
          <a:p>
            <a:pPr algn="l" indent="0" marL="0">
              <a:buNone/>
            </a:pPr>
            <a:r>
              <a:rPr lang="en-US" sz="1300" b="1" dirty="0">
                <a:solidFill>
                  <a:srgbClr val="FFFFFF"/>
                </a:solidFill>
                <a:latin typeface="Segoe UI" pitchFamily="34" charset="0"/>
                <a:ea typeface="Segoe UI" pitchFamily="34" charset="-122"/>
                <a:cs typeface="Segoe UI" pitchFamily="34" charset="-120"/>
              </a:rPr>
              <a:t>Recommendation</a:t>
            </a:r>
            <a:endParaRPr lang="en-US" sz="1100" dirty="0"/>
          </a:p>
          <a:p>
            <a:pPr algn="l" indent="0" marL="0">
              <a:buNone/>
            </a:pPr>
            <a:r>
              <a:rPr lang="en-US" sz="1150" dirty="0">
                <a:solidFill>
                  <a:srgbClr val="DCE6FA"/>
                </a:solidFill>
                <a:latin typeface="Segoe UI" pitchFamily="34" charset="0"/>
                <a:ea typeface="Segoe UI" pitchFamily="34" charset="-122"/>
                <a:cs typeface="Segoe UI" pitchFamily="34" charset="-120"/>
              </a:rPr>
              <a:t>Pilot procedure 868 with tiered models (Luna interactive, Terra for documents, risk and escalations — $0.609 model spend per case), self-hosted OCR + LayoutLM on one reserved L4 GPU ($383/month), and the extraction gap closed before auto-accept is trusted.</a:t>
            </a:r>
            <a:endParaRPr lang="en-US" sz="11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365760"/>
            <a:ext cx="64008" cy="749808"/>
          </a:xfrm>
          <a:prstGeom prst="rect">
            <a:avLst/>
          </a:prstGeom>
          <a:solidFill>
            <a:srgbClr val="2563EB"/>
          </a:solidFill>
          <a:ln w="12700">
            <a:solidFill>
              <a:srgbClr val="2563EB"/>
            </a:solidFill>
            <a:prstDash val="solid"/>
          </a:ln>
        </p:spPr>
      </p:sp>
      <p:sp>
        <p:nvSpPr>
          <p:cNvPr id="3" name="Text 1"/>
          <p:cNvSpPr/>
          <p:nvPr/>
        </p:nvSpPr>
        <p:spPr>
          <a:xfrm>
            <a:off x="731520" y="310896"/>
            <a:ext cx="10789920" cy="274320"/>
          </a:xfrm>
          <a:prstGeom prst="rect">
            <a:avLst/>
          </a:prstGeom>
          <a:noFill/>
          <a:ln/>
        </p:spPr>
        <p:txBody>
          <a:bodyPr wrap="square" lIns="0" tIns="0" rIns="0" bIns="0" rtlCol="0" anchor="ctr"/>
          <a:lstStyle/>
          <a:p>
            <a:pPr indent="0" marL="0">
              <a:buNone/>
            </a:pPr>
            <a:r>
              <a:rPr lang="en-US" sz="1050" b="1" spc="150" kern="0" dirty="0">
                <a:solidFill>
                  <a:srgbClr val="2563EB"/>
                </a:solidFill>
                <a:latin typeface="Segoe UI" pitchFamily="34" charset="0"/>
                <a:ea typeface="Segoe UI" pitchFamily="34" charset="-122"/>
                <a:cs typeface="Segoe UI" pitchFamily="34" charset="-120"/>
              </a:rPr>
              <a:t>APPENDIX</a:t>
            </a:r>
            <a:endParaRPr lang="en-US" sz="1050" dirty="0"/>
          </a:p>
        </p:txBody>
      </p:sp>
      <p:sp>
        <p:nvSpPr>
          <p:cNvPr id="4" name="Text 2"/>
          <p:cNvSpPr/>
          <p:nvPr/>
        </p:nvSpPr>
        <p:spPr>
          <a:xfrm>
            <a:off x="731520" y="548640"/>
            <a:ext cx="10881360" cy="548640"/>
          </a:xfrm>
          <a:prstGeom prst="rect">
            <a:avLst/>
          </a:prstGeom>
          <a:noFill/>
          <a:ln/>
        </p:spPr>
        <p:txBody>
          <a:bodyPr wrap="square" lIns="0" tIns="0" rIns="0" bIns="0" rtlCol="0" anchor="ctr"/>
          <a:lstStyle/>
          <a:p>
            <a:pPr indent="0" marL="0">
              <a:buNone/>
            </a:pPr>
            <a:r>
              <a:rPr lang="en-US" sz="2400" dirty="0">
                <a:solidFill>
                  <a:srgbClr val="0B1F4D"/>
                </a:solidFill>
                <a:latin typeface="Segoe UI Semibold" pitchFamily="34" charset="0"/>
                <a:ea typeface="Segoe UI Semibold" pitchFamily="34" charset="-122"/>
                <a:cs typeface="Segoe UI Semibold" pitchFamily="34" charset="-120"/>
              </a:rPr>
              <a:t>Sources and assumptions</a:t>
            </a:r>
            <a:endParaRPr lang="en-US" sz="2400" dirty="0"/>
          </a:p>
        </p:txBody>
      </p:sp>
      <p:sp>
        <p:nvSpPr>
          <p:cNvPr id="5" name="Text 3"/>
          <p:cNvSpPr/>
          <p:nvPr/>
        </p:nvSpPr>
        <p:spPr>
          <a:xfrm>
            <a:off x="731520" y="1463040"/>
            <a:ext cx="5486400" cy="4846320"/>
          </a:xfrm>
          <a:prstGeom prst="roundRect">
            <a:avLst>
              <a:gd name="adj" fmla="val 1509"/>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6" name="Text 4"/>
          <p:cNvSpPr/>
          <p:nvPr/>
        </p:nvSpPr>
        <p:spPr>
          <a:xfrm>
            <a:off x="896112" y="1572768"/>
            <a:ext cx="515721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SOURCES (ACCESSED 14 SEPTEMBER 2026)</a:t>
            </a:r>
            <a:endParaRPr lang="en-US" sz="950" dirty="0"/>
          </a:p>
        </p:txBody>
      </p:sp>
      <p:sp>
        <p:nvSpPr>
          <p:cNvPr id="7" name="Text 5"/>
          <p:cNvSpPr/>
          <p:nvPr/>
        </p:nvSpPr>
        <p:spPr>
          <a:xfrm>
            <a:off x="914400" y="1783080"/>
            <a:ext cx="5166360" cy="4480560"/>
          </a:xfrm>
          <a:prstGeom prst="rect">
            <a:avLst/>
          </a:prstGeom>
          <a:noFill/>
          <a:ln/>
        </p:spPr>
        <p:txBody>
          <a:bodyPr wrap="square" lIns="0" tIns="0" rIns="0" bIns="0" rtlCol="0" anchor="t"/>
          <a:lstStyle/>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OpenAI API pricing — developers.openai.com/api/docs/pricing</a:t>
            </a:r>
            <a:endParaRPr lang="en-US" sz="1000" dirty="0"/>
          </a:p>
          <a:p>
            <a:pPr algn="l" indent="0" marL="0">
              <a:lnSpc>
                <a:spcPct val="105000"/>
              </a:lnSpc>
              <a:spcAft>
                <a:spcPts val="300"/>
              </a:spcAft>
              <a:buNone/>
            </a:pPr>
            <a:r>
              <a:rPr lang="en-US" sz="900" dirty="0">
                <a:solidFill>
                  <a:srgbClr val="64748B"/>
                </a:solidFill>
                <a:latin typeface="Segoe UI" pitchFamily="34" charset="0"/>
                <a:ea typeface="Segoe UI" pitchFamily="34" charset="-122"/>
                <a:cs typeface="Segoe UI" pitchFamily="34" charset="-120"/>
              </a:rPr>
              <a:t>Luna $0.20/$0.02/$1.20 · Terra $2/$0.20/$12 · GPT-5.5 $5/$0.50/$30 per 1M (input/cached/output); Batch &amp; Flex 50%; Fast 2× (GPT-5.5 2.5×); regional processing +10%</a:t>
            </a:r>
            <a:endParaRPr lang="en-US" sz="1000" dirty="0"/>
          </a:p>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OpenAI model pages — GPT-5.6 Luna, GPT-5.6 Terra, GPT-5.5</a:t>
            </a:r>
            <a:endParaRPr lang="en-US" sz="1000" dirty="0"/>
          </a:p>
          <a:p>
            <a:pPr algn="l" indent="0" marL="0">
              <a:lnSpc>
                <a:spcPct val="105000"/>
              </a:lnSpc>
              <a:spcAft>
                <a:spcPts val="300"/>
              </a:spcAft>
              <a:buNone/>
            </a:pPr>
            <a:r>
              <a:rPr lang="en-US" sz="900" dirty="0">
                <a:solidFill>
                  <a:srgbClr val="64748B"/>
                </a:solidFill>
                <a:latin typeface="Segoe UI" pitchFamily="34" charset="0"/>
                <a:ea typeface="Segoe UI" pitchFamily="34" charset="-122"/>
                <a:cs typeface="Segoe UI" pitchFamily="34" charset="-120"/>
              </a:rPr>
              <a:t>1,050,000-token context; text + image input; structured outputs; image tokens: 32 px patches × 1.2</a:t>
            </a:r>
            <a:endParaRPr lang="en-US" sz="1000" dirty="0"/>
          </a:p>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Artificial Analysis — model pages and comparisons</a:t>
            </a:r>
            <a:endParaRPr lang="en-US" sz="1000" dirty="0"/>
          </a:p>
          <a:p>
            <a:pPr algn="l" indent="0" marL="0">
              <a:lnSpc>
                <a:spcPct val="105000"/>
              </a:lnSpc>
              <a:spcAft>
                <a:spcPts val="300"/>
              </a:spcAft>
              <a:buNone/>
            </a:pPr>
            <a:r>
              <a:rPr lang="en-US" sz="900" dirty="0">
                <a:solidFill>
                  <a:srgbClr val="64748B"/>
                </a:solidFill>
                <a:latin typeface="Segoe UI" pitchFamily="34" charset="0"/>
                <a:ea typeface="Segoe UI" pitchFamily="34" charset="-122"/>
                <a:cs typeface="Segoe UI" pitchFamily="34" charset="-120"/>
              </a:rPr>
              <a:t>Intelligence Index, time to first token, output tokens/s for Luna (low), Terra (low, high), GPT-5.5 (low, medium)</a:t>
            </a:r>
            <a:endParaRPr lang="en-US" sz="1000" dirty="0"/>
          </a:p>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Vantage — AWS g6.xlarge (NVIDIA L4, 24 GiB): $0.805/h on demand, $0.524/h 1-yr reserved</a:t>
            </a:r>
            <a:endParaRPr lang="en-US" sz="1000" dirty="0"/>
          </a:p>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AWS Textract pricing (US West) &amp; supported languages; Azure Document Intelligence and Google Document AI pricing (published per-1,000-page rates)</a:t>
            </a:r>
            <a:endParaRPr lang="en-US" sz="1000" dirty="0"/>
          </a:p>
          <a:p>
            <a:pPr algn="l" indent="0" marL="0">
              <a:lnSpc>
                <a:spcPct val="105000"/>
              </a:lnSpc>
              <a:spcAft>
                <a:spcPts val="300"/>
              </a:spcAft>
              <a:buNone/>
            </a:pPr>
            <a:r>
              <a:rPr lang="en-US" sz="1000" b="1" dirty="0">
                <a:solidFill>
                  <a:srgbClr val="0F1729"/>
                </a:solidFill>
                <a:latin typeface="Segoe UI" pitchFamily="34" charset="0"/>
                <a:ea typeface="Segoe UI" pitchFamily="34" charset="-122"/>
                <a:cs typeface="Segoe UI" pitchFamily="34" charset="-120"/>
              </a:rPr>
              <a:t>UzTrade prototype — apps/docai benchmarks and eval reports; procedure 868 data from the app's modules</a:t>
            </a:r>
            <a:endParaRPr lang="en-US" sz="1000" dirty="0"/>
          </a:p>
        </p:txBody>
      </p:sp>
      <p:sp>
        <p:nvSpPr>
          <p:cNvPr id="8" name="Text 6"/>
          <p:cNvSpPr/>
          <p:nvPr/>
        </p:nvSpPr>
        <p:spPr>
          <a:xfrm>
            <a:off x="6400800" y="1463040"/>
            <a:ext cx="5212080" cy="4846320"/>
          </a:xfrm>
          <a:prstGeom prst="roundRect">
            <a:avLst>
              <a:gd name="adj" fmla="val 1509"/>
            </a:avLst>
          </a:prstGeom>
          <a:solidFill>
            <a:srgbClr val="F8FAFC"/>
          </a:solidFill>
          <a:ln w="12700">
            <a:solidFill>
              <a:srgbClr val="D8DEE8"/>
            </a:solidFill>
            <a:prstDash val="solid"/>
          </a:ln>
        </p:spPr>
        <p:txBody>
          <a:bodyPr wrap="square" lIns="76200" tIns="76200" rIns="76200" bIns="76200" rtlCol="0" anchor="ctr"/>
          <a:lstStyle/>
          <a:p>
            <a:pPr algn="ctr" indent="0" marL="0">
              <a:buNone/>
            </a:pPr>
            <a:endParaRPr lang="en-US" sz="1100" dirty="0"/>
          </a:p>
        </p:txBody>
      </p:sp>
      <p:sp>
        <p:nvSpPr>
          <p:cNvPr id="9" name="Text 7"/>
          <p:cNvSpPr/>
          <p:nvPr/>
        </p:nvSpPr>
        <p:spPr>
          <a:xfrm>
            <a:off x="6565392" y="1572768"/>
            <a:ext cx="4882896" cy="256032"/>
          </a:xfrm>
          <a:prstGeom prst="rect">
            <a:avLst/>
          </a:prstGeom>
          <a:noFill/>
          <a:ln/>
        </p:spPr>
        <p:txBody>
          <a:bodyPr wrap="square" lIns="0" tIns="0" rIns="0" bIns="0" rtlCol="0" anchor="ctr"/>
          <a:lstStyle/>
          <a:p>
            <a:pPr indent="0" marL="0">
              <a:buNone/>
            </a:pPr>
            <a:r>
              <a:rPr lang="en-US" sz="950" b="1" spc="100" kern="0" dirty="0">
                <a:solidFill>
                  <a:srgbClr val="64748B"/>
                </a:solidFill>
                <a:latin typeface="Segoe UI" pitchFamily="34" charset="0"/>
                <a:ea typeface="Segoe UI" pitchFamily="34" charset="-122"/>
                <a:cs typeface="Segoe UI" pitchFamily="34" charset="-120"/>
              </a:rPr>
              <a:t>ASSUMPTIONS</a:t>
            </a:r>
            <a:endParaRPr lang="en-US" sz="950" dirty="0"/>
          </a:p>
        </p:txBody>
      </p:sp>
      <p:sp>
        <p:nvSpPr>
          <p:cNvPr id="10" name="Text 8"/>
          <p:cNvSpPr/>
          <p:nvPr/>
        </p:nvSpPr>
        <p:spPr>
          <a:xfrm>
            <a:off x="6583680" y="1783080"/>
            <a:ext cx="4846320" cy="448056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000" dirty="0">
                <a:solidFill>
                  <a:srgbClr val="334155"/>
                </a:solidFill>
                <a:latin typeface="Segoe UI" pitchFamily="34" charset="0"/>
                <a:ea typeface="Segoe UI" pitchFamily="34" charset="-122"/>
                <a:cs typeface="Segoe UI" pitchFamily="34" charset="-120"/>
              </a:rPr>
              <a:t>Per case: 6 intake calls (1.5k in, 150 out), 48 guidance calls (3k in, 80% cached, 300 out), 30 document reconciliations (4k in, 30% cached, 600 out), 4 risk runs (8k in, 50% cached, 1.2k out, Flex), 2 escalations (12k in, 4k out incl. reasoning)</a:t>
            </a:r>
            <a:endParaRPr lang="en-US" sz="1000" dirty="0"/>
          </a:p>
          <a:p>
            <a:pPr marL="177800" indent="-177800">
              <a:lnSpc>
                <a:spcPct val="105000"/>
              </a:lnSpc>
              <a:spcAft>
                <a:spcPts val="500"/>
              </a:spcAft>
              <a:buSzPct val="100000"/>
              <a:buChar char="•"/>
            </a:pPr>
            <a:r>
              <a:rPr lang="en-US" sz="1000" dirty="0">
                <a:solidFill>
                  <a:srgbClr val="334155"/>
                </a:solidFill>
                <a:latin typeface="Segoe UI" pitchFamily="34" charset="0"/>
                <a:ea typeface="Segoe UI" pitchFamily="34" charset="-122"/>
                <a:cs typeface="Segoe UI" pitchFamily="34" charset="-120"/>
              </a:rPr>
              <a:t>Pages: ~30 documents × 1.5 pages = 45 pages per case; 1,000 cases per month</a:t>
            </a:r>
            <a:endParaRPr lang="en-US" sz="1000" dirty="0"/>
          </a:p>
          <a:p>
            <a:pPr marL="177800" indent="-177800">
              <a:lnSpc>
                <a:spcPct val="105000"/>
              </a:lnSpc>
              <a:spcAft>
                <a:spcPts val="500"/>
              </a:spcAft>
              <a:buSzPct val="100000"/>
              <a:buChar char="•"/>
            </a:pPr>
            <a:r>
              <a:rPr lang="en-US" sz="1000" dirty="0">
                <a:solidFill>
                  <a:srgbClr val="334155"/>
                </a:solidFill>
                <a:latin typeface="Segoe UI" pitchFamily="34" charset="0"/>
                <a:ea typeface="Segoe UI" pitchFamily="34" charset="-122"/>
                <a:cs typeface="Segoe UI" pitchFamily="34" charset="-120"/>
              </a:rPr>
              <a:t>GPU: one reserved L4 running 730 h/month; throughput not yet measured</a:t>
            </a:r>
            <a:endParaRPr lang="en-US" sz="1000" dirty="0"/>
          </a:p>
          <a:p>
            <a:pPr marL="177800" indent="-177800">
              <a:lnSpc>
                <a:spcPct val="105000"/>
              </a:lnSpc>
              <a:spcAft>
                <a:spcPts val="500"/>
              </a:spcAft>
              <a:buSzPct val="100000"/>
              <a:buChar char="•"/>
            </a:pPr>
            <a:r>
              <a:rPr lang="en-US" sz="1000" dirty="0">
                <a:solidFill>
                  <a:srgbClr val="334155"/>
                </a:solidFill>
                <a:latin typeface="Segoe UI" pitchFamily="34" charset="0"/>
                <a:ea typeface="Segoe UI" pitchFamily="34" charset="-122"/>
                <a:cs typeface="Segoe UI" pitchFamily="34" charset="-120"/>
              </a:rPr>
              <a:t>Vision call: 2,574 image tokens + 800 prompt tokens in, 400 out</a:t>
            </a:r>
            <a:endParaRPr lang="en-US" sz="1000" dirty="0"/>
          </a:p>
          <a:p>
            <a:pPr marL="177800" indent="-177800">
              <a:lnSpc>
                <a:spcPct val="105000"/>
              </a:lnSpc>
              <a:spcAft>
                <a:spcPts val="500"/>
              </a:spcAft>
              <a:buSzPct val="100000"/>
              <a:buChar char="•"/>
            </a:pPr>
            <a:r>
              <a:rPr lang="en-US" sz="1000" dirty="0">
                <a:solidFill>
                  <a:srgbClr val="334155"/>
                </a:solidFill>
                <a:latin typeface="Segoe UI" pitchFamily="34" charset="0"/>
                <a:ea typeface="Segoe UI" pitchFamily="34" charset="-122"/>
                <a:cs typeface="Segoe UI" pitchFamily="34" charset="-120"/>
              </a:rPr>
              <a:t>Latency estimate = time to first token + visible output ÷ output speed</a:t>
            </a:r>
            <a:endParaRPr lang="en-US" sz="1000" dirty="0"/>
          </a:p>
          <a:p>
            <a:pPr marL="177800" indent="-177800">
              <a:lnSpc>
                <a:spcPct val="105000"/>
              </a:lnSpc>
              <a:spcAft>
                <a:spcPts val="500"/>
              </a:spcAft>
              <a:buSzPct val="100000"/>
              <a:buChar char="•"/>
            </a:pPr>
            <a:r>
              <a:rPr lang="en-US" sz="1000" dirty="0">
                <a:solidFill>
                  <a:srgbClr val="334155"/>
                </a:solidFill>
                <a:latin typeface="Segoe UI" pitchFamily="34" charset="0"/>
                <a:ea typeface="Segoe UI" pitchFamily="34" charset="-122"/>
                <a:cs typeface="Segoe UI" pitchFamily="34" charset="-120"/>
              </a:rPr>
              <a:t>Prices and benchmarks change — re-check before budgeting</a:t>
            </a:r>
            <a:endParaRPr lang="en-US" sz="1000" dirty="0"/>
          </a:p>
        </p:txBody>
      </p:sp>
      <p:sp>
        <p:nvSpPr>
          <p:cNvPr id="25" name="Slide Number Placeholder 0"/>
          <p:cNvSpPr>
            <a:spLocks noGrp="1"/>
          </p:cNvSpPr>
          <p:nvPr>
            <p:ph type="sldNum" sz="quarter" idx="4294967295"/>
          </p:nvPr>
        </p:nvSpPr>
        <p:spPr>
          <a:xfrm>
            <a:off x="11183112" y="652881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UzTrade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UzTrade — Procedure 868: agents, architecture, cost and latency</dc:title>
  <dc:subject>PptxGenJS Presentation</dc:subject>
  <dc:creator>UzTrade</dc:creator>
  <cp:lastModifiedBy>UzTrade</cp:lastModifiedBy>
  <cp:revision>1</cp:revision>
  <dcterms:created xsi:type="dcterms:W3CDTF">2026-09-14T08:39:42Z</dcterms:created>
  <dcterms:modified xsi:type="dcterms:W3CDTF">2026-09-14T08:39:42Z</dcterms:modified>
</cp:coreProperties>
</file>
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 · GPT-5.5 everywhere</c:v>
                  </c:pt>
                  <c:pt idx="1">
                    <c:v>C · Terra everywhere</c:v>
                  </c:pt>
                  <c:pt idx="2">
                    <c:v>B · Luna everywhere</c:v>
                  </c:pt>
                  <c:pt idx="3">
                    <c:v>A · Local OCR, Luna review, Terra risk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0.9983</c:v>
                </c:pt>
                <c:pt idx="1">
                  <c:v>0.3993</c:v>
                </c:pt>
                <c:pt idx="2">
                  <c:v>0.0399</c:v>
                </c:pt>
                <c:pt idx="3">
                  <c:v>0.0083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 · GPT-5.5 everywhere</c:v>
                  </c:pt>
                  <c:pt idx="1">
                    <c:v>C · Terra everywhere</c:v>
                  </c:pt>
                  <c:pt idx="2">
                    <c:v>B · Luna everywhere</c:v>
                  </c:pt>
                  <c:pt idx="3">
                    <c:v>A · Local OCR, Luna review, Terra risk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0.2025</c:v>
                </c:pt>
                <c:pt idx="1">
                  <c:v>0.081</c:v>
                </c:pt>
                <c:pt idx="2">
                  <c:v>0.0081</c:v>
                </c:pt>
                <c:pt idx="3">
                  <c:v>0.081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Intake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 · GPT-5.5 everywhere</c:v>
                  </c:pt>
                  <c:pt idx="1">
                    <c:v>C · Terra everywhere</c:v>
                  </c:pt>
                  <c:pt idx="2">
                    <c:v>B · Luna everywhere</c:v>
                  </c:pt>
                  <c:pt idx="3">
                    <c:v>A · Local OCR, Luna review, Terra risk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0.033</c:v>
                </c:pt>
                <c:pt idx="1">
                  <c:v>0.0132</c:v>
                </c:pt>
                <c:pt idx="2">
                  <c:v>0.0013</c:v>
                </c:pt>
                <c:pt idx="3">
                  <c:v>0.0013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$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98781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function that decides whether an agent step may run also decides whether a trader step may complete, so the chat and the engine can never disagree about what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AGENTIC TRADE PLATFORM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of tea by train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Procedure 868 — from the first question to a dispatched wagon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intake agent, workflow orchestrator, Document Intelligence and Risk &amp; Compliance agents run a shipment,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architecture today, a production architecture, and the model choices behind its cost and latency.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  The procedure at a glance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  Block dependencies and critical path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  Starting a case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  Intake agent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  What is collected upfront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  Workflow orchestrator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  How the platform knows what a document must show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41732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  Key steps, one by one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  Document Intelligence agent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  Risk &amp; Compliance agent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  Reaching government portals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  Current architecture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  Production architecture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  Model choices, cost and latency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PROCEDURE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of tea by train at a glance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 procedure 868 — every number below is read from the procedure data the app runs 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73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929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" y="23682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blocks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55848" y="16002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673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 duration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93008" y="1929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81–244 h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93008" y="23682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path 196 h (8 d 4 h)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63056" y="16002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1673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Bodies involved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0216" y="1929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00216" y="23682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ministries, railway, bank, labs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70264" y="16002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07424" y="1673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vs in person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07424" y="192938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/ 26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107424" y="23682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does each step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7118223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29000"/>
            <a:ext cx="711822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7145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(signature, money, presence)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94295" y="3429000"/>
            <a:ext cx="2047113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4295" y="3429000"/>
            <a:ext cx="204711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94295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(integrated portal filings)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768840" y="3429000"/>
            <a:ext cx="181660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68840" y="3429000"/>
            <a:ext cx="1816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6884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the goods (inspection, loading)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34340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453128"/>
            <a:ext cx="54864" cy="1655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4165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so few agent steps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31520" y="4745736"/>
            <a:ext cx="3273552" cy="1399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Portals bound to your e-signature (my.gov.uz) stay with you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and legally binding acts are yours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Inspection and loading need the goods present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15968" y="434340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15968" y="4453128"/>
            <a:ext cx="54864" cy="16550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44165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Bottleneck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498848" y="4745736"/>
            <a:ext cx="3273552" cy="1399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"Arrange freight transportation by railway" — 24% of the critical path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Wagons, GU-12 approval and the station's schedule decide the pace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83296" y="4343400"/>
            <a:ext cx="35661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83296" y="4453128"/>
            <a:ext cx="54864" cy="1655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66176" y="44165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Shipment used in this deck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266176" y="4745736"/>
            <a:ext cx="3273552" cy="1399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t of black tea · 2 covered wagons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Tashkent → Moscow, via Kazakhstan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Russia is an EAEU member → origin proof CT-1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PROCEDURE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Blocks, dependencies and the critical path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block becomes ready only when every block it depends on is done. Highlighted blocks form the critical path.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2871216"/>
            <a:ext cx="320040" cy="4572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286000" y="3328416"/>
            <a:ext cx="320040" cy="45720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3328416"/>
            <a:ext cx="320040" cy="68580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2286000" y="4014216"/>
            <a:ext cx="2423160" cy="6858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92240" y="4014216"/>
            <a:ext cx="320040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4014216"/>
            <a:ext cx="91440" cy="77724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2286000" y="4791456"/>
            <a:ext cx="6400800" cy="8229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10287000" y="4791456"/>
            <a:ext cx="182880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" y="16002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1600200"/>
            <a:ext cx="169164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B1 · steps 1–1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 of export contract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2–8 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25146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" y="2514600"/>
            <a:ext cx="169164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 · steps 2–6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 for cargo delivery by train online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10–30 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34290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EEF4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3429000"/>
            <a:ext cx="169164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B3 · steps 7–10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Obtain code notification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12–36 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43434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4343400"/>
            <a:ext cx="169164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B4 · steps 11–18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Obtain internal phytosanitary certificate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24–72 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06040" y="29718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EEF4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60904" y="2971800"/>
            <a:ext cx="169164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B5 · steps 19–22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Arrange freight transportation by railway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16–48 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36576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EEF4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3657600"/>
            <a:ext cx="169164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B6 · steps 23–26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freight loading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10–30 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12280" y="36576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EEF4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67144" y="3657600"/>
            <a:ext cx="169164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B7 · steps 27–31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Obtain phytosanitary certificate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10–30 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5257800"/>
            <a:ext cx="17830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" y="5257800"/>
            <a:ext cx="169164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B8 · steps 32–40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Obtain certificate of origin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24–72 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686800" y="443484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EEF4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41664" y="4434840"/>
            <a:ext cx="141732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B9 · steps 41–46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Undergo customs clearance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12–40 h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287000" y="4434840"/>
            <a:ext cx="1508760" cy="713232"/>
          </a:xfrm>
          <a:prstGeom prst="roundRect">
            <a:avLst>
              <a:gd name="adj" fmla="val 6410"/>
            </a:avLst>
          </a:prstGeom>
          <a:solidFill>
            <a:srgbClr val="EEF4FF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41864" y="4434840"/>
            <a:ext cx="141732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B10 · steps 47–48</a:t>
            </a:r>
            <a:endParaRPr lang="en-US" sz="800" dirty="0"/>
          </a:p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4–12 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66560" y="1554480"/>
            <a:ext cx="489204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blocks start the moment the case opens — contract registration, railway preparation, code notification, the internal phytosanitary certificate and the certificate of origin run in parallel.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path: 196 h. Total work across all blocks: 378 h.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0" y="55321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B1 has no block dependents, but its output — the contract identification number — is an input of step 41 (customs declaration). The orchestrator tracks these step-level dependencies too.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STARTING A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user starts from the dashboard chat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chat box on the dashboard. Below it, the current step of the case the user checked last.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103120" cy="23317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81051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810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the shipment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" y="27432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"I want to move tea", or pick one of the five published procedures as a suggestion.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60904" y="2807208"/>
            <a:ext cx="128016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98064" y="1645920"/>
            <a:ext cx="2103120" cy="23317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62656" y="181051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1810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62656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shipment?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62656" y="27432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chat opens the FAQ with the closest answers expanded — no case is created.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10328" y="2807208"/>
            <a:ext cx="128016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47488" y="1645920"/>
            <a:ext cx="2103120" cy="23317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81051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810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a few questions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27432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intake agent asks only what it cannot infer: direction, mode, quantity, route.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59752" y="2807208"/>
            <a:ext cx="128016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96912" y="1645920"/>
            <a:ext cx="2103120" cy="2331720"/>
          </a:xfrm>
          <a:prstGeom prst="roundRect">
            <a:avLst>
              <a:gd name="adj" fmla="val 26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61504" y="181051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61504" y="1810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61504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61504" y="27432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summary card: goods and HS heading, mode, quantity in wagons, route and country notes.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09176" y="2807208"/>
            <a:ext cx="128016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546336" y="1645920"/>
            <a:ext cx="2103120" cy="2331720"/>
          </a:xfrm>
          <a:prstGeom prst="roundRect">
            <a:avLst>
              <a:gd name="adj" fmla="val 2609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10928" y="1810512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10928" y="1810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10928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opens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710928" y="27432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 steps are created; 5 can start immediately (steps 1, 2, 7, 11, 32).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25196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361688"/>
            <a:ext cx="54864" cy="17465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32511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Several cases at once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31520" y="4654296"/>
            <a:ext cx="5193792" cy="1490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"+" in the chat starts another case &amp; shipment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follows the case checked last — created in the chat or opened in Cases &amp; Shipments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case keeps its own ledger of values and documents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172200" y="4251960"/>
            <a:ext cx="546811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4361688"/>
            <a:ext cx="54864" cy="1746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325112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step at a time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6355080" y="4654296"/>
            <a:ext cx="5175504" cy="1490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chat shows the next step: who does it, where, and exactly what it needs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workflow — DAG, documents, risk, ledger — lives on the case page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steps run by themselves; your steps are one click once complete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Intake: five questions, each checked against what is published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conversation for this shipment, produced by the intake engine.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492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937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Trader types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Intake agent replies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 want to move tea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Tea: is it leaving Uzbekistan or coming in?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→ Export from Uzbekistan · Import into Uzbekistan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 (HS 0902), export. How will it travel?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→ By train · By air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by train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much tea? For example 20 tonnes, 1 wagon, 60 tonnes.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→ 20 tonnes · 1 wagon · 60 tonnes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tonnes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From where to where? One end must be in Uzbekistan; the other in Kazakhstan, Kyrgyzstan, Türkiye, Afghanistan, Russia, China.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Note: 60 t ≈ 2 covered wagons.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Tashkent to Moscow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Ready: Export of tea by train (procedure 868), 48 steps. Create the case and its steps?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Note: 60 t ≈ 2 covered wagons. Russia: EAEU member · origin proof Form CT-1 · via Kazakhstan.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269480" y="1508760"/>
            <a:ext cx="4370832" cy="4709160"/>
          </a:xfrm>
          <a:prstGeom prst="roundRect">
            <a:avLst>
              <a:gd name="adj" fmla="val 12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69480" y="1618488"/>
            <a:ext cx="54864" cy="4489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52360" y="1581912"/>
            <a:ext cx="4096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each answer is checked against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52360" y="1911096"/>
            <a:ext cx="4078224" cy="42336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Goods → commodity table: "tea" = HS 0902; unknown goods are named, never guessed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 → only directions a procedure exists for (tea: export and import)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→ only published modes (tea export: train or air)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→ sane for the mode: rail 1–5,000 t, air ≤ 500 t; 60 t = 2 covered wagons (≈30 t each)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→ one end in Uzbekistan, the other in the supported country list (KZ, KG, TR, AF, RU, CN) — with that country's origin proof and crossings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card → procedure 868, 48 steps, 10 blocks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first: an LLM is only consulted for wording the tables don't cover, and its answer is validated against the five procedures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COLLECTED UPFRONT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trader can give before the steps arrive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Rule: an input qualifies when no earlier step produces it and the trader already holds or issues it. For 868: 29 upfront, 19 must wait.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463040"/>
                <a:gridCol w="2606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Give once at the start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Used at steps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it can be early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Commercial invoice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26, 34, 35, 36, 41, 44, 46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issue it; the quantity is known from intake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Passport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6, 8, 9, 12, 16, 22, 23, 28, 32, 33, 44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representative's own documents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 of attorney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6, 8, 25, 32, 44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representative's own documents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Foreign trade contract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 before the case started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for cargo transportation GU-12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own document, form or letter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Certificate on availability of funds at client's account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From your own bank, at any 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document confirming the exporter's right to use a land plot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34, 35, 36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own document, form or letter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 TIN (plus name, manager, phone, email)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8, 11, 15, 27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 profile or intake detail — known from the start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Bank details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 profile or intake detail — known from the start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554480"/>
          <a:ext cx="427939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48640"/>
                <a:gridCol w="2130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Has to wait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 sum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11, 27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amount comes from the offer the agency issues at that step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Agreement with Technological center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Concluded with the Technological Center earlier in the procedure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Invoice for prepayment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Issued by the service provider after you contract them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Online application for certificate of origin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35, 36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Filled in on the portal during the step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Phytosanitary certificate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Produced at this step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360920" y="4572000"/>
            <a:ext cx="4279392" cy="164592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498080" y="4617720"/>
            <a:ext cx="402336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Given once, every later step that needs it is filled from the ledger — the invoice uploaded upfront serves seven steps.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steps whose inputs are already there run without pausing to ask.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ORCHESTRATOR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orchestrator: a deterministic state machine over the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LangGraph loop "advance" — every transition is written to the database with an audit event.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4630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874520"/>
            <a:ext cx="1463040" cy="566928"/>
          </a:xfrm>
          <a:prstGeom prst="roundRect">
            <a:avLst>
              <a:gd name="adj" fmla="val 806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874520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2157984"/>
            <a:ext cx="502920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78308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dependencies done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508760"/>
            <a:ext cx="1508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(agent)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508760"/>
            <a:ext cx="1463040" cy="566928"/>
          </a:xfrm>
          <a:prstGeom prst="roundRect">
            <a:avLst>
              <a:gd name="adj" fmla="val 8065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508760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V="1">
            <a:off x="3977640" y="1792224"/>
            <a:ext cx="594360" cy="219456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72200" y="1792224"/>
            <a:ext cx="594360" cy="914"/>
          </a:xfrm>
          <a:prstGeom prst="line">
            <a:avLst/>
          </a:prstGeom>
          <a:noFill/>
          <a:ln w="15875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260604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FFF7E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606040"/>
            <a:ext cx="1508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paused — needs input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2331720"/>
            <a:ext cx="594360" cy="557784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4572000" y="32004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 arrive → resumes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3703320"/>
            <a:ext cx="1600200" cy="566928"/>
          </a:xfrm>
          <a:prstGeom prst="roundRect">
            <a:avLst>
              <a:gd name="adj" fmla="val 8065"/>
            </a:avLst>
          </a:prstGeom>
          <a:solidFill>
            <a:srgbClr val="F4E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3703320"/>
            <a:ext cx="1508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item (you / goods)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77640" y="2377440"/>
            <a:ext cx="594360" cy="1609344"/>
          </a:xfrm>
          <a:prstGeom prst="line">
            <a:avLst/>
          </a:prstGeom>
          <a:noFill/>
          <a:ln w="15875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6172200" y="2011680"/>
            <a:ext cx="594360" cy="1975104"/>
          </a:xfrm>
          <a:prstGeom prst="line">
            <a:avLst/>
          </a:prstGeom>
          <a:noFill/>
          <a:ln w="15875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66928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when every need is met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14600" y="3703320"/>
            <a:ext cx="14630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3703320"/>
            <a:ext cx="13716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skipped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2441448"/>
            <a:ext cx="914" cy="126187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9728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route not chosen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03920" y="1463040"/>
            <a:ext cx="3136392" cy="3154680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1572768"/>
            <a:ext cx="54864" cy="29352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1536192"/>
            <a:ext cx="2862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loop iteration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686800" y="1865376"/>
            <a:ext cx="2843784" cy="267919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Recompute node states from the edges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paused agent steps whose inputs arrived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the lowest-numbered ready step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by lane; run, pause or open a work item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agent run, artifact and audit event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8463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4956048"/>
            <a:ext cx="54864" cy="11521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91947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Lane: You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31520" y="5248656"/>
            <a:ext cx="3364992" cy="8961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Portals bound to your e-signature (my.gov.uz)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Payments; concluding agreements; submitting a declaration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4846320"/>
            <a:ext cx="3657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97680" y="4956048"/>
            <a:ext cx="54864" cy="1152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491947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Lane: Agent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480560" y="5248656"/>
            <a:ext cx="3364992" cy="8961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 filings on integrated portals: Single Window, railway Single Window, Uzbekexpertiza, Assalom Agro, customs cabinet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46720" y="484632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0" y="4956048"/>
            <a:ext cx="54864" cy="11521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4919472"/>
            <a:ext cx="3319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Lane: At the goods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229600" y="5248656"/>
            <a:ext cx="3300984" cy="8961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Inspection, sampling, loading, sealing — the cargo must be there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DETAILS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platform knows what each step and document needs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210312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Procedure document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1865376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5: inputs required per step (848 lines across 5 procedures)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60904" y="2212848"/>
            <a:ext cx="128016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98064" y="1417320"/>
            <a:ext cx="210312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Classify each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865376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Earlier step's output · company profile · your credential · presence · published by entity · shipment document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10328" y="2212848"/>
            <a:ext cx="128016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47488" y="1417320"/>
            <a:ext cx="210312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type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75504" y="1865376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 → one of 18 types (contract, invoice, SMGS, certificates, receipts …)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59752" y="2212848"/>
            <a:ext cx="128016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96912" y="1417320"/>
            <a:ext cx="2103120" cy="1600200"/>
          </a:xfrm>
          <a:prstGeom prst="roundRect">
            <a:avLst>
              <a:gd name="adj" fmla="val 342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24928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checklist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24928" y="1865376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and cross-checks per type, taken from the published specimens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09176" y="2212848"/>
            <a:ext cx="128016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46336" y="1417320"/>
            <a:ext cx="2103120" cy="1600200"/>
          </a:xfrm>
          <a:prstGeom prst="roundRect">
            <a:avLst>
              <a:gd name="adj" fmla="val 3429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74352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needs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74352" y="1865376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must be uploaded, typed or confirmed — and which fields must be read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246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— step 41, Create export customs declaration (agent, customs e-declaration cabinet)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5971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it comes from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Document Intelligence agent checks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Identification number of foreign trade contract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Produced at step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Commercial invoice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Uploaded document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 read: Invoice number, Invoice date, Sent by (seller), Sent to (buyer), Description of goods, Quantity / total net weight, Total value, Currency of invoice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railway bill (SMGS)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Produced at step 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Checked as railway bill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Phytosanitary certificate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Produced at step 31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Checked as phytosanitary certificate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Certificate of origin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Produced at step 39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Checked as certificate of origin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step pauses until every need is present — it never files with a missing or unconfirmed document.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steps in order (1 of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does it and where · what it needs · what it produces and what the platform checks.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148840"/>
                <a:gridCol w="3246120"/>
                <a:gridCol w="2907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&amp; where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Produces · checked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Register foreign trade contract in UEISFTO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sign · my.gov.uz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Foreign trade contract (number, date, seller, buyer); your e-signature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 identification number → used by step 41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Prepay for railway services (General)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pay · bank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Railway invoice (step 3), agreement with Technological Center; online or in person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Receipt: payer, amount, date — matched to the bill it pays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 Apply for freight transportation by railway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attend · O'zbekiston temir yo'llari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GU-12 application and approval request; by e-mail or in person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Acceptance; GU-12 tonnes and wagons checked against intake (60 t, 2 wagons)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 Obtain railway bill of lading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attend · railway station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Commercial invoice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railway bill (SMGS): dispatch no., sender, consignee, stations, wagon, cargo, weight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steps in order (2 of 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does it and where · what it needs · what it produces and what the platform checks.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148840"/>
                <a:gridCol w="3246120"/>
                <a:gridCol w="2907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&amp; where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Produces · checked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36. Apply for certificate of origin via Single Window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· Single Window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Online application, commercial invoice, land-plot and purchase proofs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Expert appointment → certificate of origin at step 39 (CT-1 for Russia)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 Create export customs declaration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· customs e-declaration cabinet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 ID (1), invoice, SMGS (26), phytosanitary certificate (31), certificate of origin (39)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Electronic declaration; HS code, value and weights cross-checked across documents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42. Pay for customs fee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pay · bank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Customs bank details (published by customs)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Receipt of the customs fee — checked against the declaration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 Close memo of handover specialist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attend · railway station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Physical presence; application for wagon handover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 GU-45 form — the wagon is handed over for dispatch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INTELLIGENCE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Intelligence: define, read and check each document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138988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4540" y="1700784"/>
            <a:ext cx="109728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48840" y="13258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325880"/>
            <a:ext cx="138988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EasyOCR ru + 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34740" y="1700784"/>
            <a:ext cx="109728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13258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325880"/>
            <a:ext cx="138988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 Q&amp;A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LayoutLM + label anchors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34940" y="1700784"/>
            <a:ext cx="109728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49240" y="13258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325880"/>
            <a:ext cx="138988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dates, INN, HS, amounts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5140" y="1700784"/>
            <a:ext cx="109728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9440" y="13258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325880"/>
            <a:ext cx="138988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gate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435340" y="1700784"/>
            <a:ext cx="109728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49640" y="13258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1325880"/>
            <a:ext cx="138988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Cross-check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documents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035540" y="1700784"/>
            <a:ext cx="109728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49840" y="1325880"/>
            <a:ext cx="1481328" cy="749808"/>
          </a:xfrm>
          <a:prstGeom prst="roundRect">
            <a:avLst>
              <a:gd name="adj" fmla="val 609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95560" y="1325880"/>
            <a:ext cx="1389888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331720"/>
            <a:ext cx="3657600" cy="38862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2441448"/>
            <a:ext cx="54864" cy="3666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40487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" y="2734056"/>
            <a:ext cx="3364992" cy="34107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each document label into a checklist of fields the step needs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uploads locally — no document leaves the machine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Fixes OCR letter-for-digit swaps inside numbers ("60 00О" → 60 000)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Flags unreadable scans (text &lt; 11 px and OCR confidence &lt; 0.35) instead of guessing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Pauses agent steps until required documents are complete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23317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53712" y="23957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 gate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53712" y="278892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9432" y="278892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 0.80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2788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 automatically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53712" y="324612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9432" y="324612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0.50 – 0.80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confirm the value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53712" y="3703320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FEF2F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3703320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0.50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treated as missing — you type it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89120" y="434340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89120" y="4453128"/>
            <a:ext cx="54864" cy="1655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441655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Cross-checks (examples)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572000" y="4745736"/>
            <a:ext cx="3136392" cy="1399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buyer = contract counterparty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/ SMGS weight = intake quantity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Receipt amount = the bill issued since the last payment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001000" y="2331720"/>
            <a:ext cx="3639312" cy="388620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01000" y="2441448"/>
            <a:ext cx="54864" cy="3666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3880" y="2404872"/>
            <a:ext cx="33649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on this laptop (i5, no GPU)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183880" y="2734056"/>
            <a:ext cx="3346704" cy="34107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OCR: 15.9 s for an A4 page at 1240 px (44.7 s at full 2480 px, same accuracy)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LayoutLM: ~1.9 s per field question on a readable page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Published specimens: 0 wrong values auto-accepted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pack 868: 97 of 160 fields correct, but 35 wrong values were auto-accepted — the gate needs tuning before production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&amp; COMPLIANCE 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&amp; Compliance: values with reasons, not generic advice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Computed for this shipment from the procedure rules, intake, the country list and the case ledger. Overall: Caution · 1 open · 4 pending.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606040"/>
                <a:gridCol w="868680"/>
                <a:gridCol w="53766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HS classification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0902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Caution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“tea” → 0902; 0902.10–0902.40 turns on green or black tea and packets of 3 kg or less — box 33 of the declaration needs 10 digits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≈3,489 km · via Kazakhstan · 8.8–17 days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Russia: Via Kazakhstan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Origin proof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 CT-1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Russia is an EAEU member — per the country list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units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t → 2 covered wagons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t per covered wagon; offer agreements must state 2 transport units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Internal phytosanitary certificate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 — step 18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for tea × export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Phytosanitary certificate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 — step 31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for tea × export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Certificate of origin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 — step 39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for tea × export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customs declaration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 — step 45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Pending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Required for tea × export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Quantity check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weight read from a document yet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Compared as soon as an invoice, packing list or railway bill is read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Customs inspection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estimated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 44 is risk-selected by customs; there is no inspection history to estimate a likelihood from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duty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computed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Uzbekistan's tariff schedule hasn't been sourced — no rate is invented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REACHING GOVERNMENT PORTALS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an agent step reaches the government portals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the agent lane is simulated: it marks steps that can be automated once the platform has portal access. Production flow: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ready, every need met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69694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42846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42846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42846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 values → portal fields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90749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63901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63901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63901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fields, cross-checks, HS digits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911803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84955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84955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84955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Integration, representative under PoA, or browser automation (last resort)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32858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601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06010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06010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on the portal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53912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F4E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27064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27064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acts signed by you, on your device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74966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48118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48118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48118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 number stored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396021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69173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69173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69173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Status; rejections mapped back to fields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517075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90227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590227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590227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read by Document Intelligence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638130" y="1600200"/>
            <a:ext cx="1005840" cy="1737360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11282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711282" y="1883664"/>
            <a:ext cx="896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711282" y="2194560"/>
            <a:ext cx="89611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completed; dependents unlock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110916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108960"/>
                <a:gridCol w="3657600"/>
                <a:gridCol w="34564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Filled from the case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Returns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3, 5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Railway Single Window (e-nakl.railway.uz)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Stations, cargo, tonnes, wagons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 calculation; station certificate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13, 18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Assalom Agro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Company, TIN, contacts, product, quantity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Inspection appointment; internal phytosanitary certificate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Window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Exporter, consignee, Russia, produce, quantity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Phytosanitary control appointment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36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Uzbekexpertiza portal or Single Window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Invoice, land-plot and purchase proofs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Expert appointment for the certificate of origin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41, 45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Customs e-declaration cabinet (ed1.customs.uz)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Contract ID, invoice, SMGS, certificates, HS, weights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Electronic declaration; final export declaration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 47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access is a legal and commercial decision per portal. Steps 13 and 18 use your One ID — they stay agent steps only if an integration or a representative arrangement is 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architecture (prototype)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user, runs on one machine. Everything the deck showed so far runs here.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2103120" cy="109728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54480"/>
            <a:ext cx="20116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chat · Cases &amp; Shipments · Procedures · FAQ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2103120"/>
            <a:ext cx="457200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08960" y="1417320"/>
            <a:ext cx="5074920" cy="3566160"/>
          </a:xfrm>
          <a:prstGeom prst="roundRect">
            <a:avLst>
              <a:gd name="adj" fmla="val 1282"/>
            </a:avLst>
          </a:prstGeom>
          <a:solidFill>
            <a:srgbClr val="EEF4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 — vinext (Next.js-compatible) on a Cloudflare Worker (Miniflare locally)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920240"/>
            <a:ext cx="23774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920240"/>
            <a:ext cx="22860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and API routes only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1920240"/>
            <a:ext cx="23774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920240"/>
            <a:ext cx="22860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conversation, taxonomy, lookup, validation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2651760"/>
            <a:ext cx="23774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651760"/>
            <a:ext cx="22860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LangGraph orchestrator, delegation, repository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15000" y="2651760"/>
            <a:ext cx="23774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651760"/>
            <a:ext cx="22860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ledger, needs, upfront, KPIs, application forms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3383280"/>
            <a:ext cx="23774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383280"/>
            <a:ext cx="22860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specs, Document AI client, cross-checks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15000" y="3383280"/>
            <a:ext cx="23774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3383280"/>
            <a:ext cx="22860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certificate rules, risk rows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4114800"/>
            <a:ext cx="23774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4114800"/>
            <a:ext cx="22860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· cases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users, entities, procedure versions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4983480"/>
            <a:ext cx="914" cy="32004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08960" y="530352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530352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Cloudflare D1 (SQLite) via Drizzle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cases · workflow · ledger · audit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5303520"/>
            <a:ext cx="2468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530352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 object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original uploads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83880" y="2926080"/>
            <a:ext cx="502920" cy="914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686800" y="1554480"/>
            <a:ext cx="2953512" cy="1600200"/>
          </a:xfrm>
          <a:prstGeom prst="roundRect">
            <a:avLst>
              <a:gd name="adj" fmla="val 2857"/>
            </a:avLst>
          </a:prstGeom>
          <a:solidFill>
            <a:srgbClr val="E6F6F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1554480"/>
            <a:ext cx="2862072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AI service (FastAPI, :8765)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EasyOCR ru+en · LayoutLM document QA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CPU, local — no document leaves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686800" y="3337560"/>
            <a:ext cx="2953512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32520" y="3337560"/>
            <a:ext cx="28620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· gpt-oss-20b (optional)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for intake wording the tables miss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686800" y="4297680"/>
            <a:ext cx="2953512" cy="777240"/>
          </a:xfrm>
          <a:prstGeom prst="roundRect">
            <a:avLst>
              <a:gd name="adj" fmla="val 5882"/>
            </a:avLst>
          </a:prstGeom>
          <a:solidFill>
            <a:srgbClr val="FFF7E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32520" y="4297680"/>
            <a:ext cx="286207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portals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(no requests sent)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686800" y="5257800"/>
            <a:ext cx="295351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0" y="5367528"/>
            <a:ext cx="54864" cy="7406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5330952"/>
            <a:ext cx="2679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8869680" y="5660136"/>
            <a:ext cx="2660904" cy="4846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instance, no login</a:t>
            </a:r>
            <a:endParaRPr lang="en-US" sz="9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OCR ≈ 35 s per page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modules and engine; durable state, a queue, GPU document workers, a model gateway and real portal adapters.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11091672" cy="1143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services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91672" cy="123444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91672" cy="1143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166360"/>
            <a:ext cx="1463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ops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48840" y="1554480"/>
            <a:ext cx="30175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 on Cloudflare Workers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chat, cases, procedures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0" y="1554480"/>
            <a:ext cx="30175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Identity: SSO + roles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e-signature stays on the trader's device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458200" y="1554480"/>
            <a:ext cx="30632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1554480"/>
            <a:ext cx="2971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ready, rejection, approval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48840" y="256032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2560320"/>
            <a:ext cx="29260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+ orchestrator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LangGraph with Postgres checkpointer; same needs gate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03520" y="256032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560320"/>
            <a:ext cx="29260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queue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steps, document parsing, risk refresh — retries, timeouts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58200" y="2560320"/>
            <a:ext cx="3063240" cy="960120"/>
          </a:xfrm>
          <a:prstGeom prst="roundRect">
            <a:avLst>
              <a:gd name="adj" fmla="val 4762"/>
            </a:avLst>
          </a:prstGeom>
          <a:solidFill>
            <a:srgbClr val="F4E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2560320"/>
            <a:ext cx="29718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adapters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Window · railway · customs cabinet · Assalom Agro · Uzbekexpertiza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→ sign → submit → status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48840" y="3840480"/>
            <a:ext cx="3017520" cy="1051560"/>
          </a:xfrm>
          <a:prstGeom prst="roundRect">
            <a:avLst>
              <a:gd name="adj" fmla="val 4348"/>
            </a:avLst>
          </a:prstGeom>
          <a:solidFill>
            <a:srgbClr val="E6F6F4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3840480"/>
            <a:ext cx="292608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workers on GPU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EasyOCR + LayoutLM, NVIDIA L4 (g6.xlarge)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autoscaled from the queue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03520" y="3840480"/>
            <a:ext cx="3017520" cy="1051560"/>
          </a:xfrm>
          <a:prstGeom prst="roundRect">
            <a:avLst>
              <a:gd name="adj" fmla="val 4348"/>
            </a:avLst>
          </a:prstGeom>
          <a:solidFill>
            <a:srgbClr val="EEF4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3840480"/>
            <a:ext cx="292608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gateway → OpenAI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GPT-5.6 Luna (default) · GPT-5.6 Terra (risk, disputes)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outputs · prompt caching · budgets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458200" y="3840480"/>
            <a:ext cx="30632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3840480"/>
            <a:ext cx="29718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harness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labelled pages per document type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blocks a release that raises wrong auto-accepts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148840" y="52120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5212080"/>
            <a:ext cx="29260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(managed)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cases · workflow · versioned ledger (JSONB) · append-only audit · cost per case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303520" y="5212080"/>
            <a:ext cx="30175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5212080"/>
            <a:ext cx="292608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 storage (R2 / S3), encrypted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original documents, retention policy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458200" y="5212080"/>
            <a:ext cx="306324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03920" y="5212080"/>
            <a:ext cx="29718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traces per step · tokens and cost per case · portal latency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CHOICES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model runs which job — and why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Prices: OpenAI Standard tier per 1M tokens. Latency: Artificial Analysis measurements. Costs use the token assumptions on the last slide.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331720"/>
                <a:gridCol w="3749040"/>
                <a:gridCol w="28620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Job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 · latency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chosen, because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Intake — only wording the tables miss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GPT-5.6 Luna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reasoning low · structured output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$0.26 per 1,000 turns · ≈3.5 s (first token 2.14 s, 107 tok/s). Most turns need no model at all.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Terra $2.64 and GPT-5.5 $6.60 per 1,000 turns for the same short, rule-checked answer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fields in the 0.50–0.80 band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GPT-5.6 Luna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 of the OCR lines · structured output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$0.44 per 1,000 pages · ≈4.0 s. Answer must match a span of the page text, or it stays a question for the trader.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Terra $4.36 per 1,000 pages; sending page images for every page is unnecessary once OCR is local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Risk: HS 10-digit suggestion, rule conflicts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GPT-5.6 Terra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reasoning high · runs in the background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$16.20 per 1,000 assessments · ≈10.1 s (first token 2.72 s, 108.9 tok/s). A wrong heading costs more than the tokens.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Luna at high reasoning is slower here (first token 10.96 s → ≈15.5 s) and scores lower (index 22 vs 28 at low); GPT-5.5 $40.50 per 1,000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Orchestration and lane decisions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model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· deterministic LangGraph state machine and published-procedure rules — replayable and testable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 LLM planner could reorder or skip legally required steps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field mapping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Deterministic mapping; Luna on Flex tier for free-text clean-up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 is half the Standard price; not user-facing, so its slower, best-effort latency is acceptable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Letting a model choose field values on a legal filing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FAQ and procedure search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text-embedding-3-small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$0.02 per 1M tokens; the whole FAQ and 5 procedures embed for a fraction of a cent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Larger embedding model — $0.13 per 1M for a tiny corpus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considered: GPT-5.6 Sol and GPT-6 Astra (out of scope). GPT-5.5 is the previous generation at 2.5× Terra's token price.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CHOICES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documents: OCR + layout model vs vision LLMs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A4 page scanned at 150 dpi (1240 × 1754 px) → 2,574 image tokens at detail "high".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600200"/>
                <a:gridCol w="1783080"/>
                <a:gridCol w="3227832"/>
                <a:gridCol w="109728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Latency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 for these documents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Decision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EasyOCR (ru + en) + LayoutLM document QA — self-hosted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per-page fee. GPU: L4 $0.805/h on demand, $0.524/h 1-year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CPU measured: 15.9 s OCR + ~1.9 s per field. GPU: benchmark before sizing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Extractive — answers are spans of the page; per-field scores drive the gate. 0 wrong auto-accepts on specimens; 35 of 160 on the demo pack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Stays in your cloud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GPT-5.6 Luna — page image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$0.0011 per page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≈5.9 s (400 output tokens; image input may add to first token)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Reads stamps and handwriting in context, but can return a plausible value that is not on the page — must be verified against OCR text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image sent to OpenAI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Fallback for unreadable scans, with approval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GPT-5.6 Terra — page image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$0.0105 per page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≈6.0 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Stronger reasoning for conflicting documents; 10× Luna's price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image sent to OpenAI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Disputes on high-value documents only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GPT-5.5 — page image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$0.0263 per page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≈6.6 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Previous generation at 2.5× Terra's price, no latency advantage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image sent to OpenAI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chosen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Textract — text + queries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$0.0015 per page (text), $0.015 (queries), US West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measured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 detection covers Latin-script languages (verify for your region) — the Russian forms in these procedures are not covered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Sent to AWS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chosen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LayoutLMv3 fine-tuned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GPU training + labelled pages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Faster QA after training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Needs a labelled Russian/Uzbek set; model licence is non-commercial (CC BY-NC-SA 4.0)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Stays in your cloud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chosen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989320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Recommended: two stages — local OCR + LayoutLM for every page; Luna only on review-band fields, using text, after approval to send that text.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AND LATENCY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cost per case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Procedure 868: 5 intake turns, 38 document pages, 5 risk refreshes. Model API cost only.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508760"/>
          <a:ext cx="5806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554480"/>
          <a:ext cx="5148072" cy="914400"/>
        </p:xfrm>
        <a:graphic>
          <a:graphicData uri="http://schemas.openxmlformats.org/drawingml/2006/table">
            <a:tbl>
              <a:tblPr/>
              <a:tblGrid>
                <a:gridCol w="1764792"/>
                <a:gridCol w="621792"/>
                <a:gridCol w="658368"/>
                <a:gridCol w="621792"/>
                <a:gridCol w="731520"/>
                <a:gridCol w="74980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Strategy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Intake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case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1,000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· Local OCR, Luna review, Terra risk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$0.008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$0.081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$0.091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 · Luna everywhere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$0.040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$0.008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$0.049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$49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 · Terra everywhere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$0.013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$0.399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$0.081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$0.494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$494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 · GPT-5.5 everywhere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$0.033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$0.998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$0.203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$1.234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$1,234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92240" y="4160520"/>
            <a:ext cx="5148072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is cheaper than A in tokens, but sends every page image outside and uses the weaker model for HS classification.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adds GPU hosting outside the per-case figure — e.g. one L4 on a 1-year term running all month ≈ $377, or 8 h a day on demand ≈ $193.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 or Batch halves the price of anything not waiting on a user.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AND LATENCY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Latency: what the user waits for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332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intake replies and document reads block the user; risk and portal work run in the background.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  <a:gridCol w="3200400"/>
                <a:gridCol w="29535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Interaction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Today (prototype)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the wait is handled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Intake reply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Deterministic tables — no model call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Same; Luna ≈3.5 s only for wording the tables miss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 the reply; ask one question at a time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Upload → fields shown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≈35 s per page on the laptop CPU (OCR 15.9 s + 10 questions 18.9 s)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GPU workers (benchmark); + ≈4.0 s Luna only for review-band pages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Progress in the chat; fields appear as they are read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refresh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Deterministic rules, immediate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Terra ≈10.1 s for HS suggestions and conflicts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Background job; the panel shows the last result and its time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Orchestrator transition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process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database transaction per transition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Queue with retries; idempotent steps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portal step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Simulated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Minutes to days — the authority's review time dominates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 tracking and notifications, not waiting in the UI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Luna and Terra figures: first-token time plus output tokens at measured speed, for text prompts. Image prompts and data-residency endpoints can add latency — measure on real traffic.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before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72768"/>
            <a:ext cx="54864" cy="12435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3619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leaving the machine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1865376"/>
            <a:ext cx="5193792" cy="9875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no document content goes to an external API. The recommended design keeps OCR local and sends only review-band text to Luna — this needs your approval, a data-processing agreement and possibly the data-residency endpoint (+10%).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53912" y="14630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53912" y="1572768"/>
            <a:ext cx="54864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53619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access, per portal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36792" y="1865376"/>
            <a:ext cx="5193792" cy="9875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agreement, acting as your representative under power of attorney, or browser automation as a last resort — each is a legal and commercial choice.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72968"/>
            <a:ext cx="54864" cy="12435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3639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 quality gate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3465576"/>
            <a:ext cx="5193792" cy="9875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wrong values were auto-accepted on the demo pack. Tune the gate and add a labelled evaluation set per document type, run on every release.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53912" y="30632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53912" y="3172968"/>
            <a:ext cx="54864" cy="12435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313639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 sizing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36792" y="3465576"/>
            <a:ext cx="5193792" cy="9875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EasyOCR + LayoutLM on an L4 with real scans before committing to reserved capacity.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73168"/>
            <a:ext cx="54864" cy="12435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73659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controls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" y="5065776"/>
            <a:ext cx="5193792" cy="9875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Per-case token budget, prompt caching for fixed instructions, Flex/Batch for background work, cost recorded per step.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53912" y="466344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4773168"/>
            <a:ext cx="54864" cy="1243584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473659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of models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36792" y="5065776"/>
            <a:ext cx="5193792" cy="98755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Luna by default, Terra where reasoning changes the outcome. GPT-5.5 is not needed; Sol and Astra are out of scope.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and assumptions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UzTrade · Export of tea by train (procedure 868)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5912" y="6455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1091672" cy="4937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Procedure 868 data, intake transcript, upfront plan, step needs and risk rows: produced by the UzTrade app's own modules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prices: OpenAI API pricing page, retrieved 14 September 2026 — Standard tier, short context (Luna $0.20 / $0.02 / $1.20, Terra $2 / $0.20 / $12, GPT-5.5 $5 / $0.50 / $30 per 1M input / cached / output tokens)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Latency: Artificial Analysis — Luna low 2.14 s, 107 tok/s; Terra low 1.54 s, 89 tok/s; GPT-5.5 low 1.76 s, 82.7 tok/s; Luna high 10.96 s, 175 tok/s; Terra high 2.72 s, 108.9 tok/s; intelligence index Luna 22, Terra 28 (low)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tokens: OpenAI vision guide — 32 px patches × 1.2; 1240 × 1754 px = 2,574 tokens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Textract pricing (US West, Oregon); EC2 g6.xlarge (NVIDIA L4) on-demand $0.805/h, 1-year $0.524/h (us-east-1)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and LayoutLM timings and accuracy: measured in apps/docai on an Intel i5-1135G7 without GPU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1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 used in the cost figures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 turn: 300 new + 1200 cached input, 150 output tokens; 5 turns per case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page (vision): 2774 new (incl. image) + 800 cached, 400 output; 38 pages per case (the 868 demo pack)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call (text): 900 new + 800 cached, 200 output; 50% of pages need one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refresh: 3000 new + 3000 cached, 800 output; 5 refreshes per case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UzTrade — Export of tea by train (procedure 868)</dc:title>
  <dc:subject>PptxGenJS Presentation</dc:subject>
  <dc:creator>UzTrade</dc:creator>
  <cp:lastModifiedBy>UzTrade</cp:lastModifiedBy>
  <cp:revision>1</cp:revision>
  <dcterms:created xsi:type="dcterms:W3CDTF">2026-09-14T12:59:16Z</dcterms:created>
  <dcterms:modified xsi:type="dcterms:W3CDTF">2026-09-14T12:59:16Z</dcterms:modified>
</cp:coreProperties>
</file>